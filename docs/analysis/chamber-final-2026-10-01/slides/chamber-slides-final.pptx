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(f30__5in3b__membrane-...): 8 Oct 2026: membrane-duct-small, membrane-open-pore-pu-foam. 9 Oct 2026: membrane-duct-open-pore-pu-foam-double-layer, membrane-felt, membrane-felt-double-layer, membrane-cork, membrane-felt-rubber, membrane-thinsulate-8-layers, -4-layers, -2-layers. Each base was captured with 3 repeats of the ramp; the plot uses the PWM 2000 step and the mean over the 3 repeats of the total level 500 Hz to 24 kHz per microphone, in dB SPL, read with the corrected microphone files. The repeat-to-repeat scatter of the mean level is 0.02-0.11 dB. There is no bare reference measured with this set-up (the base names carry a different motor field, f30, from the 2 and 7 Oct materials), so levels here are not comparable with slide 8 and no louder-than-bare figure is given; the callout is the spread between the quietest (Thinsulate 4 layers) and loudest (small membrane duct) set-up. Two of the bases are ducts. The polar is mirrored to 360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2 Oct. Square: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ten membrane set-ups at 2000 microseconds, total level 500 Hz to 24 kHz">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MEMBRANES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Membranes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8 Oct. Square: 9 Oct.</a:t>
            </a:r>
            <a:endParaRPr lang="en-US" sz="1200" dirty="0"/>
          </a:p>
        </p:txBody>
      </p:sp>
      <p:sp>
        <p:nvSpPr>
          <p:cNvPr id="6" name="Shape 3"/>
          <p:cNvSpPr/>
          <p:nvPr/>
        </p:nvSpPr>
        <p:spPr>
          <a:xfrm>
            <a:off x="6583680" y="1938528"/>
            <a:ext cx="182880" cy="182880"/>
          </a:xfrm>
          <a:prstGeom prst="ellipse">
            <a:avLst/>
          </a:prstGeom>
          <a:solidFill>
            <a:srgbClr val="E03131"/>
          </a:solidFill>
          <a:ln w="12700">
            <a:solidFill>
              <a:srgbClr val="E03131"/>
            </a:solidFill>
            <a:prstDash val="solid"/>
          </a:ln>
        </p:spPr>
      </p:sp>
      <p:sp>
        <p:nvSpPr>
          <p:cNvPr id="7" name="Text 4"/>
          <p:cNvSpPr txBox="1"/>
          <p:nvPr/>
        </p:nvSpPr>
        <p:spPr>
          <a:xfrm>
            <a:off x="6858000" y="187452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8" name="Text 5"/>
          <p:cNvSpPr txBox="1"/>
          <p:nvPr/>
        </p:nvSpPr>
        <p:spPr>
          <a:xfrm>
            <a:off x="969264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82.8 dB</a:t>
            </a:r>
            <a:endParaRPr lang="en-US" sz="1400" dirty="0"/>
          </a:p>
        </p:txBody>
      </p:sp>
      <p:sp>
        <p:nvSpPr>
          <p:cNvPr id="10" name="Shape 7"/>
          <p:cNvSpPr/>
          <p:nvPr/>
        </p:nvSpPr>
        <p:spPr>
          <a:xfrm>
            <a:off x="6583680" y="2276856"/>
            <a:ext cx="182880" cy="182880"/>
          </a:xfrm>
          <a:prstGeom prst="ellipse">
            <a:avLst/>
          </a:prstGeom>
          <a:solidFill>
            <a:srgbClr val="F08C00"/>
          </a:solidFill>
          <a:ln w="12700">
            <a:solidFill>
              <a:srgbClr val="F08C00"/>
            </a:solidFill>
            <a:prstDash val="solid"/>
          </a:ln>
        </p:spPr>
      </p:sp>
      <p:sp>
        <p:nvSpPr>
          <p:cNvPr id="11" name="Text 8"/>
          <p:cNvSpPr txBox="1"/>
          <p:nvPr/>
        </p:nvSpPr>
        <p:spPr>
          <a:xfrm>
            <a:off x="6858000" y="221284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2 layers</a:t>
            </a:r>
            <a:endParaRPr lang="en-US" sz="1400" dirty="0"/>
          </a:p>
        </p:txBody>
      </p:sp>
      <p:sp>
        <p:nvSpPr>
          <p:cNvPr id="12" name="Text 9"/>
          <p:cNvSpPr txBox="1"/>
          <p:nvPr/>
        </p:nvSpPr>
        <p:spPr>
          <a:xfrm>
            <a:off x="969264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84.0 dB</a:t>
            </a:r>
            <a:endParaRPr lang="en-US" sz="1400" dirty="0"/>
          </a:p>
        </p:txBody>
      </p:sp>
      <p:sp>
        <p:nvSpPr>
          <p:cNvPr id="14" name="Shape 11"/>
          <p:cNvSpPr/>
          <p:nvPr/>
        </p:nvSpPr>
        <p:spPr>
          <a:xfrm>
            <a:off x="6583680" y="2615184"/>
            <a:ext cx="182880" cy="182880"/>
          </a:xfrm>
          <a:prstGeom prst="ellipse">
            <a:avLst/>
          </a:prstGeom>
          <a:solidFill>
            <a:srgbClr val="C2255C"/>
          </a:solidFill>
          <a:ln w="12700">
            <a:solidFill>
              <a:srgbClr val="C2255C"/>
            </a:solidFill>
            <a:prstDash val="solid"/>
          </a:ln>
        </p:spPr>
      </p:sp>
      <p:sp>
        <p:nvSpPr>
          <p:cNvPr id="15" name="Text 12"/>
          <p:cNvSpPr txBox="1"/>
          <p:nvPr/>
        </p:nvSpPr>
        <p:spPr>
          <a:xfrm>
            <a:off x="6858000" y="255117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16" name="Text 13"/>
          <p:cNvSpPr txBox="1"/>
          <p:nvPr/>
        </p:nvSpPr>
        <p:spPr>
          <a:xfrm>
            <a:off x="969264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85.0 dB</a:t>
            </a:r>
            <a:endParaRPr lang="en-US" sz="1400" dirty="0"/>
          </a:p>
        </p:txBody>
      </p:sp>
      <p:sp>
        <p:nvSpPr>
          <p:cNvPr id="18" name="Shape 15"/>
          <p:cNvSpPr/>
          <p:nvPr/>
        </p:nvSpPr>
        <p:spPr>
          <a:xfrm>
            <a:off x="6583680" y="2953512"/>
            <a:ext cx="182880" cy="182880"/>
          </a:xfrm>
          <a:prstGeom prst="ellipse">
            <a:avLst/>
          </a:prstGeom>
          <a:solidFill>
            <a:srgbClr val="7048E8"/>
          </a:solidFill>
          <a:ln w="12700">
            <a:solidFill>
              <a:srgbClr val="7048E8"/>
            </a:solidFill>
            <a:prstDash val="solid"/>
          </a:ln>
        </p:spPr>
      </p:sp>
      <p:sp>
        <p:nvSpPr>
          <p:cNvPr id="19" name="Text 16"/>
          <p:cNvSpPr txBox="1"/>
          <p:nvPr/>
        </p:nvSpPr>
        <p:spPr>
          <a:xfrm>
            <a:off x="6858000" y="288950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20" name="Text 17"/>
          <p:cNvSpPr txBox="1"/>
          <p:nvPr/>
        </p:nvSpPr>
        <p:spPr>
          <a:xfrm>
            <a:off x="969264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86.0 dB</a:t>
            </a:r>
            <a:endParaRPr lang="en-US" sz="1400" dirty="0"/>
          </a:p>
        </p:txBody>
      </p:sp>
      <p:sp>
        <p:nvSpPr>
          <p:cNvPr id="22" name="Shape 19"/>
          <p:cNvSpPr/>
          <p:nvPr/>
        </p:nvSpPr>
        <p:spPr>
          <a:xfrm>
            <a:off x="6583680" y="3291840"/>
            <a:ext cx="182880" cy="182880"/>
          </a:xfrm>
          <a:prstGeom prst="ellipse">
            <a:avLst/>
          </a:prstGeom>
          <a:solidFill>
            <a:srgbClr val="1098AD"/>
          </a:solidFill>
          <a:ln w="12700">
            <a:solidFill>
              <a:srgbClr val="1098AD"/>
            </a:solidFill>
            <a:prstDash val="solid"/>
          </a:ln>
        </p:spPr>
      </p:sp>
      <p:sp>
        <p:nvSpPr>
          <p:cNvPr id="23" name="Text 20"/>
          <p:cNvSpPr txBox="1"/>
          <p:nvPr/>
        </p:nvSpPr>
        <p:spPr>
          <a:xfrm>
            <a:off x="6858000" y="322783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24" name="Text 21"/>
          <p:cNvSpPr txBox="1"/>
          <p:nvPr/>
        </p:nvSpPr>
        <p:spPr>
          <a:xfrm>
            <a:off x="969264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86.3 dB</a:t>
            </a:r>
            <a:endParaRPr lang="en-US" sz="1400" dirty="0"/>
          </a:p>
        </p:txBody>
      </p:sp>
      <p:sp>
        <p:nvSpPr>
          <p:cNvPr id="26" name="Shape 23"/>
          <p:cNvSpPr/>
          <p:nvPr/>
        </p:nvSpPr>
        <p:spPr>
          <a:xfrm>
            <a:off x="6583680" y="3630168"/>
            <a:ext cx="182880" cy="182880"/>
          </a:xfrm>
          <a:prstGeom prst="ellipse">
            <a:avLst/>
          </a:prstGeom>
          <a:solidFill>
            <a:srgbClr val="1864AB"/>
          </a:solidFill>
          <a:ln w="12700">
            <a:solidFill>
              <a:srgbClr val="1864AB"/>
            </a:solidFill>
            <a:prstDash val="solid"/>
          </a:ln>
        </p:spPr>
      </p:sp>
      <p:sp>
        <p:nvSpPr>
          <p:cNvPr id="27" name="Text 24"/>
          <p:cNvSpPr txBox="1"/>
          <p:nvPr/>
        </p:nvSpPr>
        <p:spPr>
          <a:xfrm>
            <a:off x="6858000" y="356616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double layer</a:t>
            </a:r>
            <a:endParaRPr lang="en-US" sz="1400" dirty="0"/>
          </a:p>
        </p:txBody>
      </p:sp>
      <p:sp>
        <p:nvSpPr>
          <p:cNvPr id="28" name="Text 25"/>
          <p:cNvSpPr txBox="1"/>
          <p:nvPr/>
        </p:nvSpPr>
        <p:spPr>
          <a:xfrm>
            <a:off x="969264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86.4 dB</a:t>
            </a:r>
            <a:endParaRPr lang="en-US" sz="1400" dirty="0"/>
          </a:p>
        </p:txBody>
      </p:sp>
      <p:sp>
        <p:nvSpPr>
          <p:cNvPr id="30" name="Shape 27"/>
          <p:cNvSpPr/>
          <p:nvPr/>
        </p:nvSpPr>
        <p:spPr>
          <a:xfrm>
            <a:off x="6583680" y="3968496"/>
            <a:ext cx="182880" cy="182880"/>
          </a:xfrm>
          <a:prstGeom prst="ellipse">
            <a:avLst/>
          </a:prstGeom>
          <a:solidFill>
            <a:srgbClr val="5C940D"/>
          </a:solidFill>
          <a:ln w="12700">
            <a:solidFill>
              <a:srgbClr val="5C940D"/>
            </a:solidFill>
            <a:prstDash val="solid"/>
          </a:ln>
        </p:spPr>
      </p:sp>
      <p:sp>
        <p:nvSpPr>
          <p:cNvPr id="31" name="Text 28"/>
          <p:cNvSpPr txBox="1"/>
          <p:nvPr/>
        </p:nvSpPr>
        <p:spPr>
          <a:xfrm>
            <a:off x="6858000" y="390448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 PU foam, double</a:t>
            </a:r>
            <a:endParaRPr lang="en-US" sz="1400" dirty="0"/>
          </a:p>
        </p:txBody>
      </p:sp>
      <p:sp>
        <p:nvSpPr>
          <p:cNvPr id="32" name="Text 29"/>
          <p:cNvSpPr txBox="1"/>
          <p:nvPr/>
        </p:nvSpPr>
        <p:spPr>
          <a:xfrm>
            <a:off x="969264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87.5 dB</a:t>
            </a:r>
            <a:endParaRPr lang="en-US" sz="1400" dirty="0"/>
          </a:p>
        </p:txBody>
      </p:sp>
      <p:sp>
        <p:nvSpPr>
          <p:cNvPr id="34" name="Shape 31"/>
          <p:cNvSpPr/>
          <p:nvPr/>
        </p:nvSpPr>
        <p:spPr>
          <a:xfrm>
            <a:off x="6583680" y="4306824"/>
            <a:ext cx="182880" cy="182880"/>
          </a:xfrm>
          <a:prstGeom prst="ellipse">
            <a:avLst/>
          </a:prstGeom>
          <a:solidFill>
            <a:srgbClr val="862E9C"/>
          </a:solidFill>
          <a:ln w="12700">
            <a:solidFill>
              <a:srgbClr val="862E9C"/>
            </a:solidFill>
            <a:prstDash val="solid"/>
          </a:ln>
        </p:spPr>
      </p:sp>
      <p:sp>
        <p:nvSpPr>
          <p:cNvPr id="35" name="Text 32"/>
          <p:cNvSpPr txBox="1"/>
          <p:nvPr/>
        </p:nvSpPr>
        <p:spPr>
          <a:xfrm>
            <a:off x="6858000" y="424281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36" name="Text 33"/>
          <p:cNvSpPr txBox="1"/>
          <p:nvPr/>
        </p:nvSpPr>
        <p:spPr>
          <a:xfrm>
            <a:off x="969264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87.9 dB</a:t>
            </a:r>
            <a:endParaRPr lang="en-US" sz="1400" dirty="0"/>
          </a:p>
        </p:txBody>
      </p:sp>
      <p:sp>
        <p:nvSpPr>
          <p:cNvPr id="38" name="Shape 35"/>
          <p:cNvSpPr/>
          <p:nvPr/>
        </p:nvSpPr>
        <p:spPr>
          <a:xfrm>
            <a:off x="6583680" y="4645152"/>
            <a:ext cx="182880" cy="182880"/>
          </a:xfrm>
          <a:prstGeom prst="ellipse">
            <a:avLst/>
          </a:prstGeom>
          <a:solidFill>
            <a:srgbClr val="2F9E44"/>
          </a:solidFill>
          <a:ln w="12700">
            <a:solidFill>
              <a:srgbClr val="2F9E44"/>
            </a:solidFill>
            <a:prstDash val="solid"/>
          </a:ln>
        </p:spPr>
      </p:sp>
      <p:sp>
        <p:nvSpPr>
          <p:cNvPr id="39" name="Text 36"/>
          <p:cNvSpPr txBox="1"/>
          <p:nvPr/>
        </p:nvSpPr>
        <p:spPr>
          <a:xfrm>
            <a:off x="6858000" y="458114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40" name="Text 37"/>
          <p:cNvSpPr txBox="1"/>
          <p:nvPr/>
        </p:nvSpPr>
        <p:spPr>
          <a:xfrm>
            <a:off x="969264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88.5 dB</a:t>
            </a:r>
            <a:endParaRPr lang="en-US" sz="1400" dirty="0"/>
          </a:p>
        </p:txBody>
      </p:sp>
      <p:sp>
        <p:nvSpPr>
          <p:cNvPr id="42" name="Shape 39"/>
          <p:cNvSpPr/>
          <p:nvPr/>
        </p:nvSpPr>
        <p:spPr>
          <a:xfrm>
            <a:off x="6583680" y="4983480"/>
            <a:ext cx="182880" cy="182880"/>
          </a:xfrm>
          <a:prstGeom prst="ellipse">
            <a:avLst/>
          </a:prstGeom>
          <a:solidFill>
            <a:srgbClr val="1F2A44"/>
          </a:solidFill>
          <a:ln w="12700">
            <a:solidFill>
              <a:srgbClr val="1F2A44"/>
            </a:solidFill>
            <a:prstDash val="solid"/>
          </a:ln>
        </p:spPr>
      </p:sp>
      <p:sp>
        <p:nvSpPr>
          <p:cNvPr id="43" name="Text 40"/>
          <p:cNvSpPr txBox="1"/>
          <p:nvPr/>
        </p:nvSpPr>
        <p:spPr>
          <a:xfrm>
            <a:off x="6858000" y="491947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membrane only</a:t>
            </a:r>
            <a:endParaRPr lang="en-US" sz="1400" dirty="0"/>
          </a:p>
        </p:txBody>
      </p:sp>
      <p:sp>
        <p:nvSpPr>
          <p:cNvPr id="44" name="Text 41"/>
          <p:cNvSpPr txBox="1"/>
          <p:nvPr/>
        </p:nvSpPr>
        <p:spPr>
          <a:xfrm>
            <a:off x="969264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89.5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6.7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between the quietest and loudest set-up, on average</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8 and 9 Oct 2026, 5-inch 3-blade propeller, 500 Hz–24 kHz, 2000 µs, mean of 3 repeats, corrected files. Axis 76–94 dB. Not comparable with slide 8.</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2026-10-09T15:29:16Z</dcterms:created>
  <dcterms:modified xsi:type="dcterms:W3CDTF">2026-10-09T15:29:16Z</dcterms:modified>
</cp:coreProperties>
</file>