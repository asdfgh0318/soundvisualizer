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44"/>
                </a:solidFill>
                <a:latin typeface="Calibri"/>
              </a:defRPr>
            </a:pPr>
            <a:r>
              <a:rPr sz="1200" b="0" i="0" u="none" strike="noStrike">
                <a:solidFill>
                  <a:srgbClr val="1F2A44"/>
                </a:solidFill>
                <a:latin typeface="Calibri"/>
              </a:rPr>
              <a:t>Room error per band (dB, band in Hz)</a:t>
            </a:r>
          </a:p>
        </c:rich>
      </c:tx>
      <c:layout/>
      <c:overlay val="0"/>
    </c:title>
    <c:autoTitleDeleted val="0"/>
    <c:plotArea>
      <c:layout/>
      <c:barChart>
        <c:barDir val="col"/>
        <c:grouping val="clustered"/>
        <c:varyColors val="0"/>
        <c:ser>
          <c:idx val="0"/>
          <c:order val="0"/>
          <c:tx>
            <c:strRef>
              <c:f>Sheet1!$B$1</c:f>
              <c:strCache>
                <c:ptCount val="1"/>
                <c:pt idx="0">
                  <c:v>Start of day 3</c:v>
                </c:pt>
              </c:strCache>
            </c:strRef>
          </c:tx>
          <c:spPr>
            <a:solidFill>
              <a:srgbClr val="D6336C"/>
            </a:solidFill>
            <a:effectLst/>
          </c:spPr>
          <c:invertIfNegative val="0"/>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250–400</c:v>
                  </c:pt>
                  <c:pt idx="1">
                    <c:v>400–630</c:v>
                  </c:pt>
                  <c:pt idx="2">
                    <c:v>630–1000</c:v>
                  </c:pt>
                  <c:pt idx="3">
                    <c:v>1000–1600</c:v>
                  </c:pt>
                  <c:pt idx="4">
                    <c:v>1600–3000</c:v>
                  </c:pt>
                  <c:pt idx="5">
                    <c:v>5000–6400</c:v>
                  </c:pt>
                </c:lvl>
              </c:multiLvlStrCache>
            </c:multiLvlStrRef>
          </c:cat>
          <c:val>
            <c:numRef>
              <c:f>Sheet1!$B$2:$B$7</c:f>
              <c:numCache>
                <c:formatCode>General</c:formatCode>
                <c:ptCount val="6"/>
                <c:pt idx="0">
                  <c:v>3.33</c:v>
                </c:pt>
                <c:pt idx="1">
                  <c:v>2.57</c:v>
                </c:pt>
                <c:pt idx="2">
                  <c:v>1.57</c:v>
                </c:pt>
                <c:pt idx="3">
                  <c:v>0.8</c:v>
                </c:pt>
                <c:pt idx="4">
                  <c:v>0.87</c:v>
                </c:pt>
                <c:pt idx="5">
                  <c:v>1.04</c:v>
                </c:pt>
              </c:numCache>
            </c:numRef>
          </c:val>
        </c:ser>
        <c:ser>
          <c:idx val="1"/>
          <c:order val="1"/>
          <c:tx>
            <c:strRef>
              <c:f>Sheet1!$C$1</c:f>
              <c:strCache>
                <c:ptCount val="1"/>
                <c:pt idx="0">
                  <c:v>Final</c:v>
                </c:pt>
              </c:strCache>
            </c:strRef>
          </c:tx>
          <c:spPr>
            <a:solidFill>
              <a:srgbClr val="2B6CB0"/>
            </a:solidFill>
            <a:effectLst/>
          </c:spPr>
          <c:invertIfNegative val="0"/>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250–400</c:v>
                  </c:pt>
                  <c:pt idx="1">
                    <c:v>400–630</c:v>
                  </c:pt>
                  <c:pt idx="2">
                    <c:v>630–1000</c:v>
                  </c:pt>
                  <c:pt idx="3">
                    <c:v>1000–1600</c:v>
                  </c:pt>
                  <c:pt idx="4">
                    <c:v>1600–3000</c:v>
                  </c:pt>
                  <c:pt idx="5">
                    <c:v>5000–6400</c:v>
                  </c:pt>
                </c:lvl>
              </c:multiLvlStrCache>
            </c:multiLvlStrRef>
          </c:cat>
          <c:val>
            <c:numRef>
              <c:f>Sheet1!$C$2:$C$7</c:f>
              <c:numCache>
                <c:formatCode>General</c:formatCode>
                <c:ptCount val="6"/>
                <c:pt idx="0">
                  <c:v>1.99</c:v>
                </c:pt>
                <c:pt idx="1">
                  <c:v>1.52</c:v>
                </c:pt>
                <c:pt idx="2">
                  <c:v>1.47</c:v>
                </c:pt>
                <c:pt idx="3">
                  <c:v>0.85</c:v>
                </c:pt>
                <c:pt idx="4">
                  <c:v>0.96</c:v>
                </c:pt>
                <c:pt idx="5">
                  <c:v>1.17</c:v>
                </c:pt>
              </c:numCache>
            </c:numRef>
          </c:val>
        </c:ser>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8"/>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F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slide. The photo (komora_05_10_26.jpg) shows the chamber in the final configuration (carpet-reordered): the microphone ring laid flat around the propeller rig at the hub, the loudspeaker tripod on the left, batting on the floor and ceiling, wedges and lined pillars on the walls. Ring diameter 1.68 m (radius 0.84 m), eleven UMIK-2 microphones.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the 31 Aug 2026 horizontal baseline (arc laid flat, propeller axis vertical), propeller at PWM 2000, total level 20-560 Hz per microphone, read with the factory calibration files as it was measured. Rms spread about the mean 2.05 dB, range 6.7 dB (63.9 to 70.6 dB SPL). The radial axis is 30-76 dB, the same as the report polars, so the same red curve can be shown against the 30 Sep measurement on a later slide. On a 0-80 dB axis the same curve looks rounder.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(calibrator/session.py, 2026-09-16 session): each of the eleven UMIK-2 capsules was plugged in at the same mounting point in front of the loudspeaker and measured over 97 stepped tones, 62 Hz to 16 kHz (about 12 per octave), amplitude 0.03, 48 kHz sampling, 0.7 s settle and 2 s capture per tone (6 s below 250 Hz). Capsule 810-8904 was measured three full times (18:21, 18:30, 20:43) as the reference. The difference of each capsule from the reference was folded into its calibration curve; Sens Factors kept as in the factory files. The datum is the mean of four capsules whose factory files agree with measurement (810-8900, 810-8903, 811-1896, 811-2321). Spread 4.01 to 0.02 dB is from the project notes: a same-session check, since the corrections come from this session, and the absolute level is not anchored (that needs a 94 dB calibrator). Seven capsules have a mean offset beyond 0.6 dB over frequency, between 0.76 and 2.59 dB; the worst single frequency is 3.48 dB (811-1892), from CORRECTIONS-2026-09-16.csv. Seven capsules had a mean offset beyond 0.6 dB (811-1892 -2.6, 811-1897 -1.4, 811-2310 -0.8, 810-8897 +0.8, 810-8901 +0.8, 810-8904 +0.9, 810-8893 +1.3). Absolute level is not anchored: that needs a 94 dB calibrator.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figure as chapter 1 of the report, redrawn larger. The same two captures were calibrated two ways: with the factory files and with the corrections measured on 16 Sep. The span is the range of the capsules mean levels: 4.3 to 0.8 dB at the start of day 3, 4.1 to 1.0 dB in the final configuration. Room error below 3 kHz: 2.277 to 1.997 dB and 1.736 to 1.387 dB. The change is mainly a per-capsule offset, so it mainly moves whole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pair as page 3 of the report (day3-a at 13:17, carpet-reordered at 19:15, both 25 Sep), read with the corrected microphone files. Room error is the rms deviation of the eleven microphones from their mean, per band. Below 630 Hz the rms room error fell from 2.98 to 1.78 dB (1.2 dB, 40 %); between 1 and 3 kHz it went 0.84 to 0.91 dB. Start of day 3: 3.33, 2.57, 1.57, 0.80, 0.87, 1.04 dB; final: 1.99, 1.52, 1.47, 0.85, 0.96, 1.17 dB for the bands 250-400, 400-630, 630-1000, 1000-1600, 1600-3000 and 5000-6400 Hz. Caveat from the report: the loudspeaker was moved on purpose during the day (20 cm closer, into the ring plane, 5 cm back) and then returned to about its starting mounting point, which was not recorded. The tilt of the map changed from -0.41 to -0.63 and the mean level rose 1.16 dB, so the gain is the treatments plus a small unknown difference in source position, and part of it may be the louder direct sound. The clean pair with an unmoved source is 24 Sep: empty floor 2.054 to carpet 1.317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table as page 4 of the report. Each one-third-octave band is judged against the anechoic tolerance values of ISO 5305 Table 1 (also ISO 3745 as printed by Cunefare 2003): +-1.5 dB for 125-630 Hz, +-1.0 dB for 800-5000 Hz. The number is the worst microphone band-mean deviation from the arc mean, in dB; the colour is that number as a share of the limit. Cells in limit counts tone x microphone cells inside the limit (3 tones x 11 microphones = 33 cells at 250 Hz, where the grid starts at 257 Hz). This is an analogue: the standards use a traverse and test decay with distance, we use eleven fixed microphones at one radius. The room is treated and not qualified. Within the tolerance values from 1250 Hz at the start of day 3 and from 2000 Hz in the final state, up to 2500 Hz. The rows marked * (5000 and 6300 Hz) are partial: 4 and 5 tones above 5 kHz, the limit is +-1.0 dB at 5000 Hz and +-1.5 dB at 6300 Hz (ISO 5305 Table 1). Both are over the limit in both states (1.24 and 1.23 dB; 1.59 and 1.77 dB). The 3150 and 4000 Hz bands are not shown: no tones between 3 and 5 kHz because of the rocking mode of the sphere at about 4.4 kHz. Caveat: the loudspeaker position was not documented across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30 Sep propeller measurement (11.7 V, 7.3 A, thrust -4 N), read with the 16 Sep microphone corrections. Rms spread about the mean 1.45 dB against 2.05 dB for 31 Aug; range 4.0 dB (55.5 to 59.6 dB SPL) against 6.7 dB. The blue is about 11 dB lower, but this cannot be attributed to the supply voltage (the blue run had the higher voltage): the two runs used different propellers, and the thrust direction was reversed, so the levels are not comparable. The 4 dB range of the blue is a bottom-louder trend. Honest caveat: with the same calibration applied to the 1-2 Sep runs, those are about as round as 30 Sep, so most of the improvement against the earlier baselines comes from the microphone calibration, not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Bases in the data repo. 2 Oct 2026: 2004__5in3b__unset__v1-naked-horizontal (bare), ...cork__v1-cork-horizontal, ...rubber__v1-rubber, ...felt__v1-felt, ...felt-rubber__v1-felt-rubber. 7 Oct 2026 (axii__5in3b__...): inner-felt-outer-open-pore-pu-foam, open-pore-pu-foam, open-pore-pu-foam-double-layer, thinsulate-4-layers, thinsulate-8-layers. Each capture is the PWM 2000 step; level per microphone is the total level 500 Hz to 24 kHz in dB SPL (was 100 Hz to 10 kHz on the earlier version of this slide), read with the corrected microphone files (all after 16 Sep). The polar is mirrored to 360 degrees. Mean over the eleven positions. The bare reference is from 2 Oct, so the 7 Oct materials are compared across days: the differences from bare are indicative, not a controlled comparison. The earlier 100 Hz-10 kHz version had a strong lobe at -90 degrees (94-98 dB); with the band from 500 Hz it is 78-87 dB and fits on the plot. Operating points (voltage, thrust) were not compared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Bases in the data repo (f30__5in3b__membrane-...): 8 Oct 2026: membrane-duct-small, membrane-open-pore-pu-foam. 9 Oct 2026: membrane-duct-open-pore-pu-foam-double-layer, membrane-felt, membrane-felt-double-layer, membrane-cork, membrane-felt-rubber, membrane-thinsulate-8-layers, -4-layers, -2-layers. Each base was captured with 3 repeats of the ramp; the plot uses the PWM 2000 step and the mean over the 3 repeats of the total level 500 Hz to 24 kHz per microphone, in dB SPL, read with the corrected microphone files. The repeat-to-repeat scatter of the mean level is 0.02-0.11 dB. The bare prop (base f30__5in3b__unset__v1-bare-prop, 9 Oct 16:10, 3 repeats) is the reference for this set-up and the quietest curve on average (75.1 dB), 7.7 dB below the quietest membrane set-up on average, but at -90 degrees it is 87.7 dB, level with the others. Thrust at 2000 us (median of the second half of each step, mean of 3 repeats, magnitude; the stand reads negative): bare prop 3.75 N; membrane set-ups 0.37-1.19 N (Thinsulate 2 layers 0.37, Thinsulate 4 layers 0.39, felt double 0.88, felt 0.95, duct membrane only 0.97, PU foam 1.03, duct + PU foam double 1.03, felt + rubber 1.09, Thinsulate 8 layers 1.10, cork 1.19), so every membrane set-up delivers 10-32 % of the bare thrust and the levels are not at equal thrust. Levels here are not comparable with slide 8 (different motor field in the base name, f30). The callout is the difference between the quietest (best: Thinsulate, 4 layers) and the loudest (worst: duct, membrane only) set-up: 10.2 dB at its largest, at +18°, and 6.7 dB on average over the eleven microphones. Per angle the difference runs from 4.1 dB at -90 degrees to 10.2 dB at +18 degrees; the largest spread across all ten set-ups at a single angle is the same 10.2 dB. Two of the bases are ducts. The polar is mirrored to 360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pic>
        <p:nvPicPr>
          <p:cNvPr id="2" name="Image 0" descr="The chamber in its current set-up: the microphone ring laid flat around the propeller rig, speaker tripod on the left, absorbing material on floor, ceiling and walls">    </p:cNvPr>
          <p:cNvPicPr>
            <a:picLocks noChangeAspect="1"/>
          </p:cNvPicPr>
          <p:nvPr/>
        </p:nvPicPr>
        <p:blipFill>
          <a:blip r:embed="rId1"/>
          <a:srcRect l="0" r="0" t="0" b="0"/>
          <a:stretch/>
        </p:blipFill>
        <p:spPr>
          <a:xfrm>
            <a:off x="0" y="0"/>
            <a:ext cx="5166360" cy="6858000"/>
          </a:xfrm>
          <a:prstGeom prst="rect">
            <a:avLst/>
          </a:prstGeom>
        </p:spPr>
      </p:pic>
      <p:sp>
        <p:nvSpPr>
          <p:cNvPr id="3" name="Text 0"/>
          <p:cNvSpPr txBox="1"/>
          <p:nvPr/>
        </p:nvSpPr>
        <p:spPr>
          <a:xfrm>
            <a:off x="5760720" y="2651760"/>
            <a:ext cx="6217920"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Chasing a round polar</a:t>
            </a:r>
            <a:endParaRPr lang="en-US" sz="4000" dirty="0"/>
          </a:p>
        </p:txBody>
      </p:sp>
      <p:sp>
        <p:nvSpPr>
          <p:cNvPr id="4" name="Text 1"/>
          <p:cNvSpPr txBox="1"/>
          <p:nvPr/>
        </p:nvSpPr>
        <p:spPr>
          <a:xfrm>
            <a:off x="5760720" y="5760720"/>
            <a:ext cx="5760720" cy="731520"/>
          </a:xfrm>
          <a:prstGeom prst="rect">
            <a:avLst/>
          </a:prstGeom>
          <a:noFill/>
          <a:ln/>
        </p:spPr>
        <p:txBody>
          <a:bodyPr wrap="square" lIns="0" tIns="0" rIns="0" bIns="0" rtlCol="0" anchor="t"/>
          <a:lstStyle/>
          <a:p>
            <a:pPr indent="0" marL="0">
              <a:buNone/>
            </a:pPr>
            <a:r>
              <a:rPr lang="en-US" sz="1400" dirty="0">
                <a:solidFill>
                  <a:srgbClr val="AFC3E3"/>
                </a:solidFill>
                <a:latin typeface="Calibri" pitchFamily="34" charset="0"/>
                <a:ea typeface="Calibri" pitchFamily="34" charset="-122"/>
                <a:cs typeface="Calibri" pitchFamily="34" charset="-120"/>
              </a:rPr>
              <a:t>Our chamber in its current set-up (5 Oct 2026): eleven microphones on a ring around the source, absorbing material on floor, ceiling and walls.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olar plot of the 31 Aug propeller measurement, 20 to 560 Hz, with a jagged outline">    </p:cNvPr>
          <p:cNvPicPr>
            <a:picLocks noChangeAspect="1"/>
          </p:cNvPicPr>
          <p:nvPr/>
        </p:nvPicPr>
        <p:blipFill>
          <a:blip r:embed="rId1"/>
          <a:stretch>
            <a:fillRect/>
          </a:stretch>
        </p:blipFill>
        <p:spPr>
          <a:xfrm>
            <a:off x="548640" y="594360"/>
            <a:ext cx="5669280" cy="5669280"/>
          </a:xfrm>
          <a:prstGeom prst="rect">
            <a:avLst/>
          </a:prstGeom>
        </p:spPr>
      </p:pic>
      <p:sp>
        <p:nvSpPr>
          <p:cNvPr id="3" name="Text 0"/>
          <p:cNvSpPr txBox="1"/>
          <p:nvPr/>
        </p:nvSpPr>
        <p:spPr>
          <a:xfrm>
            <a:off x="6766560" y="822960"/>
            <a:ext cx="4846320" cy="365760"/>
          </a:xfrm>
          <a:prstGeom prst="rect">
            <a:avLst/>
          </a:prstGeom>
          <a:noFill/>
          <a:ln/>
        </p:spPr>
        <p:txBody>
          <a:bodyPr wrap="square" lIns="0" tIns="0" rIns="0" bIns="0" rtlCol="0" anchor="ctr"/>
          <a:lstStyle/>
          <a:p>
            <a:pPr indent="0" marL="0">
              <a:buNone/>
            </a:pPr>
            <a:r>
              <a:rPr lang="en-US" sz="1400" b="1" spc="300" kern="0" dirty="0">
                <a:solidFill>
                  <a:srgbClr val="D6336C"/>
                </a:solidFill>
                <a:latin typeface="Calibri" pitchFamily="34" charset="0"/>
                <a:ea typeface="Calibri" pitchFamily="34" charset="-122"/>
                <a:cs typeface="Calibri" pitchFamily="34" charset="-120"/>
              </a:rPr>
              <a:t>THE PROBLEM</a:t>
            </a:r>
            <a:endParaRPr lang="en-US" sz="1400" dirty="0"/>
          </a:p>
        </p:txBody>
      </p:sp>
      <p:sp>
        <p:nvSpPr>
          <p:cNvPr id="4" name="Text 1"/>
          <p:cNvSpPr txBox="1"/>
          <p:nvPr/>
        </p:nvSpPr>
        <p:spPr>
          <a:xfrm>
            <a:off x="6766560" y="1188720"/>
            <a:ext cx="4846320" cy="1188720"/>
          </a:xfrm>
          <a:prstGeom prst="rect">
            <a:avLst/>
          </a:prstGeom>
          <a:noFill/>
          <a:ln/>
        </p:spPr>
        <p:txBody>
          <a:bodyPr wrap="square" lIns="0" tIns="0" rIns="0" bIns="0" rtlCol="0" anchor="t"/>
          <a:lstStyle/>
          <a:p>
            <a:pPr indent="0" marL="0">
              <a:buNone/>
            </a:pPr>
            <a:r>
              <a:rPr lang="en-US" sz="3400" b="1" dirty="0">
                <a:solidFill>
                  <a:srgbClr val="1F2A44"/>
                </a:solidFill>
                <a:latin typeface="Cambria" pitchFamily="34" charset="0"/>
                <a:ea typeface="Cambria" pitchFamily="34" charset="-122"/>
                <a:cs typeface="Cambria" pitchFamily="34" charset="-120"/>
              </a:rPr>
              <a:t>Our polar plot is jagged</a:t>
            </a:r>
            <a:endParaRPr lang="en-US" sz="3400" dirty="0"/>
          </a:p>
        </p:txBody>
      </p:sp>
      <p:sp>
        <p:nvSpPr>
          <p:cNvPr id="5" name="Text 2"/>
          <p:cNvSpPr txBox="1"/>
          <p:nvPr/>
        </p:nvSpPr>
        <p:spPr>
          <a:xfrm>
            <a:off x="6766560" y="251460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We measured a propeller with the microphone arc in a plane parallel to the propeller disc.</a:t>
            </a:r>
            <a:endParaRPr lang="en-US" sz="1600" dirty="0"/>
          </a:p>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A propeller is symmetric around its axis, so every microphone should read about the same.</a:t>
            </a:r>
            <a:endParaRPr lang="en-US" sz="1600" dirty="0"/>
          </a:p>
          <a:p>
            <a:pPr marL="342900" indent="-342900">
              <a:spcAft>
                <a:spcPts val="1000"/>
              </a:spcAft>
              <a:buSzPct val="100000"/>
              <a:buChar char="•"/>
            </a:pPr>
            <a:r>
              <a:rPr lang="en-US" sz="1600" b="1" dirty="0">
                <a:solidFill>
                  <a:srgbClr val="1F2A44"/>
                </a:solidFill>
                <a:latin typeface="Calibri" pitchFamily="34" charset="0"/>
                <a:ea typeface="Calibri" pitchFamily="34" charset="-122"/>
                <a:cs typeface="Calibri" pitchFamily="34" charset="-120"/>
              </a:rPr>
              <a:t>We expected a smooth, nearly round polar. We observed a jagged outline.</a:t>
            </a:r>
            <a:endParaRPr lang="en-US" sz="1600" dirty="0"/>
          </a:p>
        </p:txBody>
      </p:sp>
      <p:sp>
        <p:nvSpPr>
          <p:cNvPr id="6" name="Text 3"/>
          <p:cNvSpPr txBox="1"/>
          <p:nvPr/>
        </p:nvSpPr>
        <p:spPr>
          <a:xfrm>
            <a:off x="6766560" y="5029200"/>
            <a:ext cx="4846320" cy="731520"/>
          </a:xfrm>
          <a:prstGeom prst="rect">
            <a:avLst/>
          </a:prstGeom>
          <a:noFill/>
          <a:ln/>
        </p:spPr>
        <p:txBody>
          <a:bodyPr wrap="square" lIns="0" tIns="0" rIns="0" bIns="0" rtlCol="0" anchor="ctr"/>
          <a:lstStyle/>
          <a:p>
            <a:pPr indent="0" marL="0">
              <a:buNone/>
            </a:pPr>
            <a:r>
              <a:rPr lang="en-US" sz="4800" b="1" dirty="0">
                <a:solidFill>
                  <a:srgbClr val="D6336C"/>
                </a:solidFill>
                <a:latin typeface="Cambria" pitchFamily="34" charset="0"/>
                <a:ea typeface="Cambria" pitchFamily="34" charset="-122"/>
                <a:cs typeface="Cambria" pitchFamily="34" charset="-120"/>
              </a:rPr>
              <a:t>6.7 dB</a:t>
            </a:r>
            <a:endParaRPr lang="en-US" sz="4800" dirty="0"/>
          </a:p>
        </p:txBody>
      </p:sp>
      <p:sp>
        <p:nvSpPr>
          <p:cNvPr id="7" name="Text 4"/>
          <p:cNvSpPr txBox="1"/>
          <p:nvPr/>
        </p:nvSpPr>
        <p:spPr>
          <a:xfrm>
            <a:off x="6766560" y="5760720"/>
            <a:ext cx="4846320" cy="457200"/>
          </a:xfrm>
          <a:prstGeom prst="rect">
            <a:avLst/>
          </a:prstGeom>
          <a:noFill/>
          <a:ln/>
        </p:spPr>
        <p:txBody>
          <a:bodyPr wrap="square" lIns="0" tIns="0" rIns="0" bIns="0" rtlCol="0" anchor="ctr"/>
          <a:lstStyle/>
          <a:p>
            <a:pPr indent="0" marL="0">
              <a:buNone/>
            </a:pPr>
            <a:r>
              <a:rPr lang="en-US" sz="1400" dirty="0">
                <a:solidFill>
                  <a:srgbClr val="5B6578"/>
                </a:solidFill>
                <a:latin typeface="Calibri" pitchFamily="34" charset="0"/>
                <a:ea typeface="Calibri" pitchFamily="34" charset="-122"/>
                <a:cs typeface="Calibri" pitchFamily="34" charset="-120"/>
              </a:rPr>
              <a:t>between the loudest and quietest of the eleven microphones</a:t>
            </a:r>
            <a:endParaRPr lang="en-US" sz="1400" dirty="0"/>
          </a:p>
        </p:txBody>
      </p:sp>
      <p:sp>
        <p:nvSpPr>
          <p:cNvPr id="8"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31 Aug 2026, 20–560 Hz, motor at 2000 µs. Radial axis 30–76 dB, the same as in the report.</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FIX</a:t>
            </a:r>
            <a:endParaRPr lang="en-US" sz="1400" dirty="0"/>
          </a:p>
        </p:txBody>
      </p:sp>
      <p:sp>
        <p:nvSpPr>
          <p:cNvPr id="3" name="Text 1"/>
          <p:cNvSpPr txBox="1"/>
          <p:nvPr/>
        </p:nvSpPr>
        <p:spPr>
          <a:xfrm>
            <a:off x="548640" y="822960"/>
            <a:ext cx="11064240" cy="731520"/>
          </a:xfrm>
          <a:prstGeom prst="rect">
            <a:avLst/>
          </a:prstGeom>
          <a:noFill/>
          <a:ln/>
        </p:spPr>
        <p:txBody>
          <a:bodyPr wrap="square" lIns="0" tIns="0" rIns="0" bIns="0" rtlCol="0" anchor="t"/>
          <a:lstStyle/>
          <a:p>
            <a:pPr indent="0" marL="0">
              <a:buNone/>
            </a:pPr>
            <a:r>
              <a:rPr lang="en-US" sz="3200" b="1" dirty="0">
                <a:solidFill>
                  <a:srgbClr val="1F2A44"/>
                </a:solidFill>
                <a:latin typeface="Cambria" pitchFamily="34" charset="0"/>
                <a:ea typeface="Cambria" pitchFamily="34" charset="-122"/>
                <a:cs typeface="Cambria" pitchFamily="34" charset="-120"/>
              </a:rPr>
              <a:t>What we did: every microphone, one loudspeaker</a:t>
            </a:r>
            <a:endParaRPr lang="en-US" sz="3200" dirty="0"/>
          </a:p>
        </p:txBody>
      </p:sp>
      <p:pic>
        <p:nvPicPr>
          <p:cNvPr id="4" name="Image 0" descr="Our loudspeaker: a printed sphere with an 8 cm driver">    </p:cNvPr>
          <p:cNvPicPr>
            <a:picLocks noChangeAspect="1"/>
          </p:cNvPicPr>
          <p:nvPr/>
        </p:nvPicPr>
        <p:blipFill>
          <a:blip r:embed="rId1"/>
          <a:srcRect l="0" r="0" t="0" b="0"/>
          <a:stretch/>
        </p:blipFill>
        <p:spPr>
          <a:xfrm>
            <a:off x="822960" y="1828800"/>
            <a:ext cx="1920240" cy="2240280"/>
          </a:xfrm>
          <a:prstGeom prst="rect">
            <a:avLst/>
          </a:prstGeom>
        </p:spPr>
      </p:pic>
      <p:sp>
        <p:nvSpPr>
          <p:cNvPr id="5" name="Text 2"/>
          <p:cNvSpPr txBox="1"/>
          <p:nvPr/>
        </p:nvSpPr>
        <p:spPr>
          <a:xfrm>
            <a:off x="548640" y="4160520"/>
            <a:ext cx="2468880" cy="320040"/>
          </a:xfrm>
          <a:prstGeom prst="rect">
            <a:avLst/>
          </a:prstGeom>
          <a:noFill/>
          <a:ln/>
        </p:spPr>
        <p:txBody>
          <a:bodyPr wrap="square" lIns="0" tIns="0" rIns="0" bIns="0" rtlCol="0" anchor="ctr"/>
          <a:lstStyle/>
          <a:p>
            <a:pPr algn="ctr" indent="0" marL="0">
              <a:buNone/>
            </a:pPr>
            <a:r>
              <a:rPr lang="en-US" sz="1600" dirty="0">
                <a:solidFill>
                  <a:srgbClr val="1F2A44"/>
                </a:solidFill>
                <a:latin typeface="Calibri" pitchFamily="34" charset="0"/>
                <a:ea typeface="Calibri" pitchFamily="34" charset="-122"/>
                <a:cs typeface="Calibri" pitchFamily="34" charset="-120"/>
              </a:rPr>
              <a:t>Our loudspeaker</a:t>
            </a:r>
            <a:endParaRPr lang="en-US" sz="1600" dirty="0"/>
          </a:p>
        </p:txBody>
      </p:sp>
      <p:sp>
        <p:nvSpPr>
          <p:cNvPr id="6" name="Text 3"/>
          <p:cNvSpPr txBox="1"/>
          <p:nvPr/>
        </p:nvSpPr>
        <p:spPr>
          <a:xfrm>
            <a:off x="3063240" y="2331720"/>
            <a:ext cx="2194560" cy="320040"/>
          </a:xfrm>
          <a:prstGeom prst="rect">
            <a:avLst/>
          </a:prstGeom>
          <a:noFill/>
          <a:ln/>
        </p:spPr>
        <p:txBody>
          <a:bodyPr wrap="square" lIns="0" tIns="0" rIns="0" bIns="0" rtlCol="0" anchor="ctr"/>
          <a:lstStyle/>
          <a:p>
            <a:pPr algn="ctr" indent="0" marL="0">
              <a:buNone/>
            </a:pPr>
            <a:r>
              <a:rPr lang="en-US" sz="1400" dirty="0">
                <a:solidFill>
                  <a:srgbClr val="5B6578"/>
                </a:solidFill>
                <a:latin typeface="Calibri" pitchFamily="34" charset="0"/>
                <a:ea typeface="Calibri" pitchFamily="34" charset="-122"/>
                <a:cs typeface="Calibri" pitchFamily="34" charset="-120"/>
              </a:rPr>
              <a:t>tones, 62 Hz–16 kHz</a:t>
            </a:r>
            <a:endParaRPr lang="en-US" sz="1400" dirty="0"/>
          </a:p>
        </p:txBody>
      </p:sp>
      <p:sp>
        <p:nvSpPr>
          <p:cNvPr id="7" name="Shape 4"/>
          <p:cNvSpPr/>
          <p:nvPr/>
        </p:nvSpPr>
        <p:spPr>
          <a:xfrm>
            <a:off x="3154680" y="2971800"/>
            <a:ext cx="2011680" cy="0"/>
          </a:xfrm>
          <a:prstGeom prst="line">
            <a:avLst/>
          </a:prstGeom>
          <a:noFill/>
          <a:ln w="38100">
            <a:solidFill>
              <a:srgbClr val="D6336C"/>
            </a:solidFill>
            <a:prstDash val="dash"/>
            <a:tailEnd type="triangle"/>
          </a:ln>
        </p:spPr>
      </p:sp>
      <p:pic>
        <p:nvPicPr>
          <p:cNvPr id="8" name="Image 1" descr="UMIK-2 measurement microphone, capsule end on the left facing the loudspeaker">    </p:cNvPr>
          <p:cNvPicPr>
            <a:picLocks noChangeAspect="1"/>
          </p:cNvPicPr>
          <p:nvPr/>
        </p:nvPicPr>
        <p:blipFill>
          <a:blip r:embed="rId2"/>
          <a:stretch>
            <a:fillRect/>
          </a:stretch>
        </p:blipFill>
        <p:spPr>
          <a:xfrm>
            <a:off x="5394960" y="2514600"/>
            <a:ext cx="4754880" cy="1284732"/>
          </a:xfrm>
          <a:prstGeom prst="rect">
            <a:avLst/>
          </a:prstGeom>
        </p:spPr>
      </p:pic>
      <p:sp>
        <p:nvSpPr>
          <p:cNvPr id="9" name="Text 5"/>
          <p:cNvSpPr txBox="1"/>
          <p:nvPr/>
        </p:nvSpPr>
        <p:spPr>
          <a:xfrm>
            <a:off x="5394960" y="3931920"/>
            <a:ext cx="6217920" cy="320040"/>
          </a:xfrm>
          <a:prstGeom prst="rect">
            <a:avLst/>
          </a:prstGeom>
          <a:noFill/>
          <a:ln/>
        </p:spPr>
        <p:txBody>
          <a:bodyPr wrap="square" lIns="0" tIns="0" rIns="0" bIns="0" rtlCol="0" anchor="ctr"/>
          <a:lstStyle/>
          <a:p>
            <a:pPr indent="0" marL="0">
              <a:buNone/>
            </a:pPr>
            <a:r>
              <a:rPr lang="en-US" sz="1600" b="1" dirty="0">
                <a:solidFill>
                  <a:srgbClr val="2B6CB0"/>
                </a:solidFill>
                <a:latin typeface="Calibri" pitchFamily="34" charset="0"/>
                <a:ea typeface="Calibri" pitchFamily="34" charset="-122"/>
                <a:cs typeface="Calibri" pitchFamily="34" charset="-120"/>
              </a:rPr>
              <a:t>UMIK-2 microphone, capsule faces the loudspeaker</a:t>
            </a:r>
            <a:endParaRPr lang="en-US" sz="1600" dirty="0"/>
          </a:p>
        </p:txBody>
      </p:sp>
      <p:sp>
        <p:nvSpPr>
          <p:cNvPr id="10" name="Text 6"/>
          <p:cNvSpPr txBox="1"/>
          <p:nvPr/>
        </p:nvSpPr>
        <p:spPr>
          <a:xfrm>
            <a:off x="548640" y="4754880"/>
            <a:ext cx="6400800" cy="1508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97 tones per microphone, 62 Hz to 16 kHz, 12 per octave (a stepped sweep)</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One tone at a time: 0.7 s to settle, then 2 s recorded (6 s below 250 Hz)</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Microphones swapped in turn: same position, same loudspeaker, same level</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One microphone measured three times as the reference</a:t>
            </a:r>
            <a:endParaRPr lang="en-US" sz="1400" dirty="0"/>
          </a:p>
        </p:txBody>
      </p:sp>
      <p:sp>
        <p:nvSpPr>
          <p:cNvPr id="11" name="Text 7"/>
          <p:cNvSpPr txBox="1"/>
          <p:nvPr/>
        </p:nvSpPr>
        <p:spPr>
          <a:xfrm>
            <a:off x="7498080" y="4617720"/>
            <a:ext cx="4206240" cy="685800"/>
          </a:xfrm>
          <a:prstGeom prst="rect">
            <a:avLst/>
          </a:prstGeom>
          <a:noFill/>
          <a:ln/>
        </p:spPr>
        <p:txBody>
          <a:bodyPr wrap="square" lIns="0" tIns="0" rIns="0" bIns="0" rtlCol="0" anchor="ctr"/>
          <a:lstStyle/>
          <a:p>
            <a:pPr indent="0" marL="0">
              <a:buNone/>
            </a:pPr>
            <a:r>
              <a:rPr lang="en-US" sz="4000" b="1" dirty="0">
                <a:solidFill>
                  <a:srgbClr val="D6336C"/>
                </a:solidFill>
                <a:latin typeface="Cambria" pitchFamily="34" charset="0"/>
                <a:ea typeface="Cambria" pitchFamily="34" charset="-122"/>
                <a:cs typeface="Cambria" pitchFamily="34" charset="-120"/>
              </a:rPr>
              <a:t>4.01</a:t>
            </a:r>
            <a:r>
              <a:rPr lang="en-US" sz="4000" b="1" dirty="0">
                <a:solidFill>
                  <a:srgbClr val="5B6578"/>
                </a:solidFill>
                <a:latin typeface="Cambria" pitchFamily="34" charset="0"/>
                <a:ea typeface="Cambria" pitchFamily="34" charset="-122"/>
                <a:cs typeface="Cambria" pitchFamily="34" charset="-120"/>
              </a:rPr>
              <a:t> → </a:t>
            </a:r>
            <a:r>
              <a:rPr lang="en-US" sz="4000" b="1" dirty="0">
                <a:solidFill>
                  <a:srgbClr val="2B6CB0"/>
                </a:solidFill>
                <a:latin typeface="Cambria" pitchFamily="34" charset="0"/>
                <a:ea typeface="Cambria" pitchFamily="34" charset="-122"/>
                <a:cs typeface="Cambria" pitchFamily="34" charset="-120"/>
              </a:rPr>
              <a:t>0.02 dB</a:t>
            </a:r>
            <a:endParaRPr lang="en-US" sz="4000" dirty="0"/>
          </a:p>
        </p:txBody>
      </p:sp>
      <p:sp>
        <p:nvSpPr>
          <p:cNvPr id="12" name="Text 8"/>
          <p:cNvSpPr txBox="1"/>
          <p:nvPr/>
        </p:nvSpPr>
        <p:spPr>
          <a:xfrm>
            <a:off x="7498080" y="5303520"/>
            <a:ext cx="4206240" cy="457200"/>
          </a:xfrm>
          <a:prstGeom prst="rect">
            <a:avLst/>
          </a:prstGeom>
          <a:noFill/>
          <a:ln/>
        </p:spPr>
        <p:txBody>
          <a:bodyPr wrap="square" lIns="0" tIns="0" rIns="0" bIns="0" rtlCol="0" anchor="t"/>
          <a:lstStyle/>
          <a:p>
            <a:pPr indent="0" marL="0">
              <a:buNone/>
            </a:pPr>
            <a:r>
              <a:rPr lang="en-US" sz="1400" dirty="0">
                <a:solidFill>
                  <a:srgbClr val="5B6578"/>
                </a:solidFill>
                <a:latin typeface="Calibri" pitchFamily="34" charset="0"/>
                <a:ea typeface="Calibri" pitchFamily="34" charset="-122"/>
                <a:cs typeface="Calibri" pitchFamily="34" charset="-120"/>
              </a:rPr>
              <a:t>spread across the eleven microphones for the same sound</a:t>
            </a:r>
            <a:endParaRPr lang="en-US" sz="1400" dirty="0"/>
          </a:p>
        </p:txBody>
      </p:sp>
      <p:sp>
        <p:nvSpPr>
          <p:cNvPr id="13" name="Text 9"/>
          <p:cNvSpPr txBox="1"/>
          <p:nvPr/>
        </p:nvSpPr>
        <p:spPr>
          <a:xfrm>
            <a:off x="7498080" y="5806440"/>
            <a:ext cx="4206240" cy="457200"/>
          </a:xfrm>
          <a:prstGeom prst="rect">
            <a:avLst/>
          </a:prstGeom>
          <a:noFill/>
          <a:ln/>
        </p:spPr>
        <p:txBody>
          <a:bodyPr wrap="square" lIns="0" tIns="0" rIns="0" bIns="0" rtlCol="0" anchor="t"/>
          <a:lstStyle/>
          <a:p>
            <a:pPr indent="0" marL="0">
              <a:buNone/>
            </a:pPr>
            <a:r>
              <a:rPr lang="en-US" sz="1400" b="1" dirty="0">
                <a:solidFill>
                  <a:srgbClr val="1F2A44"/>
                </a:solidFill>
                <a:latin typeface="Calibri" pitchFamily="34" charset="0"/>
                <a:ea typeface="Calibri" pitchFamily="34" charset="-122"/>
                <a:cs typeface="Calibri" pitchFamily="34" charset="-120"/>
              </a:rPr>
              <a:t>7 of 11 factory files were off by 0.8–2.6 dB on average</a:t>
            </a:r>
            <a:endParaRPr lang="en-US" sz="1400" dirty="0"/>
          </a:p>
        </p:txBody>
      </p:sp>
      <p:sp>
        <p:nvSpPr>
          <p:cNvPr id="14" name="Text 10"/>
          <p:cNvSpPr txBox="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Calibration session 16 Sep 2026, loudspeaker amplitude 0.03 of full scale. UMIK-2 photo: miniDSP product brief.</a:t>
            </a:r>
            <a:endParaRPr lang="en-US" sz="1100" dirty="0"/>
          </a:p>
        </p:txBody>
      </p:sp>
      <p:sp>
        <p:nvSpPr>
          <p:cNvPr id="15" name="Text 11"/>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Maps of each microphone against frequency for two captures: factory files (top), corrected (middle), effect of the correction (bottom)">    </p:cNvPr>
          <p:cNvPicPr>
            <a:picLocks noChangeAspect="1"/>
          </p:cNvPicPr>
          <p:nvPr/>
        </p:nvPicPr>
        <p:blipFill>
          <a:blip r:embed="rId1"/>
          <a:stretch>
            <a:fillRect/>
          </a:stretch>
        </p:blipFill>
        <p:spPr>
          <a:xfrm>
            <a:off x="274320" y="274320"/>
            <a:ext cx="7370064" cy="5852160"/>
          </a:xfrm>
          <a:prstGeom prst="rect">
            <a:avLst/>
          </a:prstGeom>
        </p:spPr>
      </p:pic>
      <p:sp>
        <p:nvSpPr>
          <p:cNvPr id="3" name="Text 0"/>
          <p:cNvSpPr txBox="1"/>
          <p:nvPr/>
        </p:nvSpPr>
        <p:spPr>
          <a:xfrm>
            <a:off x="8183880" y="64008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RESULT</a:t>
            </a:r>
            <a:endParaRPr lang="en-US" sz="1400" dirty="0"/>
          </a:p>
        </p:txBody>
      </p:sp>
      <p:sp>
        <p:nvSpPr>
          <p:cNvPr id="4" name="Text 1"/>
          <p:cNvSpPr txBox="1"/>
          <p:nvPr/>
        </p:nvSpPr>
        <p:spPr>
          <a:xfrm>
            <a:off x="8183880" y="960120"/>
            <a:ext cx="3566160" cy="1554480"/>
          </a:xfrm>
          <a:prstGeom prst="rect">
            <a:avLst/>
          </a:prstGeom>
          <a:noFill/>
          <a:ln/>
        </p:spPr>
        <p:txBody>
          <a:bodyPr wrap="square" lIns="0" tIns="0" rIns="0" bIns="0" rtlCol="0" anchor="t"/>
          <a:lstStyle/>
          <a:p>
            <a:pPr indent="0" marL="0">
              <a:buNone/>
            </a:pPr>
            <a:r>
              <a:rPr lang="en-US" sz="2800" b="1" dirty="0">
                <a:solidFill>
                  <a:srgbClr val="1F2A44"/>
                </a:solidFill>
                <a:latin typeface="Cambria" pitchFamily="34" charset="0"/>
                <a:ea typeface="Cambria" pitchFamily="34" charset="-122"/>
                <a:cs typeface="Cambria" pitchFamily="34" charset="-120"/>
              </a:rPr>
              <a:t>The correction removes the microphone offsets</a:t>
            </a:r>
            <a:endParaRPr lang="en-US" sz="2800" dirty="0"/>
          </a:p>
        </p:txBody>
      </p:sp>
      <p:sp>
        <p:nvSpPr>
          <p:cNvPr id="5" name="Text 2"/>
          <p:cNvSpPr txBox="1"/>
          <p:nvPr/>
        </p:nvSpPr>
        <p:spPr>
          <a:xfrm>
            <a:off x="8183880" y="260604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1F2A44"/>
                </a:solidFill>
                <a:latin typeface="Calibri" pitchFamily="34" charset="0"/>
                <a:ea typeface="Calibri" pitchFamily="34" charset="-122"/>
                <a:cs typeface="Calibri" pitchFamily="34" charset="-120"/>
              </a:rPr>
              <a:t>Top</a:t>
            </a:r>
            <a:r>
              <a:rPr lang="en-US" sz="1400" dirty="0">
                <a:solidFill>
                  <a:srgbClr val="1F2A44"/>
                </a:solidFill>
                <a:latin typeface="Calibri" pitchFamily="34" charset="0"/>
                <a:ea typeface="Calibri" pitchFamily="34" charset="-122"/>
                <a:cs typeface="Calibri" pitchFamily="34" charset="-120"/>
              </a:rPr>
              <a:t>: factory files. </a:t>
            </a:r>
            <a:r>
              <a:rPr lang="en-US" sz="1400" b="1" dirty="0">
                <a:solidFill>
                  <a:srgbClr val="1F2A44"/>
                </a:solidFill>
                <a:latin typeface="Calibri" pitchFamily="34" charset="0"/>
                <a:ea typeface="Calibri" pitchFamily="34" charset="-122"/>
                <a:cs typeface="Calibri" pitchFamily="34" charset="-120"/>
              </a:rPr>
              <a:t>Middle</a:t>
            </a:r>
            <a:r>
              <a:rPr lang="en-US" sz="1400" dirty="0">
                <a:solidFill>
                  <a:srgbClr val="1F2A44"/>
                </a:solidFill>
                <a:latin typeface="Calibri" pitchFamily="34" charset="0"/>
                <a:ea typeface="Calibri" pitchFamily="34" charset="-122"/>
                <a:cs typeface="Calibri" pitchFamily="34" charset="-120"/>
              </a:rPr>
              <a:t>: corrected. </a:t>
            </a:r>
            <a:r>
              <a:rPr lang="en-US" sz="1400" b="1" dirty="0">
                <a:solidFill>
                  <a:srgbClr val="1F2A44"/>
                </a:solidFill>
                <a:latin typeface="Calibri" pitchFamily="34" charset="0"/>
                <a:ea typeface="Calibri" pitchFamily="34" charset="-122"/>
                <a:cs typeface="Calibri" pitchFamily="34" charset="-120"/>
              </a:rPr>
              <a:t>Bottom</a:t>
            </a:r>
            <a:r>
              <a:rPr lang="en-US" sz="1400" dirty="0">
                <a:solidFill>
                  <a:srgbClr val="1F2A44"/>
                </a:solidFill>
                <a:latin typeface="Calibri" pitchFamily="34" charset="0"/>
                <a:ea typeface="Calibri" pitchFamily="34" charset="-122"/>
                <a:cs typeface="Calibri" pitchFamily="34" charset="-120"/>
              </a:rPr>
              <a:t>: what the correction changed.</a:t>
            </a:r>
            <a:endParaRPr lang="en-US" sz="1400" dirty="0"/>
          </a:p>
          <a:p>
            <a:pPr marL="342900" indent="-342900">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A stripe across all frequencies is one microphone reading too loud or too quiet. The middle row has none.</a:t>
            </a:r>
            <a:endParaRPr lang="en-US" sz="1400" dirty="0"/>
          </a:p>
          <a:p>
            <a:pPr marL="342900" indent="-342900">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room pattern stays: whole rows move, not the frequency structure.</a:t>
            </a:r>
            <a:endParaRPr lang="en-US" sz="1400" dirty="0"/>
          </a:p>
        </p:txBody>
      </p:sp>
      <p:sp>
        <p:nvSpPr>
          <p:cNvPr id="6" name="Text 3"/>
          <p:cNvSpPr txBox="1"/>
          <p:nvPr/>
        </p:nvSpPr>
        <p:spPr>
          <a:xfrm>
            <a:off x="8183880" y="5074920"/>
            <a:ext cx="3566160" cy="640080"/>
          </a:xfrm>
          <a:prstGeom prst="rect">
            <a:avLst/>
          </a:prstGeom>
          <a:noFill/>
          <a:ln/>
        </p:spPr>
        <p:txBody>
          <a:bodyPr wrap="square" lIns="0" tIns="0" rIns="0" bIns="0" rtlCol="0" anchor="ctr"/>
          <a:lstStyle/>
          <a:p>
            <a:pPr indent="0" marL="0">
              <a:buNone/>
            </a:pPr>
            <a:r>
              <a:rPr lang="en-US" sz="3600" b="1" dirty="0">
                <a:solidFill>
                  <a:srgbClr val="D6336C"/>
                </a:solidFill>
                <a:latin typeface="Cambria" pitchFamily="34" charset="0"/>
                <a:ea typeface="Cambria" pitchFamily="34" charset="-122"/>
                <a:cs typeface="Cambria" pitchFamily="34" charset="-120"/>
              </a:rPr>
              <a:t>4.3</a:t>
            </a:r>
            <a:r>
              <a:rPr lang="en-US" sz="3600" b="1" dirty="0">
                <a:solidFill>
                  <a:srgbClr val="5B6578"/>
                </a:solidFill>
                <a:latin typeface="Cambria" pitchFamily="34" charset="0"/>
                <a:ea typeface="Cambria" pitchFamily="34" charset="-122"/>
                <a:cs typeface="Cambria" pitchFamily="34" charset="-120"/>
              </a:rPr>
              <a:t> → </a:t>
            </a:r>
            <a:r>
              <a:rPr lang="en-US" sz="3600" b="1" dirty="0">
                <a:solidFill>
                  <a:srgbClr val="2B6CB0"/>
                </a:solidFill>
                <a:latin typeface="Cambria" pitchFamily="34" charset="0"/>
                <a:ea typeface="Cambria" pitchFamily="34" charset="-122"/>
                <a:cs typeface="Cambria" pitchFamily="34" charset="-120"/>
              </a:rPr>
              <a:t>0.8 dB</a:t>
            </a:r>
            <a:endParaRPr lang="en-US" sz="3600" dirty="0"/>
          </a:p>
        </p:txBody>
      </p:sp>
      <p:sp>
        <p:nvSpPr>
          <p:cNvPr id="7" name="Text 4"/>
          <p:cNvSpPr txBox="1"/>
          <p:nvPr/>
        </p:nvSpPr>
        <p:spPr>
          <a:xfrm>
            <a:off x="8183880" y="5715000"/>
            <a:ext cx="3566160" cy="54864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gap between the loudest and quietest microphone for the same sound: factory files → corrected (start of day 3; final state 4.1 → 1.0 dB)</a:t>
            </a:r>
            <a:endParaRPr lang="en-US" sz="1200" dirty="0"/>
          </a:p>
        </p:txBody>
      </p:sp>
      <p:sp>
        <p:nvSpPr>
          <p:cNvPr id="8" name="Text 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Two captures from 25 Sep 2026: the start of day 3 (left) and the final configuration (right).</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aps of each microphone against frequency: start of day 3, final state, and the change between them">    </p:cNvPr>
          <p:cNvPicPr>
            <a:picLocks noChangeAspect="1"/>
          </p:cNvPicPr>
          <p:nvPr/>
        </p:nvPicPr>
        <p:blipFill>
          <a:blip r:embed="rId1"/>
          <a:stretch>
            <a:fillRect/>
          </a:stretch>
        </p:blipFill>
        <p:spPr>
          <a:xfrm>
            <a:off x="274320" y="274320"/>
            <a:ext cx="6940296" cy="5897880"/>
          </a:xfrm>
          <a:prstGeom prst="rect">
            <a:avLst/>
          </a:prstGeom>
        </p:spPr>
      </p:pic>
      <p:sp>
        <p:nvSpPr>
          <p:cNvPr id="3" name="Text 0"/>
          <p:cNvSpPr txBox="1"/>
          <p:nvPr/>
        </p:nvSpPr>
        <p:spPr>
          <a:xfrm>
            <a:off x="8183880" y="45720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CHAMBER</a:t>
            </a:r>
            <a:endParaRPr lang="en-US" sz="1400" dirty="0"/>
          </a:p>
        </p:txBody>
      </p:sp>
      <p:sp>
        <p:nvSpPr>
          <p:cNvPr id="4" name="Text 1"/>
          <p:cNvSpPr txBox="1"/>
          <p:nvPr/>
        </p:nvSpPr>
        <p:spPr>
          <a:xfrm>
            <a:off x="8183880" y="777240"/>
            <a:ext cx="3566160" cy="1097280"/>
          </a:xfrm>
          <a:prstGeom prst="rect">
            <a:avLst/>
          </a:prstGeom>
          <a:noFill/>
          <a:ln/>
        </p:spPr>
        <p:txBody>
          <a:bodyPr wrap="square" lIns="0" tIns="0" rIns="0" bIns="0" rtlCol="0" anchor="t"/>
          <a:lstStyle/>
          <a:p>
            <a:pPr indent="0" marL="0">
              <a:buNone/>
            </a:pPr>
            <a:r>
              <a:rPr lang="en-US" sz="2800" b="1" dirty="0">
                <a:solidFill>
                  <a:srgbClr val="1F2A44"/>
                </a:solidFill>
                <a:latin typeface="Cambria" pitchFamily="34" charset="0"/>
                <a:ea typeface="Cambria" pitchFamily="34" charset="-122"/>
                <a:cs typeface="Cambria" pitchFamily="34" charset="-120"/>
              </a:rPr>
              <a:t>The treatments flatten the low end</a:t>
            </a:r>
            <a:endParaRPr lang="en-US" sz="2800" dirty="0"/>
          </a:p>
        </p:txBody>
      </p:sp>
      <p:graphicFrame>
        <p:nvGraphicFramePr>
          <p:cNvPr id="5" name="Chart 0" descr=""/>
          <p:cNvGraphicFramePr/>
          <p:nvPr/>
        </p:nvGraphicFramePr>
        <p:xfrm>
          <a:off x="8092440" y="1874520"/>
          <a:ext cx="3749040" cy="25146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8183880" y="4434840"/>
            <a:ext cx="3566160" cy="594360"/>
          </a:xfrm>
          <a:prstGeom prst="rect">
            <a:avLst/>
          </a:prstGeom>
          <a:noFill/>
          <a:ln/>
        </p:spPr>
        <p:txBody>
          <a:bodyPr wrap="square" lIns="0" tIns="0" rIns="0" bIns="0" rtlCol="0" anchor="ctr"/>
          <a:lstStyle/>
          <a:p>
            <a:pPr indent="0" marL="0">
              <a:buNone/>
            </a:pPr>
            <a:r>
              <a:rPr lang="en-US" sz="3400" b="1" dirty="0">
                <a:solidFill>
                  <a:srgbClr val="D6336C"/>
                </a:solidFill>
                <a:latin typeface="Cambria" pitchFamily="34" charset="0"/>
                <a:ea typeface="Cambria" pitchFamily="34" charset="-122"/>
                <a:cs typeface="Cambria" pitchFamily="34" charset="-120"/>
              </a:rPr>
              <a:t>2.00</a:t>
            </a:r>
            <a:r>
              <a:rPr lang="en-US" sz="3400" b="1" dirty="0">
                <a:solidFill>
                  <a:srgbClr val="5B6578"/>
                </a:solidFill>
                <a:latin typeface="Cambria" pitchFamily="34" charset="0"/>
                <a:ea typeface="Cambria" pitchFamily="34" charset="-122"/>
                <a:cs typeface="Cambria" pitchFamily="34" charset="-120"/>
              </a:rPr>
              <a:t> → </a:t>
            </a:r>
            <a:r>
              <a:rPr lang="en-US" sz="3400" b="1" dirty="0">
                <a:solidFill>
                  <a:srgbClr val="2B6CB0"/>
                </a:solidFill>
                <a:latin typeface="Cambria" pitchFamily="34" charset="0"/>
                <a:ea typeface="Cambria" pitchFamily="34" charset="-122"/>
                <a:cs typeface="Cambria" pitchFamily="34" charset="-120"/>
              </a:rPr>
              <a:t>1.39 dB</a:t>
            </a:r>
            <a:endParaRPr lang="en-US" sz="3400" dirty="0"/>
          </a:p>
        </p:txBody>
      </p:sp>
      <p:sp>
        <p:nvSpPr>
          <p:cNvPr id="7" name="Text 3"/>
          <p:cNvSpPr txBox="1"/>
          <p:nvPr/>
        </p:nvSpPr>
        <p:spPr>
          <a:xfrm>
            <a:off x="8183880" y="5029200"/>
            <a:ext cx="356616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room error below 3 kHz</a:t>
            </a:r>
            <a:endParaRPr lang="en-US" sz="1200" dirty="0"/>
          </a:p>
        </p:txBody>
      </p:sp>
      <p:sp>
        <p:nvSpPr>
          <p:cNvPr id="8" name="Text 4"/>
          <p:cNvSpPr txBox="1"/>
          <p:nvPr/>
        </p:nvSpPr>
        <p:spPr>
          <a:xfrm>
            <a:off x="8183880" y="5349240"/>
            <a:ext cx="3566160" cy="868680"/>
          </a:xfrm>
          <a:prstGeom prst="rect">
            <a:avLst/>
          </a:prstGeom>
          <a:noFill/>
          <a:ln/>
        </p:spPr>
        <p:txBody>
          <a:bodyPr wrap="square" lIns="0" tIns="0" rIns="0" bIns="0" rtlCol="0" anchor="t"/>
          <a:lstStyle/>
          <a:p>
            <a:pPr indent="0" marL="0">
              <a:buNone/>
            </a:pPr>
            <a:r>
              <a:rPr lang="en-US" sz="1400" dirty="0">
                <a:solidFill>
                  <a:srgbClr val="1F2A44"/>
                </a:solidFill>
                <a:latin typeface="Calibri" pitchFamily="34" charset="0"/>
                <a:ea typeface="Calibri" pitchFamily="34" charset="-122"/>
                <a:cs typeface="Calibri" pitchFamily="34" charset="-120"/>
              </a:rPr>
              <a:t>We improved the low end (below 630 Hz) by 1.2 dB: the error fell from 3.0 to 1.8 dB, 40 % lower. Above 1 kHz only marginal changes.</a:t>
            </a:r>
            <a:endParaRPr lang="en-US" sz="1400" dirty="0"/>
          </a:p>
        </p:txBody>
      </p:sp>
      <p:sp>
        <p:nvSpPr>
          <p:cNvPr id="9" name="Text 5"/>
          <p:cNvSpPr txBox="1"/>
          <p:nvPr/>
        </p:nvSpPr>
        <p:spPr>
          <a:xfrm>
            <a:off x="548640" y="6263640"/>
            <a:ext cx="10424160" cy="41148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25 Sep 2026. The loudspeaker was moved during the day and returned to about its starting point; the position was not documented. Room error: rms difference of the eleven microphones from their average.</a:t>
            </a:r>
            <a:endParaRPr lang="en-US" sz="1100" dirty="0"/>
          </a:p>
        </p:txBody>
      </p:sp>
      <p:sp>
        <p:nvSpPr>
          <p:cNvPr id="10"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83880" y="45720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EVALUATION</a:t>
            </a:r>
            <a:endParaRPr lang="en-US" sz="1400" dirty="0"/>
          </a:p>
        </p:txBody>
      </p:sp>
      <p:sp>
        <p:nvSpPr>
          <p:cNvPr id="3" name="Text 1"/>
          <p:cNvSpPr txBox="1"/>
          <p:nvPr/>
        </p:nvSpPr>
        <p:spPr>
          <a:xfrm>
            <a:off x="8183880" y="777240"/>
            <a:ext cx="3566160" cy="118872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Band by band against the ISO tolerance</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57200"/>
          <a:ext cx="7223760" cy="914400"/>
        </p:xfrm>
        <a:graphic>
          <a:graphicData uri="http://schemas.openxmlformats.org/drawingml/2006/table">
            <a:tbl>
              <a:tblPr/>
              <a:tblGrid>
                <a:gridCol w="777240"/>
                <a:gridCol w="731520"/>
                <a:gridCol w="777240"/>
                <a:gridCol w="1280160"/>
                <a:gridCol w="1188720"/>
                <a:gridCol w="1280160"/>
                <a:gridCol w="1188720"/>
              </a:tblGrid>
              <a:tr h="329184">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Band</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Tones</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gridSpan="2">
                  <a:txBody>
                    <a:bodyPr/>
                    <a:lstStyle/>
                    <a:p>
                      <a:pPr algn="ctr" indent="0" marL="0">
                        <a:buNone/>
                      </a:pPr>
                      <a:r>
                        <a:rPr lang="en-US" sz="1200" b="1" dirty="0">
                          <a:solidFill>
                            <a:srgbClr val="D6336C"/>
                          </a:solidFill>
                          <a:latin typeface="Calibri" pitchFamily="34" charset="0"/>
                          <a:ea typeface="Calibri" pitchFamily="34" charset="-122"/>
                          <a:cs typeface="Calibri" pitchFamily="34" charset="-120"/>
                        </a:rPr>
                        <a:t>Start of day 3</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hMerge="1">
                  <a:tcPr/>
                </a:tc>
                <a:tc gridSpan="2">
                  <a:txBody>
                    <a:bodyPr/>
                    <a:lstStyle/>
                    <a:p>
                      <a:pPr algn="ctr" indent="0" marL="0">
                        <a:buNone/>
                      </a:pPr>
                      <a:r>
                        <a:rPr lang="en-US" sz="1200" b="1" dirty="0">
                          <a:solidFill>
                            <a:srgbClr val="2B6CB0"/>
                          </a:solidFill>
                          <a:latin typeface="Calibri" pitchFamily="34" charset="0"/>
                          <a:ea typeface="Calibri" pitchFamily="34" charset="-122"/>
                          <a:cs typeface="Calibri" pitchFamily="34" charset="-120"/>
                        </a:rPr>
                        <a:t>Final</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hMerge="1">
                  <a:tcPr/>
                </a:tc>
              </a:tr>
              <a:tr h="292608">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Hz</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 dB</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per band</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worst mic, dB</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cells in limit</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worst mic, dB</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cells in limit</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6.81</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36 %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B66"/>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1.88</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D6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52 %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DB6F"/>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3.46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28 %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CA861"/>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2D07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7D970"/>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3.46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1.41</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DDA6F"/>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59 %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1.93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FBA65"/>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1.99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EB464"/>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59 %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630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0.93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5D17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2CC6A"/>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1.49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4DC6E"/>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9D573"/>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800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5D871"/>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60 %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BD672"/>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3CD6A"/>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AD970"/>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3D26C"/>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1D076"/>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0.57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FCF7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1250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0.54</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BCE7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3C87B"/>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5DA6E"/>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1600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0.69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ED374"/>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6CD78"/>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1.15</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2CA69"/>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4CC78"/>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0.66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AD275"/>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0C87C"/>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0.77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8D573"/>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82 %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5C97B"/>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2500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3D473"/>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0.75</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6D573"/>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0D374"/>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5000*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1.24</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F6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C06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3D473"/>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6300*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1.59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4D56C"/>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78 %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FCB7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1.77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3CC79"/>
                    </a:solidFill>
                  </a:tcPr>
                </a:tc>
              </a:tr>
            </a:tbl>
          </a:graphicData>
        </a:graphic>
      </p:graphicFrame>
      <p:sp>
        <p:nvSpPr>
          <p:cNvPr id="5" name="Text 2"/>
          <p:cNvSpPr txBox="1"/>
          <p:nvPr/>
        </p:nvSpPr>
        <p:spPr>
          <a:xfrm>
            <a:off x="8183880" y="2148840"/>
            <a:ext cx="356616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Colour key</a:t>
            </a:r>
            <a:endParaRPr lang="en-US" sz="1400" dirty="0"/>
          </a:p>
        </p:txBody>
      </p:sp>
      <p:sp>
        <p:nvSpPr>
          <p:cNvPr id="6" name="Shape 3"/>
          <p:cNvSpPr/>
          <p:nvPr/>
        </p:nvSpPr>
        <p:spPr>
          <a:xfrm>
            <a:off x="8183880" y="2468880"/>
            <a:ext cx="713232" cy="274320"/>
          </a:xfrm>
          <a:prstGeom prst="rect">
            <a:avLst/>
          </a:prstGeom>
          <a:solidFill>
            <a:srgbClr val="78BE82"/>
          </a:solidFill>
          <a:ln w="12700">
            <a:solidFill>
              <a:srgbClr val="FFFFFF"/>
            </a:solidFill>
            <a:prstDash val="solid"/>
          </a:ln>
        </p:spPr>
      </p:sp>
      <p:sp>
        <p:nvSpPr>
          <p:cNvPr id="7" name="Shape 4"/>
          <p:cNvSpPr/>
          <p:nvPr/>
        </p:nvSpPr>
        <p:spPr>
          <a:xfrm>
            <a:off x="8897112" y="2468880"/>
            <a:ext cx="713232" cy="274320"/>
          </a:xfrm>
          <a:prstGeom prst="rect">
            <a:avLst/>
          </a:prstGeom>
          <a:solidFill>
            <a:srgbClr val="B6CD78"/>
          </a:solidFill>
          <a:ln w="12700">
            <a:solidFill>
              <a:srgbClr val="FFFFFF"/>
            </a:solidFill>
            <a:prstDash val="solid"/>
          </a:ln>
        </p:spPr>
      </p:sp>
      <p:sp>
        <p:nvSpPr>
          <p:cNvPr id="8" name="Shape 5"/>
          <p:cNvSpPr/>
          <p:nvPr/>
        </p:nvSpPr>
        <p:spPr>
          <a:xfrm>
            <a:off x="9610344" y="2468880"/>
            <a:ext cx="713232" cy="274320"/>
          </a:xfrm>
          <a:prstGeom prst="rect">
            <a:avLst/>
          </a:prstGeom>
          <a:solidFill>
            <a:srgbClr val="F5DC6E"/>
          </a:solidFill>
          <a:ln w="12700">
            <a:solidFill>
              <a:srgbClr val="FFFFFF"/>
            </a:solidFill>
            <a:prstDash val="solid"/>
          </a:ln>
        </p:spPr>
      </p:sp>
      <p:sp>
        <p:nvSpPr>
          <p:cNvPr id="9" name="Shape 6"/>
          <p:cNvSpPr/>
          <p:nvPr/>
        </p:nvSpPr>
        <p:spPr>
          <a:xfrm>
            <a:off x="10323576" y="2468880"/>
            <a:ext cx="713232" cy="274320"/>
          </a:xfrm>
          <a:prstGeom prst="rect">
            <a:avLst/>
          </a:prstGeom>
          <a:solidFill>
            <a:srgbClr val="EBA05F"/>
          </a:solidFill>
          <a:ln w="12700">
            <a:solidFill>
              <a:srgbClr val="FFFFFF"/>
            </a:solidFill>
            <a:prstDash val="solid"/>
          </a:ln>
        </p:spPr>
      </p:sp>
      <p:sp>
        <p:nvSpPr>
          <p:cNvPr id="10" name="Shape 7"/>
          <p:cNvSpPr/>
          <p:nvPr/>
        </p:nvSpPr>
        <p:spPr>
          <a:xfrm>
            <a:off x="11036808" y="2468880"/>
            <a:ext cx="713232" cy="274320"/>
          </a:xfrm>
          <a:prstGeom prst="rect">
            <a:avLst/>
          </a:prstGeom>
          <a:solidFill>
            <a:srgbClr val="E16450"/>
          </a:solidFill>
          <a:ln w="12700">
            <a:solidFill>
              <a:srgbClr val="FFFFFF"/>
            </a:solidFill>
            <a:prstDash val="solid"/>
          </a:ln>
        </p:spPr>
      </p:sp>
      <p:sp>
        <p:nvSpPr>
          <p:cNvPr id="11" name="Text 8"/>
          <p:cNvSpPr txBox="1"/>
          <p:nvPr/>
        </p:nvSpPr>
        <p:spPr>
          <a:xfrm>
            <a:off x="8183880" y="2770632"/>
            <a:ext cx="71323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0</a:t>
            </a:r>
            <a:endParaRPr lang="en-US" sz="1200" dirty="0"/>
          </a:p>
        </p:txBody>
      </p:sp>
      <p:sp>
        <p:nvSpPr>
          <p:cNvPr id="12" name="Text 9"/>
          <p:cNvSpPr txBox="1"/>
          <p:nvPr/>
        </p:nvSpPr>
        <p:spPr>
          <a:xfrm>
            <a:off x="9518904" y="2770632"/>
            <a:ext cx="89611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at the limit</a:t>
            </a:r>
            <a:endParaRPr lang="en-US" sz="1200" dirty="0"/>
          </a:p>
        </p:txBody>
      </p:sp>
      <p:sp>
        <p:nvSpPr>
          <p:cNvPr id="13" name="Text 10"/>
          <p:cNvSpPr txBox="1"/>
          <p:nvPr/>
        </p:nvSpPr>
        <p:spPr>
          <a:xfrm>
            <a:off x="10945368" y="2770632"/>
            <a:ext cx="89611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2× or more</a:t>
            </a:r>
            <a:endParaRPr lang="en-US" sz="1200" dirty="0"/>
          </a:p>
        </p:txBody>
      </p:sp>
      <p:sp>
        <p:nvSpPr>
          <p:cNvPr id="14" name="Text 11"/>
          <p:cNvSpPr txBox="1"/>
          <p:nvPr/>
        </p:nvSpPr>
        <p:spPr>
          <a:xfrm>
            <a:off x="8183880" y="3063240"/>
            <a:ext cx="3566160" cy="50292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Worst microphone as a share of the limit. Cells: green 100 %, yellow 50 %, red 0 %.</a:t>
            </a:r>
            <a:endParaRPr lang="en-US" sz="1200" dirty="0"/>
          </a:p>
        </p:txBody>
      </p:sp>
      <p:sp>
        <p:nvSpPr>
          <p:cNvPr id="15" name="Text 12"/>
          <p:cNvSpPr txBox="1"/>
          <p:nvPr/>
        </p:nvSpPr>
        <p:spPr>
          <a:xfrm>
            <a:off x="8183880" y="3749040"/>
            <a:ext cx="3566160" cy="1371600"/>
          </a:xfrm>
          <a:prstGeom prst="rect">
            <a:avLst/>
          </a:prstGeom>
          <a:noFill/>
          <a:ln/>
        </p:spPr>
        <p:txBody>
          <a:bodyPr wrap="square" lIns="0" tIns="0" rIns="0" bIns="0" rtlCol="0" anchor="t"/>
          <a:lstStyle/>
          <a:p>
            <a:pPr indent="0" marL="0">
              <a:spcAft>
                <a:spcPts val="600"/>
              </a:spcAft>
              <a:buNone/>
            </a:pPr>
            <a:r>
              <a:rPr lang="en-US" sz="1400" dirty="0">
                <a:solidFill>
                  <a:srgbClr val="1F2A44"/>
                </a:solidFill>
                <a:latin typeface="Calibri" pitchFamily="34" charset="0"/>
                <a:ea typeface="Calibri" pitchFamily="34" charset="-122"/>
                <a:cs typeface="Calibri" pitchFamily="34" charset="-120"/>
              </a:rPr>
              <a:t>Bands clearly over (of 13): </a:t>
            </a:r>
            <a:r>
              <a:rPr lang="en-US" sz="1400" b="1" dirty="0">
                <a:solidFill>
                  <a:srgbClr val="1F2A44"/>
                </a:solidFill>
                <a:latin typeface="Calibri" pitchFamily="34" charset="0"/>
                <a:ea typeface="Calibri" pitchFamily="34" charset="-122"/>
                <a:cs typeface="Calibri" pitchFamily="34" charset="-120"/>
              </a:rPr>
              <a:t>7 → 6</a:t>
            </a:r>
            <a:endParaRPr lang="en-US" sz="1400" dirty="0"/>
          </a:p>
          <a:p>
            <a:pPr indent="0" marL="0">
              <a:spcAft>
                <a:spcPts val="600"/>
              </a:spcAft>
              <a:buNone/>
            </a:pPr>
            <a:r>
              <a:rPr lang="en-US" sz="1400" dirty="0">
                <a:solidFill>
                  <a:srgbClr val="1F2A44"/>
                </a:solidFill>
                <a:latin typeface="Calibri" pitchFamily="34" charset="0"/>
                <a:ea typeface="Calibri" pitchFamily="34" charset="-122"/>
                <a:cs typeface="Calibri" pitchFamily="34" charset="-120"/>
              </a:rPr>
              <a:t>Cells in limit (13 bands): </a:t>
            </a:r>
            <a:r>
              <a:rPr lang="en-US" sz="1400" b="1" dirty="0">
                <a:solidFill>
                  <a:srgbClr val="1F2A44"/>
                </a:solidFill>
                <a:latin typeface="Calibri" pitchFamily="34" charset="0"/>
                <a:ea typeface="Calibri" pitchFamily="34" charset="-122"/>
                <a:cs typeface="Calibri" pitchFamily="34" charset="-120"/>
              </a:rPr>
              <a:t>60 % → 66 %</a:t>
            </a:r>
            <a:endParaRPr lang="en-US" sz="1400" dirty="0"/>
          </a:p>
        </p:txBody>
      </p:sp>
      <p:sp>
        <p:nvSpPr>
          <p:cNvPr id="16" name="Text 13"/>
          <p:cNvSpPr txBox="1"/>
          <p:nvPr/>
        </p:nvSpPr>
        <p:spPr>
          <a:xfrm>
            <a:off x="8183880" y="5257800"/>
            <a:ext cx="3566160" cy="105156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 Partial bands: only the tones above 5 kHz are measured (4 and 5 tones). 3–5 kHz is left out because of the loudspeaker: its cone has a rocking mode near 4.4 kHz. ISO values are an analogue, not a qualification of the room.</a:t>
            </a:r>
            <a:endParaRPr lang="en-US" sz="1200" dirty="0"/>
          </a:p>
        </p:txBody>
      </p:sp>
      <p:sp>
        <p:nvSpPr>
          <p:cNvPr id="17" name="Text 14"/>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olar plot of 20 to 560 Hz: the jagged red 31 Aug outline and the smoother blue 30 Sep outline">    </p:cNvPr>
          <p:cNvPicPr>
            <a:picLocks noChangeAspect="1"/>
          </p:cNvPicPr>
          <p:nvPr/>
        </p:nvPicPr>
        <p:blipFill>
          <a:blip r:embed="rId1"/>
          <a:stretch>
            <a:fillRect/>
          </a:stretch>
        </p:blipFill>
        <p:spPr>
          <a:xfrm>
            <a:off x="548640" y="457200"/>
            <a:ext cx="5440680" cy="5797296"/>
          </a:xfrm>
          <a:prstGeom prst="rect">
            <a:avLst/>
          </a:prstGeom>
        </p:spPr>
      </p:pic>
      <p:sp>
        <p:nvSpPr>
          <p:cNvPr id="3" name="Text 0"/>
          <p:cNvSpPr txBox="1"/>
          <p:nvPr/>
        </p:nvSpPr>
        <p:spPr>
          <a:xfrm>
            <a:off x="6766560" y="822960"/>
            <a:ext cx="4846320" cy="36576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COMPARISON</a:t>
            </a:r>
            <a:endParaRPr lang="en-US" sz="1400" dirty="0"/>
          </a:p>
        </p:txBody>
      </p:sp>
      <p:sp>
        <p:nvSpPr>
          <p:cNvPr id="4" name="Text 1"/>
          <p:cNvSpPr txBox="1"/>
          <p:nvPr/>
        </p:nvSpPr>
        <p:spPr>
          <a:xfrm>
            <a:off x="6766560" y="1188720"/>
            <a:ext cx="4846320" cy="1188720"/>
          </a:xfrm>
          <a:prstGeom prst="rect">
            <a:avLst/>
          </a:prstGeom>
          <a:noFill/>
          <a:ln/>
        </p:spPr>
        <p:txBody>
          <a:bodyPr wrap="square" lIns="0" tIns="0" rIns="0" bIns="0" rtlCol="0" anchor="t"/>
          <a:lstStyle/>
          <a:p>
            <a:pPr indent="0" marL="0">
              <a:buNone/>
            </a:pPr>
            <a:r>
              <a:rPr lang="en-US" sz="3400" b="1" dirty="0">
                <a:solidFill>
                  <a:srgbClr val="1F2A44"/>
                </a:solidFill>
                <a:latin typeface="Cambria" pitchFamily="34" charset="0"/>
                <a:ea typeface="Cambria" pitchFamily="34" charset="-122"/>
                <a:cs typeface="Cambria" pitchFamily="34" charset="-120"/>
              </a:rPr>
              <a:t>31 Aug and 30 Sep on the same axes</a:t>
            </a:r>
            <a:endParaRPr lang="en-US" sz="3400" dirty="0"/>
          </a:p>
        </p:txBody>
      </p:sp>
      <p:sp>
        <p:nvSpPr>
          <p:cNvPr id="5" name="Text 2"/>
          <p:cNvSpPr txBox="1"/>
          <p:nvPr/>
        </p:nvSpPr>
        <p:spPr>
          <a:xfrm>
            <a:off x="6766560" y="251460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Red: 31 Aug, factory microphone files. Blue: 30 Sep, corrected files. Two different propellers.</a:t>
            </a:r>
            <a:endParaRPr lang="en-US" sz="1600" dirty="0"/>
          </a:p>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The propeller was mounted the other way round between the two, so the thrust points the other way. We do not expect this to change the sound.</a:t>
            </a:r>
            <a:endParaRPr lang="en-US" sz="1600" dirty="0"/>
          </a:p>
          <a:p>
            <a:pPr marL="342900" indent="-342900">
              <a:spcAft>
                <a:spcPts val="1000"/>
              </a:spcAft>
              <a:buSzPct val="100000"/>
              <a:buChar char="•"/>
            </a:pPr>
            <a:r>
              <a:rPr lang="en-US" sz="1600" b="1" dirty="0">
                <a:solidFill>
                  <a:srgbClr val="1F2A44"/>
                </a:solidFill>
                <a:latin typeface="Calibri" pitchFamily="34" charset="0"/>
                <a:ea typeface="Calibri" pitchFamily="34" charset="-122"/>
                <a:cs typeface="Calibri" pitchFamily="34" charset="-120"/>
              </a:rPr>
              <a:t>The 30 Sep outline is smoother.</a:t>
            </a:r>
            <a:endParaRPr lang="en-US" sz="1600" dirty="0"/>
          </a:p>
        </p:txBody>
      </p:sp>
      <p:sp>
        <p:nvSpPr>
          <p:cNvPr id="6" name="Text 3"/>
          <p:cNvSpPr txBox="1"/>
          <p:nvPr/>
        </p:nvSpPr>
        <p:spPr>
          <a:xfrm>
            <a:off x="6766560" y="5029200"/>
            <a:ext cx="4846320" cy="731520"/>
          </a:xfrm>
          <a:prstGeom prst="rect">
            <a:avLst/>
          </a:prstGeom>
          <a:noFill/>
          <a:ln/>
        </p:spPr>
        <p:txBody>
          <a:bodyPr wrap="square" lIns="0" tIns="0" rIns="0" bIns="0" rtlCol="0" anchor="ctr"/>
          <a:lstStyle/>
          <a:p>
            <a:pPr indent="0" marL="0">
              <a:buNone/>
            </a:pPr>
            <a:r>
              <a:rPr lang="en-US" sz="4800" b="1" dirty="0">
                <a:solidFill>
                  <a:srgbClr val="D6336C"/>
                </a:solidFill>
                <a:latin typeface="Cambria" pitchFamily="34" charset="0"/>
                <a:ea typeface="Cambria" pitchFamily="34" charset="-122"/>
                <a:cs typeface="Cambria" pitchFamily="34" charset="-120"/>
              </a:rPr>
              <a:t>6.7</a:t>
            </a:r>
            <a:r>
              <a:rPr lang="en-US" sz="4800" b="1" dirty="0">
                <a:solidFill>
                  <a:srgbClr val="5B6578"/>
                </a:solidFill>
                <a:latin typeface="Cambria" pitchFamily="34" charset="0"/>
                <a:ea typeface="Cambria" pitchFamily="34" charset="-122"/>
                <a:cs typeface="Cambria" pitchFamily="34" charset="-120"/>
              </a:rPr>
              <a:t> → </a:t>
            </a:r>
            <a:r>
              <a:rPr lang="en-US" sz="4800" b="1" dirty="0">
                <a:solidFill>
                  <a:srgbClr val="2B6CB0"/>
                </a:solidFill>
                <a:latin typeface="Cambria" pitchFamily="34" charset="0"/>
                <a:ea typeface="Cambria" pitchFamily="34" charset="-122"/>
                <a:cs typeface="Cambria" pitchFamily="34" charset="-120"/>
              </a:rPr>
              <a:t>4.0 dB</a:t>
            </a:r>
            <a:endParaRPr lang="en-US" sz="4800" dirty="0"/>
          </a:p>
        </p:txBody>
      </p:sp>
      <p:sp>
        <p:nvSpPr>
          <p:cNvPr id="7" name="Text 4"/>
          <p:cNvSpPr txBox="1"/>
          <p:nvPr/>
        </p:nvSpPr>
        <p:spPr>
          <a:xfrm>
            <a:off x="6766560" y="5760720"/>
            <a:ext cx="4846320" cy="457200"/>
          </a:xfrm>
          <a:prstGeom prst="rect">
            <a:avLst/>
          </a:prstGeom>
          <a:noFill/>
          <a:ln/>
        </p:spPr>
        <p:txBody>
          <a:bodyPr wrap="square" lIns="0" tIns="0" rIns="0" bIns="0" rtlCol="0" anchor="ctr"/>
          <a:lstStyle/>
          <a:p>
            <a:pPr indent="0" marL="0">
              <a:buNone/>
            </a:pPr>
            <a:r>
              <a:rPr lang="en-US" sz="1400" dirty="0">
                <a:solidFill>
                  <a:srgbClr val="5B6578"/>
                </a:solidFill>
                <a:latin typeface="Calibri" pitchFamily="34" charset="0"/>
                <a:ea typeface="Calibri" pitchFamily="34" charset="-122"/>
                <a:cs typeface="Calibri" pitchFamily="34" charset="-120"/>
              </a:rPr>
              <a:t>between the loudest and quietest microphone</a:t>
            </a:r>
            <a:endParaRPr lang="en-US" sz="1400" dirty="0"/>
          </a:p>
        </p:txBody>
      </p:sp>
      <p:sp>
        <p:nvSpPr>
          <p:cNvPr id="8"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20–560 Hz, motor at 2000 µs. Different propellers and run conditions, so the levels are not comparable; compare the shapes.</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olar plot of ten material set-ups at 2000 microseconds, total level 500 Hz to 24 kHz: bare, cork, rubber, felt, felt with rubber, felt with PU foam, PU foam, double PU foam, 4 and 8 layers of Thinsulate">    </p:cNvPr>
          <p:cNvPicPr>
            <a:picLocks noChangeAspect="1"/>
          </p:cNvPicPr>
          <p:nvPr/>
        </p:nvPicPr>
        <p:blipFill>
          <a:blip r:embed="rId1"/>
          <a:stretch>
            <a:fillRect/>
          </a:stretch>
        </p:blipFill>
        <p:spPr>
          <a:xfrm>
            <a:off x="411480" y="411480"/>
            <a:ext cx="5824728" cy="5806440"/>
          </a:xfrm>
          <a:prstGeom prst="rect">
            <a:avLst/>
          </a:prstGeom>
        </p:spPr>
      </p:pic>
      <p:sp>
        <p:nvSpPr>
          <p:cNvPr id="3" name="Text 0"/>
          <p:cNvSpPr txBox="1"/>
          <p:nvPr/>
        </p:nvSpPr>
        <p:spPr>
          <a:xfrm>
            <a:off x="6583680" y="365760"/>
            <a:ext cx="512064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MATERIALS</a:t>
            </a:r>
            <a:endParaRPr lang="en-US" sz="1400" dirty="0"/>
          </a:p>
        </p:txBody>
      </p:sp>
      <p:sp>
        <p:nvSpPr>
          <p:cNvPr id="4" name="Text 1"/>
          <p:cNvSpPr txBox="1"/>
          <p:nvPr/>
        </p:nvSpPr>
        <p:spPr>
          <a:xfrm>
            <a:off x="6583680" y="658368"/>
            <a:ext cx="5120640" cy="82296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Materials at 2000 µs</a:t>
            </a:r>
            <a:endParaRPr lang="en-US" sz="3000" dirty="0"/>
          </a:p>
        </p:txBody>
      </p:sp>
      <p:sp>
        <p:nvSpPr>
          <p:cNvPr id="5" name="Text 2"/>
          <p:cNvSpPr txBox="1"/>
          <p:nvPr/>
        </p:nvSpPr>
        <p:spPr>
          <a:xfrm>
            <a:off x="6583680" y="1508760"/>
            <a:ext cx="512064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Mean level. Round markers: 2 Oct. Square: 7 Oct.</a:t>
            </a:r>
            <a:endParaRPr lang="en-US" sz="1200" dirty="0"/>
          </a:p>
        </p:txBody>
      </p:sp>
      <p:sp>
        <p:nvSpPr>
          <p:cNvPr id="6" name="Shape 3"/>
          <p:cNvSpPr/>
          <p:nvPr/>
        </p:nvSpPr>
        <p:spPr>
          <a:xfrm>
            <a:off x="6583680" y="1938528"/>
            <a:ext cx="182880" cy="182880"/>
          </a:xfrm>
          <a:prstGeom prst="ellipse">
            <a:avLst/>
          </a:prstGeom>
          <a:solidFill>
            <a:srgbClr val="1F2A44"/>
          </a:solidFill>
          <a:ln w="12700">
            <a:solidFill>
              <a:srgbClr val="1F2A44"/>
            </a:solidFill>
            <a:prstDash val="solid"/>
          </a:ln>
        </p:spPr>
      </p:sp>
      <p:sp>
        <p:nvSpPr>
          <p:cNvPr id="7" name="Text 4"/>
          <p:cNvSpPr txBox="1"/>
          <p:nvPr/>
        </p:nvSpPr>
        <p:spPr>
          <a:xfrm>
            <a:off x="6858000" y="1874520"/>
            <a:ext cx="2743200" cy="310896"/>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Bare</a:t>
            </a:r>
            <a:endParaRPr lang="en-US" sz="1400" dirty="0"/>
          </a:p>
        </p:txBody>
      </p:sp>
      <p:sp>
        <p:nvSpPr>
          <p:cNvPr id="8" name="Text 5"/>
          <p:cNvSpPr txBox="1"/>
          <p:nvPr/>
        </p:nvSpPr>
        <p:spPr>
          <a:xfrm>
            <a:off x="9646920" y="1874520"/>
            <a:ext cx="640080" cy="310896"/>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2 Oct</a:t>
            </a:r>
            <a:endParaRPr lang="en-US" sz="1200" dirty="0"/>
          </a:p>
        </p:txBody>
      </p:sp>
      <p:sp>
        <p:nvSpPr>
          <p:cNvPr id="9" name="Text 6"/>
          <p:cNvSpPr txBox="1"/>
          <p:nvPr/>
        </p:nvSpPr>
        <p:spPr>
          <a:xfrm>
            <a:off x="10241280" y="1874520"/>
            <a:ext cx="1463040" cy="310896"/>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74.2 dB</a:t>
            </a:r>
            <a:endParaRPr lang="en-US" sz="1400" dirty="0"/>
          </a:p>
        </p:txBody>
      </p:sp>
      <p:sp>
        <p:nvSpPr>
          <p:cNvPr id="10" name="Shape 7"/>
          <p:cNvSpPr/>
          <p:nvPr/>
        </p:nvSpPr>
        <p:spPr>
          <a:xfrm>
            <a:off x="6583680" y="2276856"/>
            <a:ext cx="182880" cy="182880"/>
          </a:xfrm>
          <a:prstGeom prst="ellipse">
            <a:avLst/>
          </a:prstGeom>
          <a:solidFill>
            <a:srgbClr val="862E9C"/>
          </a:solidFill>
          <a:ln w="12700">
            <a:solidFill>
              <a:srgbClr val="862E9C"/>
            </a:solidFill>
            <a:prstDash val="solid"/>
          </a:ln>
        </p:spPr>
      </p:sp>
      <p:sp>
        <p:nvSpPr>
          <p:cNvPr id="11" name="Text 8"/>
          <p:cNvSpPr txBox="1"/>
          <p:nvPr/>
        </p:nvSpPr>
        <p:spPr>
          <a:xfrm>
            <a:off x="6858000" y="2212848"/>
            <a:ext cx="2743200" cy="310896"/>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PU foam</a:t>
            </a:r>
            <a:endParaRPr lang="en-US" sz="1400" dirty="0"/>
          </a:p>
        </p:txBody>
      </p:sp>
      <p:sp>
        <p:nvSpPr>
          <p:cNvPr id="12" name="Text 9"/>
          <p:cNvSpPr txBox="1"/>
          <p:nvPr/>
        </p:nvSpPr>
        <p:spPr>
          <a:xfrm>
            <a:off x="9646920" y="2212848"/>
            <a:ext cx="640080" cy="310896"/>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7 Oct</a:t>
            </a:r>
            <a:endParaRPr lang="en-US" sz="1200" dirty="0"/>
          </a:p>
        </p:txBody>
      </p:sp>
      <p:sp>
        <p:nvSpPr>
          <p:cNvPr id="13" name="Text 10"/>
          <p:cNvSpPr txBox="1"/>
          <p:nvPr/>
        </p:nvSpPr>
        <p:spPr>
          <a:xfrm>
            <a:off x="10241280" y="2212848"/>
            <a:ext cx="1463040" cy="310896"/>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77.6 dB</a:t>
            </a:r>
            <a:endParaRPr lang="en-US" sz="1400" dirty="0"/>
          </a:p>
        </p:txBody>
      </p:sp>
      <p:sp>
        <p:nvSpPr>
          <p:cNvPr id="14" name="Shape 11"/>
          <p:cNvSpPr/>
          <p:nvPr/>
        </p:nvSpPr>
        <p:spPr>
          <a:xfrm>
            <a:off x="6583680" y="2615184"/>
            <a:ext cx="182880" cy="182880"/>
          </a:xfrm>
          <a:prstGeom prst="ellipse">
            <a:avLst/>
          </a:prstGeom>
          <a:solidFill>
            <a:srgbClr val="7048E8"/>
          </a:solidFill>
          <a:ln w="12700">
            <a:solidFill>
              <a:srgbClr val="7048E8"/>
            </a:solidFill>
            <a:prstDash val="solid"/>
          </a:ln>
        </p:spPr>
      </p:sp>
      <p:sp>
        <p:nvSpPr>
          <p:cNvPr id="15" name="Text 12"/>
          <p:cNvSpPr txBox="1"/>
          <p:nvPr/>
        </p:nvSpPr>
        <p:spPr>
          <a:xfrm>
            <a:off x="6858000" y="2551176"/>
            <a:ext cx="2743200" cy="310896"/>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Felt + rubber</a:t>
            </a:r>
            <a:endParaRPr lang="en-US" sz="1400" dirty="0"/>
          </a:p>
        </p:txBody>
      </p:sp>
      <p:sp>
        <p:nvSpPr>
          <p:cNvPr id="16" name="Text 13"/>
          <p:cNvSpPr txBox="1"/>
          <p:nvPr/>
        </p:nvSpPr>
        <p:spPr>
          <a:xfrm>
            <a:off x="9646920" y="2551176"/>
            <a:ext cx="640080" cy="310896"/>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2 Oct</a:t>
            </a:r>
            <a:endParaRPr lang="en-US" sz="1200" dirty="0"/>
          </a:p>
        </p:txBody>
      </p:sp>
      <p:sp>
        <p:nvSpPr>
          <p:cNvPr id="17" name="Text 14"/>
          <p:cNvSpPr txBox="1"/>
          <p:nvPr/>
        </p:nvSpPr>
        <p:spPr>
          <a:xfrm>
            <a:off x="10241280" y="2551176"/>
            <a:ext cx="1463040" cy="310896"/>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78.2 dB</a:t>
            </a:r>
            <a:endParaRPr lang="en-US" sz="1400" dirty="0"/>
          </a:p>
        </p:txBody>
      </p:sp>
      <p:sp>
        <p:nvSpPr>
          <p:cNvPr id="18" name="Shape 15"/>
          <p:cNvSpPr/>
          <p:nvPr/>
        </p:nvSpPr>
        <p:spPr>
          <a:xfrm>
            <a:off x="6583680" y="2953512"/>
            <a:ext cx="182880" cy="182880"/>
          </a:xfrm>
          <a:prstGeom prst="ellipse">
            <a:avLst/>
          </a:prstGeom>
          <a:solidFill>
            <a:srgbClr val="5C940D"/>
          </a:solidFill>
          <a:ln w="12700">
            <a:solidFill>
              <a:srgbClr val="5C940D"/>
            </a:solidFill>
            <a:prstDash val="solid"/>
          </a:ln>
        </p:spPr>
      </p:sp>
      <p:sp>
        <p:nvSpPr>
          <p:cNvPr id="19" name="Text 16"/>
          <p:cNvSpPr txBox="1"/>
          <p:nvPr/>
        </p:nvSpPr>
        <p:spPr>
          <a:xfrm>
            <a:off x="6858000" y="2889504"/>
            <a:ext cx="2743200" cy="310896"/>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PU foam, double layer</a:t>
            </a:r>
            <a:endParaRPr lang="en-US" sz="1400" dirty="0"/>
          </a:p>
        </p:txBody>
      </p:sp>
      <p:sp>
        <p:nvSpPr>
          <p:cNvPr id="20" name="Text 17"/>
          <p:cNvSpPr txBox="1"/>
          <p:nvPr/>
        </p:nvSpPr>
        <p:spPr>
          <a:xfrm>
            <a:off x="9646920" y="2889504"/>
            <a:ext cx="640080" cy="310896"/>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7 Oct</a:t>
            </a:r>
            <a:endParaRPr lang="en-US" sz="1200" dirty="0"/>
          </a:p>
        </p:txBody>
      </p:sp>
      <p:sp>
        <p:nvSpPr>
          <p:cNvPr id="21" name="Text 18"/>
          <p:cNvSpPr txBox="1"/>
          <p:nvPr/>
        </p:nvSpPr>
        <p:spPr>
          <a:xfrm>
            <a:off x="10241280" y="2889504"/>
            <a:ext cx="1463040" cy="310896"/>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78.2 dB</a:t>
            </a:r>
            <a:endParaRPr lang="en-US" sz="1400" dirty="0"/>
          </a:p>
        </p:txBody>
      </p:sp>
      <p:sp>
        <p:nvSpPr>
          <p:cNvPr id="22" name="Shape 19"/>
          <p:cNvSpPr/>
          <p:nvPr/>
        </p:nvSpPr>
        <p:spPr>
          <a:xfrm>
            <a:off x="6583680" y="3291840"/>
            <a:ext cx="182880" cy="182880"/>
          </a:xfrm>
          <a:prstGeom prst="ellipse">
            <a:avLst/>
          </a:prstGeom>
          <a:solidFill>
            <a:srgbClr val="2F9E44"/>
          </a:solidFill>
          <a:ln w="12700">
            <a:solidFill>
              <a:srgbClr val="2F9E44"/>
            </a:solidFill>
            <a:prstDash val="solid"/>
          </a:ln>
        </p:spPr>
      </p:sp>
      <p:sp>
        <p:nvSpPr>
          <p:cNvPr id="23" name="Text 20"/>
          <p:cNvSpPr txBox="1"/>
          <p:nvPr/>
        </p:nvSpPr>
        <p:spPr>
          <a:xfrm>
            <a:off x="6858000" y="3227832"/>
            <a:ext cx="2743200" cy="310896"/>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Cork</a:t>
            </a:r>
            <a:endParaRPr lang="en-US" sz="1400" dirty="0"/>
          </a:p>
        </p:txBody>
      </p:sp>
      <p:sp>
        <p:nvSpPr>
          <p:cNvPr id="24" name="Text 21"/>
          <p:cNvSpPr txBox="1"/>
          <p:nvPr/>
        </p:nvSpPr>
        <p:spPr>
          <a:xfrm>
            <a:off x="9646920" y="3227832"/>
            <a:ext cx="640080" cy="310896"/>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2 Oct</a:t>
            </a:r>
            <a:endParaRPr lang="en-US" sz="1200" dirty="0"/>
          </a:p>
        </p:txBody>
      </p:sp>
      <p:sp>
        <p:nvSpPr>
          <p:cNvPr id="25" name="Text 22"/>
          <p:cNvSpPr txBox="1"/>
          <p:nvPr/>
        </p:nvSpPr>
        <p:spPr>
          <a:xfrm>
            <a:off x="10241280" y="3227832"/>
            <a:ext cx="1463040" cy="310896"/>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78.6 dB</a:t>
            </a:r>
            <a:endParaRPr lang="en-US" sz="1400" dirty="0"/>
          </a:p>
        </p:txBody>
      </p:sp>
      <p:sp>
        <p:nvSpPr>
          <p:cNvPr id="26" name="Shape 23"/>
          <p:cNvSpPr/>
          <p:nvPr/>
        </p:nvSpPr>
        <p:spPr>
          <a:xfrm>
            <a:off x="6583680" y="3630168"/>
            <a:ext cx="182880" cy="182880"/>
          </a:xfrm>
          <a:prstGeom prst="ellipse">
            <a:avLst/>
          </a:prstGeom>
          <a:solidFill>
            <a:srgbClr val="C2255C"/>
          </a:solidFill>
          <a:ln w="12700">
            <a:solidFill>
              <a:srgbClr val="C2255C"/>
            </a:solidFill>
            <a:prstDash val="solid"/>
          </a:ln>
        </p:spPr>
      </p:sp>
      <p:sp>
        <p:nvSpPr>
          <p:cNvPr id="27" name="Text 24"/>
          <p:cNvSpPr txBox="1"/>
          <p:nvPr/>
        </p:nvSpPr>
        <p:spPr>
          <a:xfrm>
            <a:off x="6858000" y="3566160"/>
            <a:ext cx="2743200" cy="310896"/>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Inner felt + outer PU foam</a:t>
            </a:r>
            <a:endParaRPr lang="en-US" sz="1400" dirty="0"/>
          </a:p>
        </p:txBody>
      </p:sp>
      <p:sp>
        <p:nvSpPr>
          <p:cNvPr id="28" name="Text 25"/>
          <p:cNvSpPr txBox="1"/>
          <p:nvPr/>
        </p:nvSpPr>
        <p:spPr>
          <a:xfrm>
            <a:off x="9646920" y="3566160"/>
            <a:ext cx="640080" cy="310896"/>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7 Oct</a:t>
            </a:r>
            <a:endParaRPr lang="en-US" sz="1200" dirty="0"/>
          </a:p>
        </p:txBody>
      </p:sp>
      <p:sp>
        <p:nvSpPr>
          <p:cNvPr id="29" name="Text 26"/>
          <p:cNvSpPr txBox="1"/>
          <p:nvPr/>
        </p:nvSpPr>
        <p:spPr>
          <a:xfrm>
            <a:off x="10241280" y="3566160"/>
            <a:ext cx="1463040" cy="310896"/>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78.8 dB</a:t>
            </a:r>
            <a:endParaRPr lang="en-US" sz="1400" dirty="0"/>
          </a:p>
        </p:txBody>
      </p:sp>
      <p:sp>
        <p:nvSpPr>
          <p:cNvPr id="30" name="Shape 27"/>
          <p:cNvSpPr/>
          <p:nvPr/>
        </p:nvSpPr>
        <p:spPr>
          <a:xfrm>
            <a:off x="6583680" y="3968496"/>
            <a:ext cx="182880" cy="182880"/>
          </a:xfrm>
          <a:prstGeom prst="ellipse">
            <a:avLst/>
          </a:prstGeom>
          <a:solidFill>
            <a:srgbClr val="1864AB"/>
          </a:solidFill>
          <a:ln w="12700">
            <a:solidFill>
              <a:srgbClr val="1864AB"/>
            </a:solidFill>
            <a:prstDash val="solid"/>
          </a:ln>
        </p:spPr>
      </p:sp>
      <p:sp>
        <p:nvSpPr>
          <p:cNvPr id="31" name="Text 28"/>
          <p:cNvSpPr txBox="1"/>
          <p:nvPr/>
        </p:nvSpPr>
        <p:spPr>
          <a:xfrm>
            <a:off x="6858000" y="3904488"/>
            <a:ext cx="2743200" cy="310896"/>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Thinsulate, 8 layers</a:t>
            </a:r>
            <a:endParaRPr lang="en-US" sz="1400" dirty="0"/>
          </a:p>
        </p:txBody>
      </p:sp>
      <p:sp>
        <p:nvSpPr>
          <p:cNvPr id="32" name="Text 29"/>
          <p:cNvSpPr txBox="1"/>
          <p:nvPr/>
        </p:nvSpPr>
        <p:spPr>
          <a:xfrm>
            <a:off x="9646920" y="3904488"/>
            <a:ext cx="640080" cy="310896"/>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7 Oct</a:t>
            </a:r>
            <a:endParaRPr lang="en-US" sz="1200" dirty="0"/>
          </a:p>
        </p:txBody>
      </p:sp>
      <p:sp>
        <p:nvSpPr>
          <p:cNvPr id="33" name="Text 30"/>
          <p:cNvSpPr txBox="1"/>
          <p:nvPr/>
        </p:nvSpPr>
        <p:spPr>
          <a:xfrm>
            <a:off x="10241280" y="3904488"/>
            <a:ext cx="1463040" cy="310896"/>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79.2 dB</a:t>
            </a:r>
            <a:endParaRPr lang="en-US" sz="1400" dirty="0"/>
          </a:p>
        </p:txBody>
      </p:sp>
      <p:sp>
        <p:nvSpPr>
          <p:cNvPr id="34" name="Shape 31"/>
          <p:cNvSpPr/>
          <p:nvPr/>
        </p:nvSpPr>
        <p:spPr>
          <a:xfrm>
            <a:off x="6583680" y="4306824"/>
            <a:ext cx="182880" cy="182880"/>
          </a:xfrm>
          <a:prstGeom prst="ellipse">
            <a:avLst/>
          </a:prstGeom>
          <a:solidFill>
            <a:srgbClr val="1098AD"/>
          </a:solidFill>
          <a:ln w="12700">
            <a:solidFill>
              <a:srgbClr val="1098AD"/>
            </a:solidFill>
            <a:prstDash val="solid"/>
          </a:ln>
        </p:spPr>
      </p:sp>
      <p:sp>
        <p:nvSpPr>
          <p:cNvPr id="35" name="Text 32"/>
          <p:cNvSpPr txBox="1"/>
          <p:nvPr/>
        </p:nvSpPr>
        <p:spPr>
          <a:xfrm>
            <a:off x="6858000" y="4242816"/>
            <a:ext cx="2743200" cy="310896"/>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Felt</a:t>
            </a:r>
            <a:endParaRPr lang="en-US" sz="1400" dirty="0"/>
          </a:p>
        </p:txBody>
      </p:sp>
      <p:sp>
        <p:nvSpPr>
          <p:cNvPr id="36" name="Text 33"/>
          <p:cNvSpPr txBox="1"/>
          <p:nvPr/>
        </p:nvSpPr>
        <p:spPr>
          <a:xfrm>
            <a:off x="9646920" y="4242816"/>
            <a:ext cx="640080" cy="310896"/>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2 Oct</a:t>
            </a:r>
            <a:endParaRPr lang="en-US" sz="1200" dirty="0"/>
          </a:p>
        </p:txBody>
      </p:sp>
      <p:sp>
        <p:nvSpPr>
          <p:cNvPr id="37" name="Text 34"/>
          <p:cNvSpPr txBox="1"/>
          <p:nvPr/>
        </p:nvSpPr>
        <p:spPr>
          <a:xfrm>
            <a:off x="10241280" y="4242816"/>
            <a:ext cx="1463040" cy="310896"/>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79.3 dB</a:t>
            </a:r>
            <a:endParaRPr lang="en-US" sz="1400" dirty="0"/>
          </a:p>
        </p:txBody>
      </p:sp>
      <p:sp>
        <p:nvSpPr>
          <p:cNvPr id="38" name="Shape 35"/>
          <p:cNvSpPr/>
          <p:nvPr/>
        </p:nvSpPr>
        <p:spPr>
          <a:xfrm>
            <a:off x="6583680" y="4645152"/>
            <a:ext cx="182880" cy="182880"/>
          </a:xfrm>
          <a:prstGeom prst="ellipse">
            <a:avLst/>
          </a:prstGeom>
          <a:solidFill>
            <a:srgbClr val="E03131"/>
          </a:solidFill>
          <a:ln w="12700">
            <a:solidFill>
              <a:srgbClr val="E03131"/>
            </a:solidFill>
            <a:prstDash val="solid"/>
          </a:ln>
        </p:spPr>
      </p:sp>
      <p:sp>
        <p:nvSpPr>
          <p:cNvPr id="39" name="Text 36"/>
          <p:cNvSpPr txBox="1"/>
          <p:nvPr/>
        </p:nvSpPr>
        <p:spPr>
          <a:xfrm>
            <a:off x="6858000" y="4581144"/>
            <a:ext cx="2743200" cy="310896"/>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Thinsulate, 4 layers</a:t>
            </a:r>
            <a:endParaRPr lang="en-US" sz="1400" dirty="0"/>
          </a:p>
        </p:txBody>
      </p:sp>
      <p:sp>
        <p:nvSpPr>
          <p:cNvPr id="40" name="Text 37"/>
          <p:cNvSpPr txBox="1"/>
          <p:nvPr/>
        </p:nvSpPr>
        <p:spPr>
          <a:xfrm>
            <a:off x="9646920" y="4581144"/>
            <a:ext cx="640080" cy="310896"/>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7 Oct</a:t>
            </a:r>
            <a:endParaRPr lang="en-US" sz="1200" dirty="0"/>
          </a:p>
        </p:txBody>
      </p:sp>
      <p:sp>
        <p:nvSpPr>
          <p:cNvPr id="41" name="Text 38"/>
          <p:cNvSpPr txBox="1"/>
          <p:nvPr/>
        </p:nvSpPr>
        <p:spPr>
          <a:xfrm>
            <a:off x="10241280" y="4581144"/>
            <a:ext cx="1463040" cy="310896"/>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79.4 dB</a:t>
            </a:r>
            <a:endParaRPr lang="en-US" sz="1400" dirty="0"/>
          </a:p>
        </p:txBody>
      </p:sp>
      <p:sp>
        <p:nvSpPr>
          <p:cNvPr id="42" name="Shape 39"/>
          <p:cNvSpPr/>
          <p:nvPr/>
        </p:nvSpPr>
        <p:spPr>
          <a:xfrm>
            <a:off x="6583680" y="4983480"/>
            <a:ext cx="182880" cy="182880"/>
          </a:xfrm>
          <a:prstGeom prst="ellipse">
            <a:avLst/>
          </a:prstGeom>
          <a:solidFill>
            <a:srgbClr val="F08C00"/>
          </a:solidFill>
          <a:ln w="12700">
            <a:solidFill>
              <a:srgbClr val="F08C00"/>
            </a:solidFill>
            <a:prstDash val="solid"/>
          </a:ln>
        </p:spPr>
      </p:sp>
      <p:sp>
        <p:nvSpPr>
          <p:cNvPr id="43" name="Text 40"/>
          <p:cNvSpPr txBox="1"/>
          <p:nvPr/>
        </p:nvSpPr>
        <p:spPr>
          <a:xfrm>
            <a:off x="6858000" y="4919472"/>
            <a:ext cx="2743200" cy="310896"/>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Rubber</a:t>
            </a:r>
            <a:endParaRPr lang="en-US" sz="1400" dirty="0"/>
          </a:p>
        </p:txBody>
      </p:sp>
      <p:sp>
        <p:nvSpPr>
          <p:cNvPr id="44" name="Text 41"/>
          <p:cNvSpPr txBox="1"/>
          <p:nvPr/>
        </p:nvSpPr>
        <p:spPr>
          <a:xfrm>
            <a:off x="9646920" y="4919472"/>
            <a:ext cx="640080" cy="310896"/>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2 Oct</a:t>
            </a:r>
            <a:endParaRPr lang="en-US" sz="1200" dirty="0"/>
          </a:p>
        </p:txBody>
      </p:sp>
      <p:sp>
        <p:nvSpPr>
          <p:cNvPr id="45" name="Text 42"/>
          <p:cNvSpPr txBox="1"/>
          <p:nvPr/>
        </p:nvSpPr>
        <p:spPr>
          <a:xfrm>
            <a:off x="10241280" y="4919472"/>
            <a:ext cx="1463040" cy="310896"/>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80.3 dB</a:t>
            </a:r>
            <a:endParaRPr lang="en-US" sz="1400" dirty="0"/>
          </a:p>
        </p:txBody>
      </p:sp>
      <p:sp>
        <p:nvSpPr>
          <p:cNvPr id="46" name="Text 43"/>
          <p:cNvSpPr txBox="1"/>
          <p:nvPr/>
        </p:nvSpPr>
        <p:spPr>
          <a:xfrm>
            <a:off x="6583680" y="5349240"/>
            <a:ext cx="5120640" cy="640080"/>
          </a:xfrm>
          <a:prstGeom prst="rect">
            <a:avLst/>
          </a:prstGeom>
          <a:noFill/>
          <a:ln/>
        </p:spPr>
        <p:txBody>
          <a:bodyPr wrap="square" lIns="0" tIns="0" rIns="0" bIns="0" rtlCol="0" anchor="ctr"/>
          <a:lstStyle/>
          <a:p>
            <a:pPr indent="0" marL="0">
              <a:buNone/>
            </a:pPr>
            <a:r>
              <a:rPr lang="en-US" sz="3600" b="1" dirty="0">
                <a:solidFill>
                  <a:srgbClr val="D6336C"/>
                </a:solidFill>
                <a:latin typeface="Cambria" pitchFamily="34" charset="0"/>
                <a:ea typeface="Cambria" pitchFamily="34" charset="-122"/>
                <a:cs typeface="Cambria" pitchFamily="34" charset="-120"/>
              </a:rPr>
              <a:t>+3.4 to +6.2 dB</a:t>
            </a:r>
            <a:endParaRPr lang="en-US" sz="3600" dirty="0"/>
          </a:p>
        </p:txBody>
      </p:sp>
      <p:sp>
        <p:nvSpPr>
          <p:cNvPr id="47" name="Text 44"/>
          <p:cNvSpPr txBox="1"/>
          <p:nvPr/>
        </p:nvSpPr>
        <p:spPr>
          <a:xfrm>
            <a:off x="6583680" y="5943600"/>
            <a:ext cx="5120640" cy="274320"/>
          </a:xfrm>
          <a:prstGeom prst="rect">
            <a:avLst/>
          </a:prstGeom>
          <a:noFill/>
          <a:ln/>
        </p:spPr>
        <p:txBody>
          <a:bodyPr wrap="square" lIns="0" tIns="0" rIns="0" bIns="0" rtlCol="0" anchor="ctr"/>
          <a:lstStyle/>
          <a:p>
            <a:pPr indent="0" marL="0">
              <a:buNone/>
            </a:pPr>
            <a:r>
              <a:rPr lang="en-US" sz="1300" dirty="0">
                <a:solidFill>
                  <a:srgbClr val="1F2A44"/>
                </a:solidFill>
                <a:latin typeface="Calibri" pitchFamily="34" charset="0"/>
                <a:ea typeface="Calibri" pitchFamily="34" charset="-122"/>
                <a:cs typeface="Calibri" pitchFamily="34" charset="-120"/>
              </a:rPr>
              <a:t>louder than bare, on average (bare measured 2 Oct)</a:t>
            </a:r>
            <a:endParaRPr lang="en-US" sz="1300" dirty="0"/>
          </a:p>
        </p:txBody>
      </p:sp>
      <p:sp>
        <p:nvSpPr>
          <p:cNvPr id="48" name="Text 45"/>
          <p:cNvSpPr txBox="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2 and 7 Oct 2026, 5-inch 3-blade propeller, total level 500 Hz–24 kHz, motor at 2000 µs, corrected microphone files. Radial axis 68–89 dB.</a:t>
            </a:r>
            <a:endParaRPr lang="en-US" sz="1100" dirty="0"/>
          </a:p>
        </p:txBody>
      </p:sp>
      <p:sp>
        <p:nvSpPr>
          <p:cNvPr id="49" name="Text 4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olar plot of ten membrane set-ups at 2000 microseconds, total level 500 Hz to 24 kHz">    </p:cNvPr>
          <p:cNvPicPr>
            <a:picLocks noChangeAspect="1"/>
          </p:cNvPicPr>
          <p:nvPr/>
        </p:nvPicPr>
        <p:blipFill>
          <a:blip r:embed="rId1"/>
          <a:stretch>
            <a:fillRect/>
          </a:stretch>
        </p:blipFill>
        <p:spPr>
          <a:xfrm>
            <a:off x="411480" y="411480"/>
            <a:ext cx="5824728" cy="5806440"/>
          </a:xfrm>
          <a:prstGeom prst="rect">
            <a:avLst/>
          </a:prstGeom>
        </p:spPr>
      </p:pic>
      <p:sp>
        <p:nvSpPr>
          <p:cNvPr id="3" name="Text 0"/>
          <p:cNvSpPr txBox="1"/>
          <p:nvPr/>
        </p:nvSpPr>
        <p:spPr>
          <a:xfrm>
            <a:off x="6583680" y="365760"/>
            <a:ext cx="512064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THE MEMBRANES</a:t>
            </a:r>
            <a:endParaRPr lang="en-US" sz="1400" dirty="0"/>
          </a:p>
        </p:txBody>
      </p:sp>
      <p:sp>
        <p:nvSpPr>
          <p:cNvPr id="4" name="Text 1"/>
          <p:cNvSpPr txBox="1"/>
          <p:nvPr/>
        </p:nvSpPr>
        <p:spPr>
          <a:xfrm>
            <a:off x="6583680" y="658368"/>
            <a:ext cx="5120640" cy="82296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Membranes at 2000 µs</a:t>
            </a:r>
            <a:endParaRPr lang="en-US" sz="3000" dirty="0"/>
          </a:p>
        </p:txBody>
      </p:sp>
      <p:sp>
        <p:nvSpPr>
          <p:cNvPr id="5" name="Text 2"/>
          <p:cNvSpPr txBox="1"/>
          <p:nvPr/>
        </p:nvSpPr>
        <p:spPr>
          <a:xfrm>
            <a:off x="6583680" y="1508760"/>
            <a:ext cx="512064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Mean level. Round markers: 8 Oct. Square: 9 Oct.</a:t>
            </a:r>
            <a:endParaRPr lang="en-US" sz="1200" dirty="0"/>
          </a:p>
        </p:txBody>
      </p:sp>
      <p:sp>
        <p:nvSpPr>
          <p:cNvPr id="6" name="Shape 3"/>
          <p:cNvSpPr/>
          <p:nvPr/>
        </p:nvSpPr>
        <p:spPr>
          <a:xfrm>
            <a:off x="6583680" y="1837944"/>
            <a:ext cx="164592" cy="164592"/>
          </a:xfrm>
          <a:prstGeom prst="ellipse">
            <a:avLst/>
          </a:prstGeom>
          <a:solidFill>
            <a:srgbClr val="000000"/>
          </a:solidFill>
          <a:ln w="12700">
            <a:solidFill>
              <a:srgbClr val="000000"/>
            </a:solidFill>
            <a:prstDash val="solid"/>
          </a:ln>
        </p:spPr>
      </p:sp>
      <p:sp>
        <p:nvSpPr>
          <p:cNvPr id="7" name="Text 4"/>
          <p:cNvSpPr txBox="1"/>
          <p:nvPr/>
        </p:nvSpPr>
        <p:spPr>
          <a:xfrm>
            <a:off x="6858000" y="1783080"/>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Bare prop</a:t>
            </a:r>
            <a:endParaRPr lang="en-US" sz="1400" dirty="0"/>
          </a:p>
        </p:txBody>
      </p:sp>
      <p:sp>
        <p:nvSpPr>
          <p:cNvPr id="8" name="Text 5"/>
          <p:cNvSpPr txBox="1"/>
          <p:nvPr/>
        </p:nvSpPr>
        <p:spPr>
          <a:xfrm>
            <a:off x="9692640" y="1783080"/>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9 Oct</a:t>
            </a:r>
            <a:endParaRPr lang="en-US" sz="1200" dirty="0"/>
          </a:p>
        </p:txBody>
      </p:sp>
      <p:sp>
        <p:nvSpPr>
          <p:cNvPr id="9" name="Text 6"/>
          <p:cNvSpPr txBox="1"/>
          <p:nvPr/>
        </p:nvSpPr>
        <p:spPr>
          <a:xfrm>
            <a:off x="10241280" y="1783080"/>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75.1 dB</a:t>
            </a:r>
            <a:endParaRPr lang="en-US" sz="1400" dirty="0"/>
          </a:p>
        </p:txBody>
      </p:sp>
      <p:sp>
        <p:nvSpPr>
          <p:cNvPr id="10" name="Shape 7"/>
          <p:cNvSpPr/>
          <p:nvPr/>
        </p:nvSpPr>
        <p:spPr>
          <a:xfrm>
            <a:off x="6583680" y="2125980"/>
            <a:ext cx="164592" cy="164592"/>
          </a:xfrm>
          <a:prstGeom prst="ellipse">
            <a:avLst/>
          </a:prstGeom>
          <a:solidFill>
            <a:srgbClr val="E03131"/>
          </a:solidFill>
          <a:ln w="12700">
            <a:solidFill>
              <a:srgbClr val="E03131"/>
            </a:solidFill>
            <a:prstDash val="solid"/>
          </a:ln>
        </p:spPr>
      </p:sp>
      <p:sp>
        <p:nvSpPr>
          <p:cNvPr id="11" name="Text 8"/>
          <p:cNvSpPr txBox="1"/>
          <p:nvPr/>
        </p:nvSpPr>
        <p:spPr>
          <a:xfrm>
            <a:off x="6858000" y="2071116"/>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Thinsulate, 4 layers</a:t>
            </a:r>
            <a:endParaRPr lang="en-US" sz="1400" dirty="0"/>
          </a:p>
        </p:txBody>
      </p:sp>
      <p:sp>
        <p:nvSpPr>
          <p:cNvPr id="12" name="Text 9"/>
          <p:cNvSpPr txBox="1"/>
          <p:nvPr/>
        </p:nvSpPr>
        <p:spPr>
          <a:xfrm>
            <a:off x="9692640" y="2071116"/>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9 Oct</a:t>
            </a:r>
            <a:endParaRPr lang="en-US" sz="1200" dirty="0"/>
          </a:p>
        </p:txBody>
      </p:sp>
      <p:sp>
        <p:nvSpPr>
          <p:cNvPr id="13" name="Text 10"/>
          <p:cNvSpPr txBox="1"/>
          <p:nvPr/>
        </p:nvSpPr>
        <p:spPr>
          <a:xfrm>
            <a:off x="10241280" y="2071116"/>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82.8 dB</a:t>
            </a:r>
            <a:endParaRPr lang="en-US" sz="1400" dirty="0"/>
          </a:p>
        </p:txBody>
      </p:sp>
      <p:sp>
        <p:nvSpPr>
          <p:cNvPr id="14" name="Shape 11"/>
          <p:cNvSpPr/>
          <p:nvPr/>
        </p:nvSpPr>
        <p:spPr>
          <a:xfrm>
            <a:off x="6583680" y="2414016"/>
            <a:ext cx="164592" cy="164592"/>
          </a:xfrm>
          <a:prstGeom prst="ellipse">
            <a:avLst/>
          </a:prstGeom>
          <a:solidFill>
            <a:srgbClr val="F08C00"/>
          </a:solidFill>
          <a:ln w="12700">
            <a:solidFill>
              <a:srgbClr val="F08C00"/>
            </a:solidFill>
            <a:prstDash val="solid"/>
          </a:ln>
        </p:spPr>
      </p:sp>
      <p:sp>
        <p:nvSpPr>
          <p:cNvPr id="15" name="Text 12"/>
          <p:cNvSpPr txBox="1"/>
          <p:nvPr/>
        </p:nvSpPr>
        <p:spPr>
          <a:xfrm>
            <a:off x="6858000" y="2359152"/>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Thinsulate, 2 layers</a:t>
            </a:r>
            <a:endParaRPr lang="en-US" sz="1400" dirty="0"/>
          </a:p>
        </p:txBody>
      </p:sp>
      <p:sp>
        <p:nvSpPr>
          <p:cNvPr id="16" name="Text 13"/>
          <p:cNvSpPr txBox="1"/>
          <p:nvPr/>
        </p:nvSpPr>
        <p:spPr>
          <a:xfrm>
            <a:off x="9692640" y="2359152"/>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9 Oct</a:t>
            </a:r>
            <a:endParaRPr lang="en-US" sz="1200" dirty="0"/>
          </a:p>
        </p:txBody>
      </p:sp>
      <p:sp>
        <p:nvSpPr>
          <p:cNvPr id="17" name="Text 14"/>
          <p:cNvSpPr txBox="1"/>
          <p:nvPr/>
        </p:nvSpPr>
        <p:spPr>
          <a:xfrm>
            <a:off x="10241280" y="2359152"/>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84.0 dB</a:t>
            </a:r>
            <a:endParaRPr lang="en-US" sz="1400" dirty="0"/>
          </a:p>
        </p:txBody>
      </p:sp>
      <p:sp>
        <p:nvSpPr>
          <p:cNvPr id="18" name="Shape 15"/>
          <p:cNvSpPr/>
          <p:nvPr/>
        </p:nvSpPr>
        <p:spPr>
          <a:xfrm>
            <a:off x="6583680" y="2702052"/>
            <a:ext cx="164592" cy="164592"/>
          </a:xfrm>
          <a:prstGeom prst="ellipse">
            <a:avLst/>
          </a:prstGeom>
          <a:solidFill>
            <a:srgbClr val="C2255C"/>
          </a:solidFill>
          <a:ln w="12700">
            <a:solidFill>
              <a:srgbClr val="C2255C"/>
            </a:solidFill>
            <a:prstDash val="solid"/>
          </a:ln>
        </p:spPr>
      </p:sp>
      <p:sp>
        <p:nvSpPr>
          <p:cNvPr id="19" name="Text 16"/>
          <p:cNvSpPr txBox="1"/>
          <p:nvPr/>
        </p:nvSpPr>
        <p:spPr>
          <a:xfrm>
            <a:off x="6858000" y="2647188"/>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Thinsulate, 8 layers</a:t>
            </a:r>
            <a:endParaRPr lang="en-US" sz="1400" dirty="0"/>
          </a:p>
        </p:txBody>
      </p:sp>
      <p:sp>
        <p:nvSpPr>
          <p:cNvPr id="20" name="Text 17"/>
          <p:cNvSpPr txBox="1"/>
          <p:nvPr/>
        </p:nvSpPr>
        <p:spPr>
          <a:xfrm>
            <a:off x="9692640" y="2647188"/>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9 Oct</a:t>
            </a:r>
            <a:endParaRPr lang="en-US" sz="1200" dirty="0"/>
          </a:p>
        </p:txBody>
      </p:sp>
      <p:sp>
        <p:nvSpPr>
          <p:cNvPr id="21" name="Text 18"/>
          <p:cNvSpPr txBox="1"/>
          <p:nvPr/>
        </p:nvSpPr>
        <p:spPr>
          <a:xfrm>
            <a:off x="10241280" y="2647188"/>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85.0 dB</a:t>
            </a:r>
            <a:endParaRPr lang="en-US" sz="1400" dirty="0"/>
          </a:p>
        </p:txBody>
      </p:sp>
      <p:sp>
        <p:nvSpPr>
          <p:cNvPr id="22" name="Shape 19"/>
          <p:cNvSpPr/>
          <p:nvPr/>
        </p:nvSpPr>
        <p:spPr>
          <a:xfrm>
            <a:off x="6583680" y="2990088"/>
            <a:ext cx="164592" cy="164592"/>
          </a:xfrm>
          <a:prstGeom prst="ellipse">
            <a:avLst/>
          </a:prstGeom>
          <a:solidFill>
            <a:srgbClr val="7048E8"/>
          </a:solidFill>
          <a:ln w="12700">
            <a:solidFill>
              <a:srgbClr val="7048E8"/>
            </a:solidFill>
            <a:prstDash val="solid"/>
          </a:ln>
        </p:spPr>
      </p:sp>
      <p:sp>
        <p:nvSpPr>
          <p:cNvPr id="23" name="Text 20"/>
          <p:cNvSpPr txBox="1"/>
          <p:nvPr/>
        </p:nvSpPr>
        <p:spPr>
          <a:xfrm>
            <a:off x="6858000" y="2935224"/>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Felt + rubber</a:t>
            </a:r>
            <a:endParaRPr lang="en-US" sz="1400" dirty="0"/>
          </a:p>
        </p:txBody>
      </p:sp>
      <p:sp>
        <p:nvSpPr>
          <p:cNvPr id="24" name="Text 21"/>
          <p:cNvSpPr txBox="1"/>
          <p:nvPr/>
        </p:nvSpPr>
        <p:spPr>
          <a:xfrm>
            <a:off x="9692640" y="2935224"/>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9 Oct</a:t>
            </a:r>
            <a:endParaRPr lang="en-US" sz="1200" dirty="0"/>
          </a:p>
        </p:txBody>
      </p:sp>
      <p:sp>
        <p:nvSpPr>
          <p:cNvPr id="25" name="Text 22"/>
          <p:cNvSpPr txBox="1"/>
          <p:nvPr/>
        </p:nvSpPr>
        <p:spPr>
          <a:xfrm>
            <a:off x="10241280" y="2935224"/>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86.0 dB</a:t>
            </a:r>
            <a:endParaRPr lang="en-US" sz="1400" dirty="0"/>
          </a:p>
        </p:txBody>
      </p:sp>
      <p:sp>
        <p:nvSpPr>
          <p:cNvPr id="26" name="Shape 23"/>
          <p:cNvSpPr/>
          <p:nvPr/>
        </p:nvSpPr>
        <p:spPr>
          <a:xfrm>
            <a:off x="6583680" y="3278124"/>
            <a:ext cx="164592" cy="164592"/>
          </a:xfrm>
          <a:prstGeom prst="ellipse">
            <a:avLst/>
          </a:prstGeom>
          <a:solidFill>
            <a:srgbClr val="1098AD"/>
          </a:solidFill>
          <a:ln w="12700">
            <a:solidFill>
              <a:srgbClr val="1098AD"/>
            </a:solidFill>
            <a:prstDash val="solid"/>
          </a:ln>
        </p:spPr>
      </p:sp>
      <p:sp>
        <p:nvSpPr>
          <p:cNvPr id="27" name="Text 24"/>
          <p:cNvSpPr txBox="1"/>
          <p:nvPr/>
        </p:nvSpPr>
        <p:spPr>
          <a:xfrm>
            <a:off x="6858000" y="3223260"/>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Felt</a:t>
            </a:r>
            <a:endParaRPr lang="en-US" sz="1400" dirty="0"/>
          </a:p>
        </p:txBody>
      </p:sp>
      <p:sp>
        <p:nvSpPr>
          <p:cNvPr id="28" name="Text 25"/>
          <p:cNvSpPr txBox="1"/>
          <p:nvPr/>
        </p:nvSpPr>
        <p:spPr>
          <a:xfrm>
            <a:off x="9692640" y="3223260"/>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9 Oct</a:t>
            </a:r>
            <a:endParaRPr lang="en-US" sz="1200" dirty="0"/>
          </a:p>
        </p:txBody>
      </p:sp>
      <p:sp>
        <p:nvSpPr>
          <p:cNvPr id="29" name="Text 26"/>
          <p:cNvSpPr txBox="1"/>
          <p:nvPr/>
        </p:nvSpPr>
        <p:spPr>
          <a:xfrm>
            <a:off x="10241280" y="3223260"/>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86.3 dB</a:t>
            </a:r>
            <a:endParaRPr lang="en-US" sz="1400" dirty="0"/>
          </a:p>
        </p:txBody>
      </p:sp>
      <p:sp>
        <p:nvSpPr>
          <p:cNvPr id="30" name="Shape 27"/>
          <p:cNvSpPr/>
          <p:nvPr/>
        </p:nvSpPr>
        <p:spPr>
          <a:xfrm>
            <a:off x="6583680" y="3566160"/>
            <a:ext cx="164592" cy="164592"/>
          </a:xfrm>
          <a:prstGeom prst="ellipse">
            <a:avLst/>
          </a:prstGeom>
          <a:solidFill>
            <a:srgbClr val="1864AB"/>
          </a:solidFill>
          <a:ln w="12700">
            <a:solidFill>
              <a:srgbClr val="1864AB"/>
            </a:solidFill>
            <a:prstDash val="solid"/>
          </a:ln>
        </p:spPr>
      </p:sp>
      <p:sp>
        <p:nvSpPr>
          <p:cNvPr id="31" name="Text 28"/>
          <p:cNvSpPr txBox="1"/>
          <p:nvPr/>
        </p:nvSpPr>
        <p:spPr>
          <a:xfrm>
            <a:off x="6858000" y="3511296"/>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Felt, double layer</a:t>
            </a:r>
            <a:endParaRPr lang="en-US" sz="1400" dirty="0"/>
          </a:p>
        </p:txBody>
      </p:sp>
      <p:sp>
        <p:nvSpPr>
          <p:cNvPr id="32" name="Text 29"/>
          <p:cNvSpPr txBox="1"/>
          <p:nvPr/>
        </p:nvSpPr>
        <p:spPr>
          <a:xfrm>
            <a:off x="9692640" y="3511296"/>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9 Oct</a:t>
            </a:r>
            <a:endParaRPr lang="en-US" sz="1200" dirty="0"/>
          </a:p>
        </p:txBody>
      </p:sp>
      <p:sp>
        <p:nvSpPr>
          <p:cNvPr id="33" name="Text 30"/>
          <p:cNvSpPr txBox="1"/>
          <p:nvPr/>
        </p:nvSpPr>
        <p:spPr>
          <a:xfrm>
            <a:off x="10241280" y="3511296"/>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86.4 dB</a:t>
            </a:r>
            <a:endParaRPr lang="en-US" sz="1400" dirty="0"/>
          </a:p>
        </p:txBody>
      </p:sp>
      <p:sp>
        <p:nvSpPr>
          <p:cNvPr id="34" name="Shape 31"/>
          <p:cNvSpPr/>
          <p:nvPr/>
        </p:nvSpPr>
        <p:spPr>
          <a:xfrm>
            <a:off x="6583680" y="3854196"/>
            <a:ext cx="164592" cy="164592"/>
          </a:xfrm>
          <a:prstGeom prst="ellipse">
            <a:avLst/>
          </a:prstGeom>
          <a:solidFill>
            <a:srgbClr val="5C940D"/>
          </a:solidFill>
          <a:ln w="12700">
            <a:solidFill>
              <a:srgbClr val="5C940D"/>
            </a:solidFill>
            <a:prstDash val="solid"/>
          </a:ln>
        </p:spPr>
      </p:sp>
      <p:sp>
        <p:nvSpPr>
          <p:cNvPr id="35" name="Text 32"/>
          <p:cNvSpPr txBox="1"/>
          <p:nvPr/>
        </p:nvSpPr>
        <p:spPr>
          <a:xfrm>
            <a:off x="6858000" y="3799332"/>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Duct + PU foam, double</a:t>
            </a:r>
            <a:endParaRPr lang="en-US" sz="1400" dirty="0"/>
          </a:p>
        </p:txBody>
      </p:sp>
      <p:sp>
        <p:nvSpPr>
          <p:cNvPr id="36" name="Text 33"/>
          <p:cNvSpPr txBox="1"/>
          <p:nvPr/>
        </p:nvSpPr>
        <p:spPr>
          <a:xfrm>
            <a:off x="9692640" y="3799332"/>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9 Oct</a:t>
            </a:r>
            <a:endParaRPr lang="en-US" sz="1200" dirty="0"/>
          </a:p>
        </p:txBody>
      </p:sp>
      <p:sp>
        <p:nvSpPr>
          <p:cNvPr id="37" name="Text 34"/>
          <p:cNvSpPr txBox="1"/>
          <p:nvPr/>
        </p:nvSpPr>
        <p:spPr>
          <a:xfrm>
            <a:off x="10241280" y="3799332"/>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87.5 dB</a:t>
            </a:r>
            <a:endParaRPr lang="en-US" sz="1400" dirty="0"/>
          </a:p>
        </p:txBody>
      </p:sp>
      <p:sp>
        <p:nvSpPr>
          <p:cNvPr id="38" name="Shape 35"/>
          <p:cNvSpPr/>
          <p:nvPr/>
        </p:nvSpPr>
        <p:spPr>
          <a:xfrm>
            <a:off x="6583680" y="4142232"/>
            <a:ext cx="164592" cy="164592"/>
          </a:xfrm>
          <a:prstGeom prst="ellipse">
            <a:avLst/>
          </a:prstGeom>
          <a:solidFill>
            <a:srgbClr val="862E9C"/>
          </a:solidFill>
          <a:ln w="12700">
            <a:solidFill>
              <a:srgbClr val="862E9C"/>
            </a:solidFill>
            <a:prstDash val="solid"/>
          </a:ln>
        </p:spPr>
      </p:sp>
      <p:sp>
        <p:nvSpPr>
          <p:cNvPr id="39" name="Text 36"/>
          <p:cNvSpPr txBox="1"/>
          <p:nvPr/>
        </p:nvSpPr>
        <p:spPr>
          <a:xfrm>
            <a:off x="6858000" y="4087368"/>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PU foam</a:t>
            </a:r>
            <a:endParaRPr lang="en-US" sz="1400" dirty="0"/>
          </a:p>
        </p:txBody>
      </p:sp>
      <p:sp>
        <p:nvSpPr>
          <p:cNvPr id="40" name="Text 37"/>
          <p:cNvSpPr txBox="1"/>
          <p:nvPr/>
        </p:nvSpPr>
        <p:spPr>
          <a:xfrm>
            <a:off x="9692640" y="4087368"/>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8 Oct</a:t>
            </a:r>
            <a:endParaRPr lang="en-US" sz="1200" dirty="0"/>
          </a:p>
        </p:txBody>
      </p:sp>
      <p:sp>
        <p:nvSpPr>
          <p:cNvPr id="41" name="Text 38"/>
          <p:cNvSpPr txBox="1"/>
          <p:nvPr/>
        </p:nvSpPr>
        <p:spPr>
          <a:xfrm>
            <a:off x="10241280" y="4087368"/>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87.9 dB</a:t>
            </a:r>
            <a:endParaRPr lang="en-US" sz="1400" dirty="0"/>
          </a:p>
        </p:txBody>
      </p:sp>
      <p:sp>
        <p:nvSpPr>
          <p:cNvPr id="42" name="Shape 39"/>
          <p:cNvSpPr/>
          <p:nvPr/>
        </p:nvSpPr>
        <p:spPr>
          <a:xfrm>
            <a:off x="6583680" y="4430268"/>
            <a:ext cx="164592" cy="164592"/>
          </a:xfrm>
          <a:prstGeom prst="ellipse">
            <a:avLst/>
          </a:prstGeom>
          <a:solidFill>
            <a:srgbClr val="2F9E44"/>
          </a:solidFill>
          <a:ln w="12700">
            <a:solidFill>
              <a:srgbClr val="2F9E44"/>
            </a:solidFill>
            <a:prstDash val="solid"/>
          </a:ln>
        </p:spPr>
      </p:sp>
      <p:sp>
        <p:nvSpPr>
          <p:cNvPr id="43" name="Text 40"/>
          <p:cNvSpPr txBox="1"/>
          <p:nvPr/>
        </p:nvSpPr>
        <p:spPr>
          <a:xfrm>
            <a:off x="6858000" y="4375404"/>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Cork</a:t>
            </a:r>
            <a:endParaRPr lang="en-US" sz="1400" dirty="0"/>
          </a:p>
        </p:txBody>
      </p:sp>
      <p:sp>
        <p:nvSpPr>
          <p:cNvPr id="44" name="Text 41"/>
          <p:cNvSpPr txBox="1"/>
          <p:nvPr/>
        </p:nvSpPr>
        <p:spPr>
          <a:xfrm>
            <a:off x="9692640" y="4375404"/>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9 Oct</a:t>
            </a:r>
            <a:endParaRPr lang="en-US" sz="1200" dirty="0"/>
          </a:p>
        </p:txBody>
      </p:sp>
      <p:sp>
        <p:nvSpPr>
          <p:cNvPr id="45" name="Text 42"/>
          <p:cNvSpPr txBox="1"/>
          <p:nvPr/>
        </p:nvSpPr>
        <p:spPr>
          <a:xfrm>
            <a:off x="10241280" y="4375404"/>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88.5 dB</a:t>
            </a:r>
            <a:endParaRPr lang="en-US" sz="1400" dirty="0"/>
          </a:p>
        </p:txBody>
      </p:sp>
      <p:sp>
        <p:nvSpPr>
          <p:cNvPr id="46" name="Shape 43"/>
          <p:cNvSpPr/>
          <p:nvPr/>
        </p:nvSpPr>
        <p:spPr>
          <a:xfrm>
            <a:off x="6583680" y="4718304"/>
            <a:ext cx="164592" cy="164592"/>
          </a:xfrm>
          <a:prstGeom prst="ellipse">
            <a:avLst/>
          </a:prstGeom>
          <a:solidFill>
            <a:srgbClr val="868E96"/>
          </a:solidFill>
          <a:ln w="12700">
            <a:solidFill>
              <a:srgbClr val="868E96"/>
            </a:solidFill>
            <a:prstDash val="solid"/>
          </a:ln>
        </p:spPr>
      </p:sp>
      <p:sp>
        <p:nvSpPr>
          <p:cNvPr id="47" name="Text 44"/>
          <p:cNvSpPr txBox="1"/>
          <p:nvPr/>
        </p:nvSpPr>
        <p:spPr>
          <a:xfrm>
            <a:off x="6858000" y="4663440"/>
            <a:ext cx="283464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Duct, membrane only</a:t>
            </a:r>
            <a:endParaRPr lang="en-US" sz="1400" dirty="0"/>
          </a:p>
        </p:txBody>
      </p:sp>
      <p:sp>
        <p:nvSpPr>
          <p:cNvPr id="48" name="Text 45"/>
          <p:cNvSpPr txBox="1"/>
          <p:nvPr/>
        </p:nvSpPr>
        <p:spPr>
          <a:xfrm>
            <a:off x="9692640" y="4663440"/>
            <a:ext cx="6400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8 Oct</a:t>
            </a:r>
            <a:endParaRPr lang="en-US" sz="1200" dirty="0"/>
          </a:p>
        </p:txBody>
      </p:sp>
      <p:sp>
        <p:nvSpPr>
          <p:cNvPr id="49" name="Text 46"/>
          <p:cNvSpPr txBox="1"/>
          <p:nvPr/>
        </p:nvSpPr>
        <p:spPr>
          <a:xfrm>
            <a:off x="10241280" y="4663440"/>
            <a:ext cx="1463040" cy="274320"/>
          </a:xfrm>
          <a:prstGeom prst="rect">
            <a:avLst/>
          </a:prstGeom>
          <a:noFill/>
          <a:ln/>
        </p:spPr>
        <p:txBody>
          <a:bodyPr wrap="square" lIns="0" tIns="0" rIns="0" bIns="0" rtlCol="0" anchor="ctr"/>
          <a:lstStyle/>
          <a:p>
            <a:pPr algn="r" indent="0" marL="0">
              <a:buNone/>
            </a:pPr>
            <a:r>
              <a:rPr lang="en-US" sz="1400" dirty="0">
                <a:solidFill>
                  <a:srgbClr val="1F2A44"/>
                </a:solidFill>
                <a:latin typeface="Calibri" pitchFamily="34" charset="0"/>
                <a:ea typeface="Calibri" pitchFamily="34" charset="-122"/>
                <a:cs typeface="Calibri" pitchFamily="34" charset="-120"/>
              </a:rPr>
              <a:t>89.5 dB</a:t>
            </a:r>
            <a:endParaRPr lang="en-US" sz="1400" dirty="0"/>
          </a:p>
        </p:txBody>
      </p:sp>
      <p:sp>
        <p:nvSpPr>
          <p:cNvPr id="50" name="Text 47"/>
          <p:cNvSpPr txBox="1"/>
          <p:nvPr/>
        </p:nvSpPr>
        <p:spPr>
          <a:xfrm>
            <a:off x="6583680" y="4965192"/>
            <a:ext cx="5120640" cy="457200"/>
          </a:xfrm>
          <a:prstGeom prst="rect">
            <a:avLst/>
          </a:prstGeom>
          <a:noFill/>
          <a:ln/>
        </p:spPr>
        <p:txBody>
          <a:bodyPr wrap="square" lIns="0" tIns="0" rIns="0" bIns="0" rtlCol="0" anchor="ctr"/>
          <a:lstStyle/>
          <a:p>
            <a:pPr indent="0" marL="0">
              <a:buNone/>
            </a:pPr>
            <a:r>
              <a:rPr lang="en-US" sz="2800" b="1" dirty="0">
                <a:solidFill>
                  <a:srgbClr val="D6336C"/>
                </a:solidFill>
                <a:latin typeface="Cambria" pitchFamily="34" charset="0"/>
                <a:ea typeface="Cambria" pitchFamily="34" charset="-122"/>
                <a:cs typeface="Cambria" pitchFamily="34" charset="-120"/>
              </a:rPr>
              <a:t>up to 10.2 dB</a:t>
            </a:r>
            <a:endParaRPr lang="en-US" sz="2800" dirty="0"/>
          </a:p>
        </p:txBody>
      </p:sp>
      <p:sp>
        <p:nvSpPr>
          <p:cNvPr id="51" name="Text 48"/>
          <p:cNvSpPr txBox="1"/>
          <p:nvPr/>
        </p:nvSpPr>
        <p:spPr>
          <a:xfrm>
            <a:off x="6583680" y="5422392"/>
            <a:ext cx="5120640" cy="365760"/>
          </a:xfrm>
          <a:prstGeom prst="rect">
            <a:avLst/>
          </a:prstGeom>
          <a:noFill/>
          <a:ln/>
        </p:spPr>
        <p:txBody>
          <a:bodyPr wrap="square" lIns="0" tIns="0" rIns="0" bIns="0" rtlCol="0" anchor="t"/>
          <a:lstStyle/>
          <a:p>
            <a:pPr indent="0" marL="0">
              <a:buNone/>
            </a:pPr>
            <a:r>
              <a:rPr lang="en-US" sz="1100" dirty="0">
                <a:solidFill>
                  <a:srgbClr val="1F2A44"/>
                </a:solidFill>
                <a:latin typeface="Calibri" pitchFamily="34" charset="0"/>
                <a:ea typeface="Calibri" pitchFamily="34" charset="-122"/>
                <a:cs typeface="Calibri" pitchFamily="34" charset="-120"/>
              </a:rPr>
              <a:t>best against worst membrane set-up (Thinsulate, 4 layers and Duct, membrane only), at +18°; 6.7 dB on average</a:t>
            </a:r>
            <a:endParaRPr lang="en-US" sz="1100" dirty="0"/>
          </a:p>
        </p:txBody>
      </p:sp>
      <p:sp>
        <p:nvSpPr>
          <p:cNvPr id="52" name="Text 49"/>
          <p:cNvSpPr txBox="1"/>
          <p:nvPr/>
        </p:nvSpPr>
        <p:spPr>
          <a:xfrm>
            <a:off x="6583680" y="5824728"/>
            <a:ext cx="5120640" cy="45720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Thrust at 2000 µs: </a:t>
            </a:r>
            <a:r>
              <a:rPr lang="en-US" sz="1200" dirty="0">
                <a:solidFill>
                  <a:srgbClr val="1F2A44"/>
                </a:solidFill>
                <a:latin typeface="Calibri" pitchFamily="34" charset="0"/>
                <a:ea typeface="Calibri" pitchFamily="34" charset="-122"/>
                <a:cs typeface="Calibri" pitchFamily="34" charset="-120"/>
              </a:rPr>
              <a:t>bare prop 3.75 N. The quietest other set-up, Thinsulate 4 layers, only 0.39 N.</a:t>
            </a:r>
            <a:endParaRPr lang="en-US" sz="1200" dirty="0"/>
          </a:p>
        </p:txBody>
      </p:sp>
      <p:sp>
        <p:nvSpPr>
          <p:cNvPr id="53" name="Text 50"/>
          <p:cNvSpPr txBox="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8 and 9 Oct 2026, 5-inch 3-blade propeller, 500 Hz–24 kHz, 2000 µs, mean of 3 repeats, corrected files. Axis 69–94 dB. Not comparable with slide 8.</a:t>
            </a:r>
            <a:endParaRPr lang="en-US" sz="1100" dirty="0"/>
          </a:p>
        </p:txBody>
      </p:sp>
      <p:sp>
        <p:nvSpPr>
          <p:cNvPr id="54" name="Text 51"/>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Chamber measurements</dc:title>
  <dc:subject>PptxGenJS Presentation</dc:subject>
  <dc:creator>PptxGenJS</dc:creator>
  <cp:lastModifiedBy>PptxGenJS</cp:lastModifiedBy>
  <cp:revision>1</cp:revision>
  <dcterms:created xsi:type="dcterms:W3CDTF">2026-10-09T16:14:32Z</dcterms:created>
  <dcterms:modified xsi:type="dcterms:W3CDTF">2026-10-09T16:14:32Z</dcterms:modified>
</cp:coreProperties>
</file>