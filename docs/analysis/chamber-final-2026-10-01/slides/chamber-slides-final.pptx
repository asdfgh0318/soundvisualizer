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is from the project notes: a same-session check, since the corrections come from this session, and the absolute level is not anchored (that needs a 94 dB calibrator). Seven capsules have a mean offset beyond 0.6 dB over frequency, between 0.76 and 2.59 dB; the worst single frequency is 3.48 dB (811-1892), from CORRECTIONS-2026-09-16.csv.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but this cannot be attributed to the supply voltage (the blue run had the higher voltage): the two runs used different propellers, and the thrust direction was reversed, so the levels are not comparable.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in the data repo. 2 Oct 2026: 2004__5in3b__unset__v1-naked-horizontal (bare), ...cork__v1-cork-horizontal, ...rubber__v1-rubber, ...felt__v1-felt, ...felt-rubber__v1-felt-rubber. 7 Oct 2026 (axii__5in3b__...): inner-felt-outer-open-pore-pu-foam, open-pore-pu-foam, open-pore-pu-foam-double-layer, thinsulate-4-layers, thinsulate-8-layers. Each capture is the PWM 2000 step; level per microphone is the total level 500 Hz to 24 kHz in dB SPL (was 100 Hz to 10 kHz on the earlier version of this slide), read with the corrected microphone files (all after 16 Sep). The polar is mirrored to 360 degrees. Mean over the eleven positions. The bare reference is from 2 Oct, so the 7 Oct materials are compared across days: the differences from bare are indicative, not a controlled comparison. The earlier 100 Hz-10 kHz version had a strong lobe at -90 degrees (94-98 dB); with the band from 500 Hz it is 78-87 dB and fits on the plot.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in the data repo (f30__5in3b__membrane-...): 8 Oct 2026: membrane-duct-small, membrane-open-pore-pu-foam. 9 Oct 2026: membrane-duct-open-pore-pu-foam-double-layer, membrane-felt, membrane-felt-double-layer, membrane-cork, membrane-felt-rubber, membrane-thinsulate-8-layers, -4-layers, -2-layers. Each base was captured with 3 repeats of the ramp; the plot uses the PWM 2000 step and the mean over the 3 repeats of the total level 500 Hz to 24 kHz per microphone, in dB SPL, read with the corrected microphone files. The repeat-to-repeat scatter of the mean level is 0.02-0.11 dB. There is no bare reference measured with this set-up (the base names carry a different motor field, f30, from the 2 and 7 Oct materials), so levels here are not comparable with slide 8 and no louder-than-bare figure is given; the callout is the difference between the quietest (best: Thinsulate, 4 layers) and the loudest (worst: duct, membrane only) set-up: 10.2 dB at its largest, at +18°, and 6.7 dB on average over the eleven microphones. Per angle the difference runs from 4.1 dB at -90 degrees to 10.2 dB at +18 degrees; the largest spread across all ten set-ups at a single angle is the same 10.2 dB. Two of the bases are ducts. The polar is mirrored to 360 degrees.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off by 0.8–2.6 dB on average</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gap between the loudest and quietest microphone for the same sound: factory files → corrected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Two captures from 25 Sep 2026: the start of day 3 (left) and the final configuration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 Room error: rms difference of the eleven microphones from their average.</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has a rocking mode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COMPARISON</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31 Aug and 30 Sep on the same axes</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Red: 31 Aug, factory microphone files. Blue: 30 Sep, corrected files. Two different propellers.</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propeller was mounted the other way round between the two, so the thrust points the other way. We do not expect this to change the sound.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30 Sep outline is smoother.</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Different propellers and run conditions, so the levels are not comparable; compare the shapes.</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ten material set-ups at 2000 microseconds, total level 500 Hz to 24 kHz: bare, cork, rubber, felt, felt with rubber, felt with PU foam, PU foam, double PU foam, 4 and 8 layers of Thinsulate">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583680" y="365760"/>
            <a:ext cx="512064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583680" y="658368"/>
            <a:ext cx="5120640" cy="82296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Materials at 2000 µs</a:t>
            </a:r>
            <a:endParaRPr lang="en-US" sz="3000" dirty="0"/>
          </a:p>
        </p:txBody>
      </p:sp>
      <p:sp>
        <p:nvSpPr>
          <p:cNvPr id="5" name="Text 2"/>
          <p:cNvSpPr txBox="1"/>
          <p:nvPr/>
        </p:nvSpPr>
        <p:spPr>
          <a:xfrm>
            <a:off x="6583680" y="1508760"/>
            <a:ext cx="512064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Round markers: 2 Oct. Square: 7 Oct.</a:t>
            </a:r>
            <a:endParaRPr lang="en-US" sz="1200" dirty="0"/>
          </a:p>
        </p:txBody>
      </p:sp>
      <p:sp>
        <p:nvSpPr>
          <p:cNvPr id="6" name="Shape 3"/>
          <p:cNvSpPr/>
          <p:nvPr/>
        </p:nvSpPr>
        <p:spPr>
          <a:xfrm>
            <a:off x="6583680" y="1938528"/>
            <a:ext cx="182880" cy="182880"/>
          </a:xfrm>
          <a:prstGeom prst="ellipse">
            <a:avLst/>
          </a:prstGeom>
          <a:solidFill>
            <a:srgbClr val="1F2A44"/>
          </a:solidFill>
          <a:ln w="12700">
            <a:solidFill>
              <a:srgbClr val="1F2A44"/>
            </a:solidFill>
            <a:prstDash val="solid"/>
          </a:ln>
        </p:spPr>
      </p:sp>
      <p:sp>
        <p:nvSpPr>
          <p:cNvPr id="7" name="Text 4"/>
          <p:cNvSpPr txBox="1"/>
          <p:nvPr/>
        </p:nvSpPr>
        <p:spPr>
          <a:xfrm>
            <a:off x="6858000" y="1874520"/>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Bare</a:t>
            </a:r>
            <a:endParaRPr lang="en-US" sz="1400" dirty="0"/>
          </a:p>
        </p:txBody>
      </p:sp>
      <p:sp>
        <p:nvSpPr>
          <p:cNvPr id="8" name="Text 5"/>
          <p:cNvSpPr txBox="1"/>
          <p:nvPr/>
        </p:nvSpPr>
        <p:spPr>
          <a:xfrm>
            <a:off x="9646920" y="187452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9" name="Text 6"/>
          <p:cNvSpPr txBox="1"/>
          <p:nvPr/>
        </p:nvSpPr>
        <p:spPr>
          <a:xfrm>
            <a:off x="10241280" y="187452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74.2 dB</a:t>
            </a:r>
            <a:endParaRPr lang="en-US" sz="1400" dirty="0"/>
          </a:p>
        </p:txBody>
      </p:sp>
      <p:sp>
        <p:nvSpPr>
          <p:cNvPr id="10" name="Shape 7"/>
          <p:cNvSpPr/>
          <p:nvPr/>
        </p:nvSpPr>
        <p:spPr>
          <a:xfrm>
            <a:off x="6583680" y="2276856"/>
            <a:ext cx="182880" cy="182880"/>
          </a:xfrm>
          <a:prstGeom prst="ellipse">
            <a:avLst/>
          </a:prstGeom>
          <a:solidFill>
            <a:srgbClr val="862E9C"/>
          </a:solidFill>
          <a:ln w="12700">
            <a:solidFill>
              <a:srgbClr val="862E9C"/>
            </a:solidFill>
            <a:prstDash val="solid"/>
          </a:ln>
        </p:spPr>
      </p:sp>
      <p:sp>
        <p:nvSpPr>
          <p:cNvPr id="11" name="Text 8"/>
          <p:cNvSpPr txBox="1"/>
          <p:nvPr/>
        </p:nvSpPr>
        <p:spPr>
          <a:xfrm>
            <a:off x="6858000" y="2212848"/>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PU foam</a:t>
            </a:r>
            <a:endParaRPr lang="en-US" sz="1400" dirty="0"/>
          </a:p>
        </p:txBody>
      </p:sp>
      <p:sp>
        <p:nvSpPr>
          <p:cNvPr id="12" name="Text 9"/>
          <p:cNvSpPr txBox="1"/>
          <p:nvPr/>
        </p:nvSpPr>
        <p:spPr>
          <a:xfrm>
            <a:off x="9646920" y="221284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13" name="Text 10"/>
          <p:cNvSpPr txBox="1"/>
          <p:nvPr/>
        </p:nvSpPr>
        <p:spPr>
          <a:xfrm>
            <a:off x="10241280" y="221284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77.6 dB</a:t>
            </a:r>
            <a:endParaRPr lang="en-US" sz="1400" dirty="0"/>
          </a:p>
        </p:txBody>
      </p:sp>
      <p:sp>
        <p:nvSpPr>
          <p:cNvPr id="14" name="Shape 11"/>
          <p:cNvSpPr/>
          <p:nvPr/>
        </p:nvSpPr>
        <p:spPr>
          <a:xfrm>
            <a:off x="6583680" y="2615184"/>
            <a:ext cx="182880" cy="182880"/>
          </a:xfrm>
          <a:prstGeom prst="ellipse">
            <a:avLst/>
          </a:prstGeom>
          <a:solidFill>
            <a:srgbClr val="7048E8"/>
          </a:solidFill>
          <a:ln w="12700">
            <a:solidFill>
              <a:srgbClr val="7048E8"/>
            </a:solidFill>
            <a:prstDash val="solid"/>
          </a:ln>
        </p:spPr>
      </p:sp>
      <p:sp>
        <p:nvSpPr>
          <p:cNvPr id="15" name="Text 12"/>
          <p:cNvSpPr txBox="1"/>
          <p:nvPr/>
        </p:nvSpPr>
        <p:spPr>
          <a:xfrm>
            <a:off x="6858000" y="2551176"/>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 + rubber</a:t>
            </a:r>
            <a:endParaRPr lang="en-US" sz="1400" dirty="0"/>
          </a:p>
        </p:txBody>
      </p:sp>
      <p:sp>
        <p:nvSpPr>
          <p:cNvPr id="16" name="Text 13"/>
          <p:cNvSpPr txBox="1"/>
          <p:nvPr/>
        </p:nvSpPr>
        <p:spPr>
          <a:xfrm>
            <a:off x="9646920" y="255117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17" name="Text 14"/>
          <p:cNvSpPr txBox="1"/>
          <p:nvPr/>
        </p:nvSpPr>
        <p:spPr>
          <a:xfrm>
            <a:off x="10241280" y="255117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78.2 dB</a:t>
            </a:r>
            <a:endParaRPr lang="en-US" sz="1400" dirty="0"/>
          </a:p>
        </p:txBody>
      </p:sp>
      <p:sp>
        <p:nvSpPr>
          <p:cNvPr id="18" name="Shape 15"/>
          <p:cNvSpPr/>
          <p:nvPr/>
        </p:nvSpPr>
        <p:spPr>
          <a:xfrm>
            <a:off x="6583680" y="2953512"/>
            <a:ext cx="182880" cy="182880"/>
          </a:xfrm>
          <a:prstGeom prst="ellipse">
            <a:avLst/>
          </a:prstGeom>
          <a:solidFill>
            <a:srgbClr val="5C940D"/>
          </a:solidFill>
          <a:ln w="12700">
            <a:solidFill>
              <a:srgbClr val="5C940D"/>
            </a:solidFill>
            <a:prstDash val="solid"/>
          </a:ln>
        </p:spPr>
      </p:sp>
      <p:sp>
        <p:nvSpPr>
          <p:cNvPr id="19" name="Text 16"/>
          <p:cNvSpPr txBox="1"/>
          <p:nvPr/>
        </p:nvSpPr>
        <p:spPr>
          <a:xfrm>
            <a:off x="6858000" y="2889504"/>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PU foam, double layer</a:t>
            </a:r>
            <a:endParaRPr lang="en-US" sz="1400" dirty="0"/>
          </a:p>
        </p:txBody>
      </p:sp>
      <p:sp>
        <p:nvSpPr>
          <p:cNvPr id="20" name="Text 17"/>
          <p:cNvSpPr txBox="1"/>
          <p:nvPr/>
        </p:nvSpPr>
        <p:spPr>
          <a:xfrm>
            <a:off x="9646920" y="288950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21" name="Text 18"/>
          <p:cNvSpPr txBox="1"/>
          <p:nvPr/>
        </p:nvSpPr>
        <p:spPr>
          <a:xfrm>
            <a:off x="10241280" y="288950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78.2 dB</a:t>
            </a:r>
            <a:endParaRPr lang="en-US" sz="1400" dirty="0"/>
          </a:p>
        </p:txBody>
      </p:sp>
      <p:sp>
        <p:nvSpPr>
          <p:cNvPr id="22" name="Shape 19"/>
          <p:cNvSpPr/>
          <p:nvPr/>
        </p:nvSpPr>
        <p:spPr>
          <a:xfrm>
            <a:off x="6583680" y="3291840"/>
            <a:ext cx="182880" cy="182880"/>
          </a:xfrm>
          <a:prstGeom prst="ellipse">
            <a:avLst/>
          </a:prstGeom>
          <a:solidFill>
            <a:srgbClr val="2F9E44"/>
          </a:solidFill>
          <a:ln w="12700">
            <a:solidFill>
              <a:srgbClr val="2F9E44"/>
            </a:solidFill>
            <a:prstDash val="solid"/>
          </a:ln>
        </p:spPr>
      </p:sp>
      <p:sp>
        <p:nvSpPr>
          <p:cNvPr id="23" name="Text 20"/>
          <p:cNvSpPr txBox="1"/>
          <p:nvPr/>
        </p:nvSpPr>
        <p:spPr>
          <a:xfrm>
            <a:off x="6858000" y="3227832"/>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Cork</a:t>
            </a:r>
            <a:endParaRPr lang="en-US" sz="1400" dirty="0"/>
          </a:p>
        </p:txBody>
      </p:sp>
      <p:sp>
        <p:nvSpPr>
          <p:cNvPr id="24" name="Text 21"/>
          <p:cNvSpPr txBox="1"/>
          <p:nvPr/>
        </p:nvSpPr>
        <p:spPr>
          <a:xfrm>
            <a:off x="9646920" y="322783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25" name="Text 22"/>
          <p:cNvSpPr txBox="1"/>
          <p:nvPr/>
        </p:nvSpPr>
        <p:spPr>
          <a:xfrm>
            <a:off x="10241280" y="322783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78.6 dB</a:t>
            </a:r>
            <a:endParaRPr lang="en-US" sz="1400" dirty="0"/>
          </a:p>
        </p:txBody>
      </p:sp>
      <p:sp>
        <p:nvSpPr>
          <p:cNvPr id="26" name="Shape 23"/>
          <p:cNvSpPr/>
          <p:nvPr/>
        </p:nvSpPr>
        <p:spPr>
          <a:xfrm>
            <a:off x="6583680" y="3630168"/>
            <a:ext cx="182880" cy="182880"/>
          </a:xfrm>
          <a:prstGeom prst="ellipse">
            <a:avLst/>
          </a:prstGeom>
          <a:solidFill>
            <a:srgbClr val="C2255C"/>
          </a:solidFill>
          <a:ln w="12700">
            <a:solidFill>
              <a:srgbClr val="C2255C"/>
            </a:solidFill>
            <a:prstDash val="solid"/>
          </a:ln>
        </p:spPr>
      </p:sp>
      <p:sp>
        <p:nvSpPr>
          <p:cNvPr id="27" name="Text 24"/>
          <p:cNvSpPr txBox="1"/>
          <p:nvPr/>
        </p:nvSpPr>
        <p:spPr>
          <a:xfrm>
            <a:off x="6858000" y="3566160"/>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Inner felt + outer PU foam</a:t>
            </a:r>
            <a:endParaRPr lang="en-US" sz="1400" dirty="0"/>
          </a:p>
        </p:txBody>
      </p:sp>
      <p:sp>
        <p:nvSpPr>
          <p:cNvPr id="28" name="Text 25"/>
          <p:cNvSpPr txBox="1"/>
          <p:nvPr/>
        </p:nvSpPr>
        <p:spPr>
          <a:xfrm>
            <a:off x="9646920" y="356616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29" name="Text 26"/>
          <p:cNvSpPr txBox="1"/>
          <p:nvPr/>
        </p:nvSpPr>
        <p:spPr>
          <a:xfrm>
            <a:off x="10241280" y="356616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78.8 dB</a:t>
            </a:r>
            <a:endParaRPr lang="en-US" sz="1400" dirty="0"/>
          </a:p>
        </p:txBody>
      </p:sp>
      <p:sp>
        <p:nvSpPr>
          <p:cNvPr id="30" name="Shape 27"/>
          <p:cNvSpPr/>
          <p:nvPr/>
        </p:nvSpPr>
        <p:spPr>
          <a:xfrm>
            <a:off x="6583680" y="3968496"/>
            <a:ext cx="182880" cy="182880"/>
          </a:xfrm>
          <a:prstGeom prst="ellipse">
            <a:avLst/>
          </a:prstGeom>
          <a:solidFill>
            <a:srgbClr val="1864AB"/>
          </a:solidFill>
          <a:ln w="12700">
            <a:solidFill>
              <a:srgbClr val="1864AB"/>
            </a:solidFill>
            <a:prstDash val="solid"/>
          </a:ln>
        </p:spPr>
      </p:sp>
      <p:sp>
        <p:nvSpPr>
          <p:cNvPr id="31" name="Text 28"/>
          <p:cNvSpPr txBox="1"/>
          <p:nvPr/>
        </p:nvSpPr>
        <p:spPr>
          <a:xfrm>
            <a:off x="6858000" y="3904488"/>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8 layers</a:t>
            </a:r>
            <a:endParaRPr lang="en-US" sz="1400" dirty="0"/>
          </a:p>
        </p:txBody>
      </p:sp>
      <p:sp>
        <p:nvSpPr>
          <p:cNvPr id="32" name="Text 29"/>
          <p:cNvSpPr txBox="1"/>
          <p:nvPr/>
        </p:nvSpPr>
        <p:spPr>
          <a:xfrm>
            <a:off x="9646920" y="390448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33" name="Text 30"/>
          <p:cNvSpPr txBox="1"/>
          <p:nvPr/>
        </p:nvSpPr>
        <p:spPr>
          <a:xfrm>
            <a:off x="10241280" y="390448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79.2 dB</a:t>
            </a:r>
            <a:endParaRPr lang="en-US" sz="1400" dirty="0"/>
          </a:p>
        </p:txBody>
      </p:sp>
      <p:sp>
        <p:nvSpPr>
          <p:cNvPr id="34" name="Shape 31"/>
          <p:cNvSpPr/>
          <p:nvPr/>
        </p:nvSpPr>
        <p:spPr>
          <a:xfrm>
            <a:off x="6583680" y="4306824"/>
            <a:ext cx="182880" cy="182880"/>
          </a:xfrm>
          <a:prstGeom prst="ellipse">
            <a:avLst/>
          </a:prstGeom>
          <a:solidFill>
            <a:srgbClr val="1098AD"/>
          </a:solidFill>
          <a:ln w="12700">
            <a:solidFill>
              <a:srgbClr val="1098AD"/>
            </a:solidFill>
            <a:prstDash val="solid"/>
          </a:ln>
        </p:spPr>
      </p:sp>
      <p:sp>
        <p:nvSpPr>
          <p:cNvPr id="35" name="Text 32"/>
          <p:cNvSpPr txBox="1"/>
          <p:nvPr/>
        </p:nvSpPr>
        <p:spPr>
          <a:xfrm>
            <a:off x="6858000" y="4242816"/>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a:t>
            </a:r>
            <a:endParaRPr lang="en-US" sz="1400" dirty="0"/>
          </a:p>
        </p:txBody>
      </p:sp>
      <p:sp>
        <p:nvSpPr>
          <p:cNvPr id="36" name="Text 33"/>
          <p:cNvSpPr txBox="1"/>
          <p:nvPr/>
        </p:nvSpPr>
        <p:spPr>
          <a:xfrm>
            <a:off x="9646920" y="424281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37" name="Text 34"/>
          <p:cNvSpPr txBox="1"/>
          <p:nvPr/>
        </p:nvSpPr>
        <p:spPr>
          <a:xfrm>
            <a:off x="10241280" y="424281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79.3 dB</a:t>
            </a:r>
            <a:endParaRPr lang="en-US" sz="1400" dirty="0"/>
          </a:p>
        </p:txBody>
      </p:sp>
      <p:sp>
        <p:nvSpPr>
          <p:cNvPr id="38" name="Shape 35"/>
          <p:cNvSpPr/>
          <p:nvPr/>
        </p:nvSpPr>
        <p:spPr>
          <a:xfrm>
            <a:off x="6583680" y="4645152"/>
            <a:ext cx="182880" cy="182880"/>
          </a:xfrm>
          <a:prstGeom prst="ellipse">
            <a:avLst/>
          </a:prstGeom>
          <a:solidFill>
            <a:srgbClr val="E03131"/>
          </a:solidFill>
          <a:ln w="12700">
            <a:solidFill>
              <a:srgbClr val="E03131"/>
            </a:solidFill>
            <a:prstDash val="solid"/>
          </a:ln>
        </p:spPr>
      </p:sp>
      <p:sp>
        <p:nvSpPr>
          <p:cNvPr id="39" name="Text 36"/>
          <p:cNvSpPr txBox="1"/>
          <p:nvPr/>
        </p:nvSpPr>
        <p:spPr>
          <a:xfrm>
            <a:off x="6858000" y="4581144"/>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4 layers</a:t>
            </a:r>
            <a:endParaRPr lang="en-US" sz="1400" dirty="0"/>
          </a:p>
        </p:txBody>
      </p:sp>
      <p:sp>
        <p:nvSpPr>
          <p:cNvPr id="40" name="Text 37"/>
          <p:cNvSpPr txBox="1"/>
          <p:nvPr/>
        </p:nvSpPr>
        <p:spPr>
          <a:xfrm>
            <a:off x="9646920" y="458114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41" name="Text 38"/>
          <p:cNvSpPr txBox="1"/>
          <p:nvPr/>
        </p:nvSpPr>
        <p:spPr>
          <a:xfrm>
            <a:off x="10241280" y="458114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79.4 dB</a:t>
            </a:r>
            <a:endParaRPr lang="en-US" sz="1400" dirty="0"/>
          </a:p>
        </p:txBody>
      </p:sp>
      <p:sp>
        <p:nvSpPr>
          <p:cNvPr id="42" name="Shape 39"/>
          <p:cNvSpPr/>
          <p:nvPr/>
        </p:nvSpPr>
        <p:spPr>
          <a:xfrm>
            <a:off x="6583680" y="4983480"/>
            <a:ext cx="182880" cy="182880"/>
          </a:xfrm>
          <a:prstGeom prst="ellipse">
            <a:avLst/>
          </a:prstGeom>
          <a:solidFill>
            <a:srgbClr val="F08C00"/>
          </a:solidFill>
          <a:ln w="12700">
            <a:solidFill>
              <a:srgbClr val="F08C00"/>
            </a:solidFill>
            <a:prstDash val="solid"/>
          </a:ln>
        </p:spPr>
      </p:sp>
      <p:sp>
        <p:nvSpPr>
          <p:cNvPr id="43" name="Text 40"/>
          <p:cNvSpPr txBox="1"/>
          <p:nvPr/>
        </p:nvSpPr>
        <p:spPr>
          <a:xfrm>
            <a:off x="6858000" y="4919472"/>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Rubber</a:t>
            </a:r>
            <a:endParaRPr lang="en-US" sz="1400" dirty="0"/>
          </a:p>
        </p:txBody>
      </p:sp>
      <p:sp>
        <p:nvSpPr>
          <p:cNvPr id="44" name="Text 41"/>
          <p:cNvSpPr txBox="1"/>
          <p:nvPr/>
        </p:nvSpPr>
        <p:spPr>
          <a:xfrm>
            <a:off x="9646920" y="491947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45" name="Text 42"/>
          <p:cNvSpPr txBox="1"/>
          <p:nvPr/>
        </p:nvSpPr>
        <p:spPr>
          <a:xfrm>
            <a:off x="10241280" y="491947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80.3 dB</a:t>
            </a:r>
            <a:endParaRPr lang="en-US" sz="1400" dirty="0"/>
          </a:p>
        </p:txBody>
      </p:sp>
      <p:sp>
        <p:nvSpPr>
          <p:cNvPr id="46" name="Text 43"/>
          <p:cNvSpPr txBox="1"/>
          <p:nvPr/>
        </p:nvSpPr>
        <p:spPr>
          <a:xfrm>
            <a:off x="6583680" y="5349240"/>
            <a:ext cx="512064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+3.4 to +6.2 dB</a:t>
            </a:r>
            <a:endParaRPr lang="en-US" sz="3600" dirty="0"/>
          </a:p>
        </p:txBody>
      </p:sp>
      <p:sp>
        <p:nvSpPr>
          <p:cNvPr id="47" name="Text 44"/>
          <p:cNvSpPr txBox="1"/>
          <p:nvPr/>
        </p:nvSpPr>
        <p:spPr>
          <a:xfrm>
            <a:off x="6583680" y="5943600"/>
            <a:ext cx="5120640" cy="274320"/>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louder than bare, on average (bare measured 2 Oct)</a:t>
            </a:r>
            <a:endParaRPr lang="en-US" sz="1300" dirty="0"/>
          </a:p>
        </p:txBody>
      </p:sp>
      <p:sp>
        <p:nvSpPr>
          <p:cNvPr id="48" name="Text 4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and 7 Oct 2026, 5-inch 3-blade propeller, total level 500 Hz–24 kHz, motor at 2000 µs, corrected microphone files. Radial axis 68–89 dB.</a:t>
            </a:r>
            <a:endParaRPr lang="en-US" sz="1100" dirty="0"/>
          </a:p>
        </p:txBody>
      </p:sp>
      <p:sp>
        <p:nvSpPr>
          <p:cNvPr id="49" name="Text 4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olar plot of ten membrane set-ups at 2000 microseconds, total level 500 Hz to 24 kHz">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583680" y="365760"/>
            <a:ext cx="512064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MEMBRANES</a:t>
            </a:r>
            <a:endParaRPr lang="en-US" sz="1400" dirty="0"/>
          </a:p>
        </p:txBody>
      </p:sp>
      <p:sp>
        <p:nvSpPr>
          <p:cNvPr id="4" name="Text 1"/>
          <p:cNvSpPr txBox="1"/>
          <p:nvPr/>
        </p:nvSpPr>
        <p:spPr>
          <a:xfrm>
            <a:off x="6583680" y="658368"/>
            <a:ext cx="5120640" cy="82296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Membranes at 2000 µs</a:t>
            </a:r>
            <a:endParaRPr lang="en-US" sz="3000" dirty="0"/>
          </a:p>
        </p:txBody>
      </p:sp>
      <p:sp>
        <p:nvSpPr>
          <p:cNvPr id="5" name="Text 2"/>
          <p:cNvSpPr txBox="1"/>
          <p:nvPr/>
        </p:nvSpPr>
        <p:spPr>
          <a:xfrm>
            <a:off x="6583680" y="1508760"/>
            <a:ext cx="512064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Round markers: 8 Oct. Square: 9 Oct.</a:t>
            </a:r>
            <a:endParaRPr lang="en-US" sz="1200" dirty="0"/>
          </a:p>
        </p:txBody>
      </p:sp>
      <p:sp>
        <p:nvSpPr>
          <p:cNvPr id="6" name="Shape 3"/>
          <p:cNvSpPr/>
          <p:nvPr/>
        </p:nvSpPr>
        <p:spPr>
          <a:xfrm>
            <a:off x="6583680" y="1938528"/>
            <a:ext cx="182880" cy="182880"/>
          </a:xfrm>
          <a:prstGeom prst="ellipse">
            <a:avLst/>
          </a:prstGeom>
          <a:solidFill>
            <a:srgbClr val="E03131"/>
          </a:solidFill>
          <a:ln w="12700">
            <a:solidFill>
              <a:srgbClr val="E03131"/>
            </a:solidFill>
            <a:prstDash val="solid"/>
          </a:ln>
        </p:spPr>
      </p:sp>
      <p:sp>
        <p:nvSpPr>
          <p:cNvPr id="7" name="Text 4"/>
          <p:cNvSpPr txBox="1"/>
          <p:nvPr/>
        </p:nvSpPr>
        <p:spPr>
          <a:xfrm>
            <a:off x="6858000" y="1874520"/>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4 layers</a:t>
            </a:r>
            <a:endParaRPr lang="en-US" sz="1400" dirty="0"/>
          </a:p>
        </p:txBody>
      </p:sp>
      <p:sp>
        <p:nvSpPr>
          <p:cNvPr id="8" name="Text 5"/>
          <p:cNvSpPr txBox="1"/>
          <p:nvPr/>
        </p:nvSpPr>
        <p:spPr>
          <a:xfrm>
            <a:off x="9692640" y="187452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9" name="Text 6"/>
          <p:cNvSpPr txBox="1"/>
          <p:nvPr/>
        </p:nvSpPr>
        <p:spPr>
          <a:xfrm>
            <a:off x="10241280" y="187452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82.8 dB</a:t>
            </a:r>
            <a:endParaRPr lang="en-US" sz="1400" dirty="0"/>
          </a:p>
        </p:txBody>
      </p:sp>
      <p:sp>
        <p:nvSpPr>
          <p:cNvPr id="10" name="Shape 7"/>
          <p:cNvSpPr/>
          <p:nvPr/>
        </p:nvSpPr>
        <p:spPr>
          <a:xfrm>
            <a:off x="6583680" y="2276856"/>
            <a:ext cx="182880" cy="182880"/>
          </a:xfrm>
          <a:prstGeom prst="ellipse">
            <a:avLst/>
          </a:prstGeom>
          <a:solidFill>
            <a:srgbClr val="F08C00"/>
          </a:solidFill>
          <a:ln w="12700">
            <a:solidFill>
              <a:srgbClr val="F08C00"/>
            </a:solidFill>
            <a:prstDash val="solid"/>
          </a:ln>
        </p:spPr>
      </p:sp>
      <p:sp>
        <p:nvSpPr>
          <p:cNvPr id="11" name="Text 8"/>
          <p:cNvSpPr txBox="1"/>
          <p:nvPr/>
        </p:nvSpPr>
        <p:spPr>
          <a:xfrm>
            <a:off x="6858000" y="2212848"/>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2 layers</a:t>
            </a:r>
            <a:endParaRPr lang="en-US" sz="1400" dirty="0"/>
          </a:p>
        </p:txBody>
      </p:sp>
      <p:sp>
        <p:nvSpPr>
          <p:cNvPr id="12" name="Text 9"/>
          <p:cNvSpPr txBox="1"/>
          <p:nvPr/>
        </p:nvSpPr>
        <p:spPr>
          <a:xfrm>
            <a:off x="9692640" y="221284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13" name="Text 10"/>
          <p:cNvSpPr txBox="1"/>
          <p:nvPr/>
        </p:nvSpPr>
        <p:spPr>
          <a:xfrm>
            <a:off x="10241280" y="221284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84.0 dB</a:t>
            </a:r>
            <a:endParaRPr lang="en-US" sz="1400" dirty="0"/>
          </a:p>
        </p:txBody>
      </p:sp>
      <p:sp>
        <p:nvSpPr>
          <p:cNvPr id="14" name="Shape 11"/>
          <p:cNvSpPr/>
          <p:nvPr/>
        </p:nvSpPr>
        <p:spPr>
          <a:xfrm>
            <a:off x="6583680" y="2615184"/>
            <a:ext cx="182880" cy="182880"/>
          </a:xfrm>
          <a:prstGeom prst="ellipse">
            <a:avLst/>
          </a:prstGeom>
          <a:solidFill>
            <a:srgbClr val="C2255C"/>
          </a:solidFill>
          <a:ln w="12700">
            <a:solidFill>
              <a:srgbClr val="C2255C"/>
            </a:solidFill>
            <a:prstDash val="solid"/>
          </a:ln>
        </p:spPr>
      </p:sp>
      <p:sp>
        <p:nvSpPr>
          <p:cNvPr id="15" name="Text 12"/>
          <p:cNvSpPr txBox="1"/>
          <p:nvPr/>
        </p:nvSpPr>
        <p:spPr>
          <a:xfrm>
            <a:off x="6858000" y="2551176"/>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8 layers</a:t>
            </a:r>
            <a:endParaRPr lang="en-US" sz="1400" dirty="0"/>
          </a:p>
        </p:txBody>
      </p:sp>
      <p:sp>
        <p:nvSpPr>
          <p:cNvPr id="16" name="Text 13"/>
          <p:cNvSpPr txBox="1"/>
          <p:nvPr/>
        </p:nvSpPr>
        <p:spPr>
          <a:xfrm>
            <a:off x="9692640" y="255117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17" name="Text 14"/>
          <p:cNvSpPr txBox="1"/>
          <p:nvPr/>
        </p:nvSpPr>
        <p:spPr>
          <a:xfrm>
            <a:off x="10241280" y="255117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85.0 dB</a:t>
            </a:r>
            <a:endParaRPr lang="en-US" sz="1400" dirty="0"/>
          </a:p>
        </p:txBody>
      </p:sp>
      <p:sp>
        <p:nvSpPr>
          <p:cNvPr id="18" name="Shape 15"/>
          <p:cNvSpPr/>
          <p:nvPr/>
        </p:nvSpPr>
        <p:spPr>
          <a:xfrm>
            <a:off x="6583680" y="2953512"/>
            <a:ext cx="182880" cy="182880"/>
          </a:xfrm>
          <a:prstGeom prst="ellipse">
            <a:avLst/>
          </a:prstGeom>
          <a:solidFill>
            <a:srgbClr val="7048E8"/>
          </a:solidFill>
          <a:ln w="12700">
            <a:solidFill>
              <a:srgbClr val="7048E8"/>
            </a:solidFill>
            <a:prstDash val="solid"/>
          </a:ln>
        </p:spPr>
      </p:sp>
      <p:sp>
        <p:nvSpPr>
          <p:cNvPr id="19" name="Text 16"/>
          <p:cNvSpPr txBox="1"/>
          <p:nvPr/>
        </p:nvSpPr>
        <p:spPr>
          <a:xfrm>
            <a:off x="6858000" y="2889504"/>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 + rubber</a:t>
            </a:r>
            <a:endParaRPr lang="en-US" sz="1400" dirty="0"/>
          </a:p>
        </p:txBody>
      </p:sp>
      <p:sp>
        <p:nvSpPr>
          <p:cNvPr id="20" name="Text 17"/>
          <p:cNvSpPr txBox="1"/>
          <p:nvPr/>
        </p:nvSpPr>
        <p:spPr>
          <a:xfrm>
            <a:off x="9692640" y="288950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21" name="Text 18"/>
          <p:cNvSpPr txBox="1"/>
          <p:nvPr/>
        </p:nvSpPr>
        <p:spPr>
          <a:xfrm>
            <a:off x="10241280" y="288950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86.0 dB</a:t>
            </a:r>
            <a:endParaRPr lang="en-US" sz="1400" dirty="0"/>
          </a:p>
        </p:txBody>
      </p:sp>
      <p:sp>
        <p:nvSpPr>
          <p:cNvPr id="22" name="Shape 19"/>
          <p:cNvSpPr/>
          <p:nvPr/>
        </p:nvSpPr>
        <p:spPr>
          <a:xfrm>
            <a:off x="6583680" y="3291840"/>
            <a:ext cx="182880" cy="182880"/>
          </a:xfrm>
          <a:prstGeom prst="ellipse">
            <a:avLst/>
          </a:prstGeom>
          <a:solidFill>
            <a:srgbClr val="1098AD"/>
          </a:solidFill>
          <a:ln w="12700">
            <a:solidFill>
              <a:srgbClr val="1098AD"/>
            </a:solidFill>
            <a:prstDash val="solid"/>
          </a:ln>
        </p:spPr>
      </p:sp>
      <p:sp>
        <p:nvSpPr>
          <p:cNvPr id="23" name="Text 20"/>
          <p:cNvSpPr txBox="1"/>
          <p:nvPr/>
        </p:nvSpPr>
        <p:spPr>
          <a:xfrm>
            <a:off x="6858000" y="3227832"/>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a:t>
            </a:r>
            <a:endParaRPr lang="en-US" sz="1400" dirty="0"/>
          </a:p>
        </p:txBody>
      </p:sp>
      <p:sp>
        <p:nvSpPr>
          <p:cNvPr id="24" name="Text 21"/>
          <p:cNvSpPr txBox="1"/>
          <p:nvPr/>
        </p:nvSpPr>
        <p:spPr>
          <a:xfrm>
            <a:off x="9692640" y="322783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25" name="Text 22"/>
          <p:cNvSpPr txBox="1"/>
          <p:nvPr/>
        </p:nvSpPr>
        <p:spPr>
          <a:xfrm>
            <a:off x="10241280" y="322783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86.3 dB</a:t>
            </a:r>
            <a:endParaRPr lang="en-US" sz="1400" dirty="0"/>
          </a:p>
        </p:txBody>
      </p:sp>
      <p:sp>
        <p:nvSpPr>
          <p:cNvPr id="26" name="Shape 23"/>
          <p:cNvSpPr/>
          <p:nvPr/>
        </p:nvSpPr>
        <p:spPr>
          <a:xfrm>
            <a:off x="6583680" y="3630168"/>
            <a:ext cx="182880" cy="182880"/>
          </a:xfrm>
          <a:prstGeom prst="ellipse">
            <a:avLst/>
          </a:prstGeom>
          <a:solidFill>
            <a:srgbClr val="1864AB"/>
          </a:solidFill>
          <a:ln w="12700">
            <a:solidFill>
              <a:srgbClr val="1864AB"/>
            </a:solidFill>
            <a:prstDash val="solid"/>
          </a:ln>
        </p:spPr>
      </p:sp>
      <p:sp>
        <p:nvSpPr>
          <p:cNvPr id="27" name="Text 24"/>
          <p:cNvSpPr txBox="1"/>
          <p:nvPr/>
        </p:nvSpPr>
        <p:spPr>
          <a:xfrm>
            <a:off x="6858000" y="3566160"/>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 double layer</a:t>
            </a:r>
            <a:endParaRPr lang="en-US" sz="1400" dirty="0"/>
          </a:p>
        </p:txBody>
      </p:sp>
      <p:sp>
        <p:nvSpPr>
          <p:cNvPr id="28" name="Text 25"/>
          <p:cNvSpPr txBox="1"/>
          <p:nvPr/>
        </p:nvSpPr>
        <p:spPr>
          <a:xfrm>
            <a:off x="9692640" y="356616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29" name="Text 26"/>
          <p:cNvSpPr txBox="1"/>
          <p:nvPr/>
        </p:nvSpPr>
        <p:spPr>
          <a:xfrm>
            <a:off x="10241280" y="356616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86.4 dB</a:t>
            </a:r>
            <a:endParaRPr lang="en-US" sz="1400" dirty="0"/>
          </a:p>
        </p:txBody>
      </p:sp>
      <p:sp>
        <p:nvSpPr>
          <p:cNvPr id="30" name="Shape 27"/>
          <p:cNvSpPr/>
          <p:nvPr/>
        </p:nvSpPr>
        <p:spPr>
          <a:xfrm>
            <a:off x="6583680" y="3968496"/>
            <a:ext cx="182880" cy="182880"/>
          </a:xfrm>
          <a:prstGeom prst="ellipse">
            <a:avLst/>
          </a:prstGeom>
          <a:solidFill>
            <a:srgbClr val="5C940D"/>
          </a:solidFill>
          <a:ln w="12700">
            <a:solidFill>
              <a:srgbClr val="5C940D"/>
            </a:solidFill>
            <a:prstDash val="solid"/>
          </a:ln>
        </p:spPr>
      </p:sp>
      <p:sp>
        <p:nvSpPr>
          <p:cNvPr id="31" name="Text 28"/>
          <p:cNvSpPr txBox="1"/>
          <p:nvPr/>
        </p:nvSpPr>
        <p:spPr>
          <a:xfrm>
            <a:off x="6858000" y="3904488"/>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Duct + PU foam, double</a:t>
            </a:r>
            <a:endParaRPr lang="en-US" sz="1400" dirty="0"/>
          </a:p>
        </p:txBody>
      </p:sp>
      <p:sp>
        <p:nvSpPr>
          <p:cNvPr id="32" name="Text 29"/>
          <p:cNvSpPr txBox="1"/>
          <p:nvPr/>
        </p:nvSpPr>
        <p:spPr>
          <a:xfrm>
            <a:off x="9692640" y="390448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33" name="Text 30"/>
          <p:cNvSpPr txBox="1"/>
          <p:nvPr/>
        </p:nvSpPr>
        <p:spPr>
          <a:xfrm>
            <a:off x="10241280" y="390448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87.5 dB</a:t>
            </a:r>
            <a:endParaRPr lang="en-US" sz="1400" dirty="0"/>
          </a:p>
        </p:txBody>
      </p:sp>
      <p:sp>
        <p:nvSpPr>
          <p:cNvPr id="34" name="Shape 31"/>
          <p:cNvSpPr/>
          <p:nvPr/>
        </p:nvSpPr>
        <p:spPr>
          <a:xfrm>
            <a:off x="6583680" y="4306824"/>
            <a:ext cx="182880" cy="182880"/>
          </a:xfrm>
          <a:prstGeom prst="ellipse">
            <a:avLst/>
          </a:prstGeom>
          <a:solidFill>
            <a:srgbClr val="862E9C"/>
          </a:solidFill>
          <a:ln w="12700">
            <a:solidFill>
              <a:srgbClr val="862E9C"/>
            </a:solidFill>
            <a:prstDash val="solid"/>
          </a:ln>
        </p:spPr>
      </p:sp>
      <p:sp>
        <p:nvSpPr>
          <p:cNvPr id="35" name="Text 32"/>
          <p:cNvSpPr txBox="1"/>
          <p:nvPr/>
        </p:nvSpPr>
        <p:spPr>
          <a:xfrm>
            <a:off x="6858000" y="4242816"/>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PU foam</a:t>
            </a:r>
            <a:endParaRPr lang="en-US" sz="1400" dirty="0"/>
          </a:p>
        </p:txBody>
      </p:sp>
      <p:sp>
        <p:nvSpPr>
          <p:cNvPr id="36" name="Text 33"/>
          <p:cNvSpPr txBox="1"/>
          <p:nvPr/>
        </p:nvSpPr>
        <p:spPr>
          <a:xfrm>
            <a:off x="9692640" y="424281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8 Oct</a:t>
            </a:r>
            <a:endParaRPr lang="en-US" sz="1200" dirty="0"/>
          </a:p>
        </p:txBody>
      </p:sp>
      <p:sp>
        <p:nvSpPr>
          <p:cNvPr id="37" name="Text 34"/>
          <p:cNvSpPr txBox="1"/>
          <p:nvPr/>
        </p:nvSpPr>
        <p:spPr>
          <a:xfrm>
            <a:off x="10241280" y="424281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87.9 dB</a:t>
            </a:r>
            <a:endParaRPr lang="en-US" sz="1400" dirty="0"/>
          </a:p>
        </p:txBody>
      </p:sp>
      <p:sp>
        <p:nvSpPr>
          <p:cNvPr id="38" name="Shape 35"/>
          <p:cNvSpPr/>
          <p:nvPr/>
        </p:nvSpPr>
        <p:spPr>
          <a:xfrm>
            <a:off x="6583680" y="4645152"/>
            <a:ext cx="182880" cy="182880"/>
          </a:xfrm>
          <a:prstGeom prst="ellipse">
            <a:avLst/>
          </a:prstGeom>
          <a:solidFill>
            <a:srgbClr val="2F9E44"/>
          </a:solidFill>
          <a:ln w="12700">
            <a:solidFill>
              <a:srgbClr val="2F9E44"/>
            </a:solidFill>
            <a:prstDash val="solid"/>
          </a:ln>
        </p:spPr>
      </p:sp>
      <p:sp>
        <p:nvSpPr>
          <p:cNvPr id="39" name="Text 36"/>
          <p:cNvSpPr txBox="1"/>
          <p:nvPr/>
        </p:nvSpPr>
        <p:spPr>
          <a:xfrm>
            <a:off x="6858000" y="4581144"/>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Cork</a:t>
            </a:r>
            <a:endParaRPr lang="en-US" sz="1400" dirty="0"/>
          </a:p>
        </p:txBody>
      </p:sp>
      <p:sp>
        <p:nvSpPr>
          <p:cNvPr id="40" name="Text 37"/>
          <p:cNvSpPr txBox="1"/>
          <p:nvPr/>
        </p:nvSpPr>
        <p:spPr>
          <a:xfrm>
            <a:off x="9692640" y="458114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41" name="Text 38"/>
          <p:cNvSpPr txBox="1"/>
          <p:nvPr/>
        </p:nvSpPr>
        <p:spPr>
          <a:xfrm>
            <a:off x="10241280" y="458114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88.5 dB</a:t>
            </a:r>
            <a:endParaRPr lang="en-US" sz="1400" dirty="0"/>
          </a:p>
        </p:txBody>
      </p:sp>
      <p:sp>
        <p:nvSpPr>
          <p:cNvPr id="42" name="Shape 39"/>
          <p:cNvSpPr/>
          <p:nvPr/>
        </p:nvSpPr>
        <p:spPr>
          <a:xfrm>
            <a:off x="6583680" y="4983480"/>
            <a:ext cx="182880" cy="182880"/>
          </a:xfrm>
          <a:prstGeom prst="ellipse">
            <a:avLst/>
          </a:prstGeom>
          <a:solidFill>
            <a:srgbClr val="1F2A44"/>
          </a:solidFill>
          <a:ln w="12700">
            <a:solidFill>
              <a:srgbClr val="1F2A44"/>
            </a:solidFill>
            <a:prstDash val="solid"/>
          </a:ln>
        </p:spPr>
      </p:sp>
      <p:sp>
        <p:nvSpPr>
          <p:cNvPr id="43" name="Text 40"/>
          <p:cNvSpPr txBox="1"/>
          <p:nvPr/>
        </p:nvSpPr>
        <p:spPr>
          <a:xfrm>
            <a:off x="6858000" y="4919472"/>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Duct, membrane only</a:t>
            </a:r>
            <a:endParaRPr lang="en-US" sz="1400" dirty="0"/>
          </a:p>
        </p:txBody>
      </p:sp>
      <p:sp>
        <p:nvSpPr>
          <p:cNvPr id="44" name="Text 41"/>
          <p:cNvSpPr txBox="1"/>
          <p:nvPr/>
        </p:nvSpPr>
        <p:spPr>
          <a:xfrm>
            <a:off x="9692640" y="491947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8 Oct</a:t>
            </a:r>
            <a:endParaRPr lang="en-US" sz="1200" dirty="0"/>
          </a:p>
        </p:txBody>
      </p:sp>
      <p:sp>
        <p:nvSpPr>
          <p:cNvPr id="45" name="Text 42"/>
          <p:cNvSpPr txBox="1"/>
          <p:nvPr/>
        </p:nvSpPr>
        <p:spPr>
          <a:xfrm>
            <a:off x="10241280" y="491947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89.5 dB</a:t>
            </a:r>
            <a:endParaRPr lang="en-US" sz="1400" dirty="0"/>
          </a:p>
        </p:txBody>
      </p:sp>
      <p:sp>
        <p:nvSpPr>
          <p:cNvPr id="46" name="Text 43"/>
          <p:cNvSpPr txBox="1"/>
          <p:nvPr/>
        </p:nvSpPr>
        <p:spPr>
          <a:xfrm>
            <a:off x="6583680" y="5193792"/>
            <a:ext cx="5120640" cy="54864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up to 10.2 dB</a:t>
            </a:r>
            <a:endParaRPr lang="en-US" sz="3400" dirty="0"/>
          </a:p>
        </p:txBody>
      </p:sp>
      <p:sp>
        <p:nvSpPr>
          <p:cNvPr id="47" name="Text 44"/>
          <p:cNvSpPr txBox="1"/>
          <p:nvPr/>
        </p:nvSpPr>
        <p:spPr>
          <a:xfrm>
            <a:off x="6583680" y="5760720"/>
            <a:ext cx="5120640" cy="457200"/>
          </a:xfrm>
          <a:prstGeom prst="rect">
            <a:avLst/>
          </a:prstGeom>
          <a:noFill/>
          <a:ln/>
        </p:spPr>
        <p:txBody>
          <a:bodyPr wrap="square" lIns="0" tIns="0" rIns="0" bIns="0" rtlCol="0" anchor="t"/>
          <a:lstStyle/>
          <a:p>
            <a:pPr indent="0" marL="0">
              <a:buNone/>
            </a:pPr>
            <a:r>
              <a:rPr lang="en-US" sz="1300" dirty="0">
                <a:solidFill>
                  <a:srgbClr val="1F2A44"/>
                </a:solidFill>
                <a:latin typeface="Calibri" pitchFamily="34" charset="0"/>
                <a:ea typeface="Calibri" pitchFamily="34" charset="-122"/>
                <a:cs typeface="Calibri" pitchFamily="34" charset="-120"/>
              </a:rPr>
              <a:t>best (Thinsulate, 4 layers) against worst (Duct, membrane only), at +18°; 6.7 dB on average</a:t>
            </a:r>
            <a:endParaRPr lang="en-US" sz="1300" dirty="0"/>
          </a:p>
        </p:txBody>
      </p:sp>
      <p:sp>
        <p:nvSpPr>
          <p:cNvPr id="48" name="Text 4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8 and 9 Oct 2026, 5-inch 3-blade propeller, 500 Hz–24 kHz, 2000 µs, mean of 3 repeats, corrected files. Axis 76–94 dB. Not comparable with slide 8.</a:t>
            </a:r>
            <a:endParaRPr lang="en-US" sz="1100" dirty="0"/>
          </a:p>
        </p:txBody>
      </p:sp>
      <p:sp>
        <p:nvSpPr>
          <p:cNvPr id="49" name="Text 4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2026-10-09T15:34:34Z</dcterms:created>
  <dcterms:modified xsi:type="dcterms:W3CDTF">2026-10-09T15:34:34Z</dcterms:modified>
</cp:coreProperties>
</file>