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2 Oct 2026: 2004__5in3b__unset__v1-naked-horizontal (bare), ...cork__v1-cork-horizontal, ...rubber__v1-rubber, ...felt__v1-felt, ...felt-rubber__v1-felt-rubber. 7 Oct 2026 (axii__5in3b__...): inner-felt-outer-open-pore-pu-foam, open-pore-pu-foam, open-pore-pu-foam-double-layer, thinsulate-4-layers, thinsulate-8-layers. Each capture is the PWM 2000 step; level per microphone is the total level 500 Hz to 24 kHz in dB SPL (was 100 Hz to 10 kHz on the earlier version of this slide), read with the corrected microphone files (all after 16 Sep). The polar is mirrored to 360 degrees. Mean over the eleven positions. The bare reference is from 2 Oct, so the 7 Oct materials are compared across days: the differences from bare are indicative, not a controlled comparison. The earlier 100 Hz-10 kHz version had a strong lobe at -90 degrees (94-98 dB); with the band from 500 Hz it is 78-87 dB and fits on the plot.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ten material set-ups at 2000 microseconds, total level 500 Hz to 24 kHz: bare, cork, rubber, felt, felt with rubber, felt with PU foam, PU foam, double PU foam, 4 and 8 layers of Thinsulate">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eleven microphones. Solid: 2 Oct. Dashed: 7 Oct.</a:t>
            </a:r>
            <a:endParaRPr lang="en-US" sz="1200" dirty="0"/>
          </a:p>
        </p:txBody>
      </p:sp>
      <p:sp>
        <p:nvSpPr>
          <p:cNvPr id="6" name="Shape 3"/>
          <p:cNvSpPr/>
          <p:nvPr/>
        </p:nvSpPr>
        <p:spPr>
          <a:xfrm>
            <a:off x="6583680" y="1938528"/>
            <a:ext cx="182880" cy="182880"/>
          </a:xfrm>
          <a:prstGeom prst="ellipse">
            <a:avLst/>
          </a:prstGeom>
          <a:solidFill>
            <a:srgbClr val="1F2A44"/>
          </a:solidFill>
          <a:ln w="12700">
            <a:solidFill>
              <a:srgbClr val="1F2A44"/>
            </a:solidFill>
            <a:prstDash val="solid"/>
          </a:ln>
        </p:spPr>
      </p:sp>
      <p:sp>
        <p:nvSpPr>
          <p:cNvPr id="7" name="Text 4"/>
          <p:cNvSpPr txBox="1"/>
          <p:nvPr/>
        </p:nvSpPr>
        <p:spPr>
          <a:xfrm>
            <a:off x="6858000" y="187452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Bare</a:t>
            </a:r>
            <a:endParaRPr lang="en-US" sz="1400" dirty="0"/>
          </a:p>
        </p:txBody>
      </p:sp>
      <p:sp>
        <p:nvSpPr>
          <p:cNvPr id="8" name="Text 5"/>
          <p:cNvSpPr txBox="1"/>
          <p:nvPr/>
        </p:nvSpPr>
        <p:spPr>
          <a:xfrm>
            <a:off x="964692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74.2 dB</a:t>
            </a:r>
            <a:endParaRPr lang="en-US" sz="1400" dirty="0"/>
          </a:p>
        </p:txBody>
      </p:sp>
      <p:sp>
        <p:nvSpPr>
          <p:cNvPr id="10" name="Shape 7"/>
          <p:cNvSpPr/>
          <p:nvPr/>
        </p:nvSpPr>
        <p:spPr>
          <a:xfrm>
            <a:off x="6583680" y="2276856"/>
            <a:ext cx="182880" cy="182880"/>
          </a:xfrm>
          <a:prstGeom prst="ellipse">
            <a:avLst/>
          </a:prstGeom>
          <a:solidFill>
            <a:srgbClr val="862E9C"/>
          </a:solidFill>
          <a:ln w="12700">
            <a:solidFill>
              <a:srgbClr val="862E9C"/>
            </a:solidFill>
            <a:prstDash val="solid"/>
          </a:ln>
        </p:spPr>
      </p:sp>
      <p:sp>
        <p:nvSpPr>
          <p:cNvPr id="11" name="Text 8"/>
          <p:cNvSpPr txBox="1"/>
          <p:nvPr/>
        </p:nvSpPr>
        <p:spPr>
          <a:xfrm>
            <a:off x="6858000" y="221284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12" name="Text 9"/>
          <p:cNvSpPr txBox="1"/>
          <p:nvPr/>
        </p:nvSpPr>
        <p:spPr>
          <a:xfrm>
            <a:off x="964692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77.6 dB</a:t>
            </a:r>
            <a:endParaRPr lang="en-US" sz="1400" dirty="0"/>
          </a:p>
        </p:txBody>
      </p:sp>
      <p:sp>
        <p:nvSpPr>
          <p:cNvPr id="14" name="Shape 11"/>
          <p:cNvSpPr/>
          <p:nvPr/>
        </p:nvSpPr>
        <p:spPr>
          <a:xfrm>
            <a:off x="6583680" y="2615184"/>
            <a:ext cx="182880" cy="182880"/>
          </a:xfrm>
          <a:prstGeom prst="ellipse">
            <a:avLst/>
          </a:prstGeom>
          <a:solidFill>
            <a:srgbClr val="7048E8"/>
          </a:solidFill>
          <a:ln w="12700">
            <a:solidFill>
              <a:srgbClr val="7048E8"/>
            </a:solidFill>
            <a:prstDash val="solid"/>
          </a:ln>
        </p:spPr>
      </p:sp>
      <p:sp>
        <p:nvSpPr>
          <p:cNvPr id="15" name="Text 12"/>
          <p:cNvSpPr txBox="1"/>
          <p:nvPr/>
        </p:nvSpPr>
        <p:spPr>
          <a:xfrm>
            <a:off x="6858000" y="255117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16" name="Text 13"/>
          <p:cNvSpPr txBox="1"/>
          <p:nvPr/>
        </p:nvSpPr>
        <p:spPr>
          <a:xfrm>
            <a:off x="964692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18" name="Shape 15"/>
          <p:cNvSpPr/>
          <p:nvPr/>
        </p:nvSpPr>
        <p:spPr>
          <a:xfrm>
            <a:off x="6583680" y="2953512"/>
            <a:ext cx="182880" cy="182880"/>
          </a:xfrm>
          <a:prstGeom prst="ellipse">
            <a:avLst/>
          </a:prstGeom>
          <a:solidFill>
            <a:srgbClr val="5C940D"/>
          </a:solidFill>
          <a:ln w="12700">
            <a:solidFill>
              <a:srgbClr val="5C940D"/>
            </a:solidFill>
            <a:prstDash val="solid"/>
          </a:ln>
        </p:spPr>
      </p:sp>
      <p:sp>
        <p:nvSpPr>
          <p:cNvPr id="19" name="Text 16"/>
          <p:cNvSpPr txBox="1"/>
          <p:nvPr/>
        </p:nvSpPr>
        <p:spPr>
          <a:xfrm>
            <a:off x="6858000" y="288950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 double layer</a:t>
            </a:r>
            <a:endParaRPr lang="en-US" sz="1400" dirty="0"/>
          </a:p>
        </p:txBody>
      </p:sp>
      <p:sp>
        <p:nvSpPr>
          <p:cNvPr id="20" name="Text 17"/>
          <p:cNvSpPr txBox="1"/>
          <p:nvPr/>
        </p:nvSpPr>
        <p:spPr>
          <a:xfrm>
            <a:off x="964692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22" name="Shape 19"/>
          <p:cNvSpPr/>
          <p:nvPr/>
        </p:nvSpPr>
        <p:spPr>
          <a:xfrm>
            <a:off x="6583680" y="3291840"/>
            <a:ext cx="182880" cy="182880"/>
          </a:xfrm>
          <a:prstGeom prst="ellipse">
            <a:avLst/>
          </a:prstGeom>
          <a:solidFill>
            <a:srgbClr val="2F9E44"/>
          </a:solidFill>
          <a:ln w="12700">
            <a:solidFill>
              <a:srgbClr val="2F9E44"/>
            </a:solidFill>
            <a:prstDash val="solid"/>
          </a:ln>
        </p:spPr>
      </p:sp>
      <p:sp>
        <p:nvSpPr>
          <p:cNvPr id="23" name="Text 20"/>
          <p:cNvSpPr txBox="1"/>
          <p:nvPr/>
        </p:nvSpPr>
        <p:spPr>
          <a:xfrm>
            <a:off x="6858000" y="322783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24" name="Text 21"/>
          <p:cNvSpPr txBox="1"/>
          <p:nvPr/>
        </p:nvSpPr>
        <p:spPr>
          <a:xfrm>
            <a:off x="964692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78.6 dB</a:t>
            </a:r>
            <a:endParaRPr lang="en-US" sz="1400" dirty="0"/>
          </a:p>
        </p:txBody>
      </p:sp>
      <p:sp>
        <p:nvSpPr>
          <p:cNvPr id="26" name="Shape 23"/>
          <p:cNvSpPr/>
          <p:nvPr/>
        </p:nvSpPr>
        <p:spPr>
          <a:xfrm>
            <a:off x="6583680" y="3630168"/>
            <a:ext cx="182880" cy="182880"/>
          </a:xfrm>
          <a:prstGeom prst="ellipse">
            <a:avLst/>
          </a:prstGeom>
          <a:solidFill>
            <a:srgbClr val="C2255C"/>
          </a:solidFill>
          <a:ln w="12700">
            <a:solidFill>
              <a:srgbClr val="C2255C"/>
            </a:solidFill>
            <a:prstDash val="solid"/>
          </a:ln>
        </p:spPr>
      </p:sp>
      <p:sp>
        <p:nvSpPr>
          <p:cNvPr id="27" name="Text 24"/>
          <p:cNvSpPr txBox="1"/>
          <p:nvPr/>
        </p:nvSpPr>
        <p:spPr>
          <a:xfrm>
            <a:off x="6858000" y="356616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Inner felt + outer PU foam</a:t>
            </a:r>
            <a:endParaRPr lang="en-US" sz="1400" dirty="0"/>
          </a:p>
        </p:txBody>
      </p:sp>
      <p:sp>
        <p:nvSpPr>
          <p:cNvPr id="28" name="Text 25"/>
          <p:cNvSpPr txBox="1"/>
          <p:nvPr/>
        </p:nvSpPr>
        <p:spPr>
          <a:xfrm>
            <a:off x="964692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78.8 dB</a:t>
            </a:r>
            <a:endParaRPr lang="en-US" sz="1400" dirty="0"/>
          </a:p>
        </p:txBody>
      </p:sp>
      <p:sp>
        <p:nvSpPr>
          <p:cNvPr id="30" name="Shape 27"/>
          <p:cNvSpPr/>
          <p:nvPr/>
        </p:nvSpPr>
        <p:spPr>
          <a:xfrm>
            <a:off x="6583680" y="3968496"/>
            <a:ext cx="182880" cy="182880"/>
          </a:xfrm>
          <a:prstGeom prst="ellipse">
            <a:avLst/>
          </a:prstGeom>
          <a:solidFill>
            <a:srgbClr val="1864AB"/>
          </a:solidFill>
          <a:ln w="12700">
            <a:solidFill>
              <a:srgbClr val="1864AB"/>
            </a:solidFill>
            <a:prstDash val="solid"/>
          </a:ln>
        </p:spPr>
      </p:sp>
      <p:sp>
        <p:nvSpPr>
          <p:cNvPr id="31" name="Text 28"/>
          <p:cNvSpPr txBox="1"/>
          <p:nvPr/>
        </p:nvSpPr>
        <p:spPr>
          <a:xfrm>
            <a:off x="6858000" y="390448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32" name="Text 29"/>
          <p:cNvSpPr txBox="1"/>
          <p:nvPr/>
        </p:nvSpPr>
        <p:spPr>
          <a:xfrm>
            <a:off x="964692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79.2 dB</a:t>
            </a:r>
            <a:endParaRPr lang="en-US" sz="1400" dirty="0"/>
          </a:p>
        </p:txBody>
      </p:sp>
      <p:sp>
        <p:nvSpPr>
          <p:cNvPr id="34" name="Shape 31"/>
          <p:cNvSpPr/>
          <p:nvPr/>
        </p:nvSpPr>
        <p:spPr>
          <a:xfrm>
            <a:off x="6583680" y="4306824"/>
            <a:ext cx="182880" cy="182880"/>
          </a:xfrm>
          <a:prstGeom prst="ellipse">
            <a:avLst/>
          </a:prstGeom>
          <a:solidFill>
            <a:srgbClr val="1098AD"/>
          </a:solidFill>
          <a:ln w="12700">
            <a:solidFill>
              <a:srgbClr val="1098AD"/>
            </a:solidFill>
            <a:prstDash val="solid"/>
          </a:ln>
        </p:spPr>
      </p:sp>
      <p:sp>
        <p:nvSpPr>
          <p:cNvPr id="35" name="Text 32"/>
          <p:cNvSpPr txBox="1"/>
          <p:nvPr/>
        </p:nvSpPr>
        <p:spPr>
          <a:xfrm>
            <a:off x="6858000" y="424281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36" name="Text 33"/>
          <p:cNvSpPr txBox="1"/>
          <p:nvPr/>
        </p:nvSpPr>
        <p:spPr>
          <a:xfrm>
            <a:off x="964692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79.3 dB</a:t>
            </a:r>
            <a:endParaRPr lang="en-US" sz="1400" dirty="0"/>
          </a:p>
        </p:txBody>
      </p:sp>
      <p:sp>
        <p:nvSpPr>
          <p:cNvPr id="38" name="Shape 35"/>
          <p:cNvSpPr/>
          <p:nvPr/>
        </p:nvSpPr>
        <p:spPr>
          <a:xfrm>
            <a:off x="6583680" y="4645152"/>
            <a:ext cx="182880" cy="182880"/>
          </a:xfrm>
          <a:prstGeom prst="ellipse">
            <a:avLst/>
          </a:prstGeom>
          <a:solidFill>
            <a:srgbClr val="E03131"/>
          </a:solidFill>
          <a:ln w="12700">
            <a:solidFill>
              <a:srgbClr val="E03131"/>
            </a:solidFill>
            <a:prstDash val="solid"/>
          </a:ln>
        </p:spPr>
      </p:sp>
      <p:sp>
        <p:nvSpPr>
          <p:cNvPr id="39" name="Text 36"/>
          <p:cNvSpPr txBox="1"/>
          <p:nvPr/>
        </p:nvSpPr>
        <p:spPr>
          <a:xfrm>
            <a:off x="6858000" y="458114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40" name="Text 37"/>
          <p:cNvSpPr txBox="1"/>
          <p:nvPr/>
        </p:nvSpPr>
        <p:spPr>
          <a:xfrm>
            <a:off x="964692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79.4 dB</a:t>
            </a:r>
            <a:endParaRPr lang="en-US" sz="1400" dirty="0"/>
          </a:p>
        </p:txBody>
      </p:sp>
      <p:sp>
        <p:nvSpPr>
          <p:cNvPr id="42" name="Shape 39"/>
          <p:cNvSpPr/>
          <p:nvPr/>
        </p:nvSpPr>
        <p:spPr>
          <a:xfrm>
            <a:off x="6583680" y="4983480"/>
            <a:ext cx="182880" cy="182880"/>
          </a:xfrm>
          <a:prstGeom prst="ellipse">
            <a:avLst/>
          </a:prstGeom>
          <a:solidFill>
            <a:srgbClr val="F08C00"/>
          </a:solidFill>
          <a:ln w="12700">
            <a:solidFill>
              <a:srgbClr val="F08C00"/>
            </a:solidFill>
            <a:prstDash val="solid"/>
          </a:ln>
        </p:spPr>
      </p:sp>
      <p:sp>
        <p:nvSpPr>
          <p:cNvPr id="43" name="Text 40"/>
          <p:cNvSpPr txBox="1"/>
          <p:nvPr/>
        </p:nvSpPr>
        <p:spPr>
          <a:xfrm>
            <a:off x="6858000" y="491947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Rubber</a:t>
            </a:r>
            <a:endParaRPr lang="en-US" sz="1400" dirty="0"/>
          </a:p>
        </p:txBody>
      </p:sp>
      <p:sp>
        <p:nvSpPr>
          <p:cNvPr id="44" name="Text 41"/>
          <p:cNvSpPr txBox="1"/>
          <p:nvPr/>
        </p:nvSpPr>
        <p:spPr>
          <a:xfrm>
            <a:off x="964692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80.3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+3.4 to +6.2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louder than bare, on average (bare measured 2 Oct)</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and 7 Oct 2026, 5-inch 3-blade propeller, total level 500 Hz–24 kHz, motor at 2000 µs, corrected microphone files. Radial axis 68–89 dB.</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2026-10-07T12:46:01Z</dcterms:created>
  <dcterms:modified xsi:type="dcterms:W3CDTF">2026-10-07T12:46:01Z</dcterms:modified>
</cp:coreProperties>
</file>