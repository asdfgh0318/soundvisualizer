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44"/>
                </a:solidFill>
                <a:latin typeface="Calibri"/>
              </a:defRPr>
            </a:pPr>
            <a:r>
              <a:rPr sz="1200" b="0" i="0" u="none" strike="noStrike">
                <a:solidFill>
                  <a:srgbClr val="1F2A44"/>
                </a:solidFill>
                <a:latin typeface="Calibri"/>
              </a:rPr>
              <a:t>Błąd pomieszczenia w pasmach (dB, pasmo w Hz)</a:t>
            </a:r>
          </a:p>
        </c:rich>
      </c:tx>
      <c:layout/>
      <c:overlay val="0"/>
    </c:title>
    <c:autoTitleDeleted val="0"/>
    <c:plotArea>
      <c:layout/>
      <c:barChart>
        <c:barDir val="col"/>
        <c:grouping val="clustered"/>
        <c:varyColors val="0"/>
        <c:ser>
          <c:idx val="0"/>
          <c:order val="0"/>
          <c:tx>
            <c:strRef>
              <c:f>Sheet1!$B$1</c:f>
              <c:strCache>
                <c:ptCount val="1"/>
                <c:pt idx="0">
                  <c:v>Początek dnia 3</c:v>
                </c:pt>
              </c:strCache>
            </c:strRef>
          </c:tx>
          <c:spPr>
            <a:solidFill>
              <a:srgbClr val="D6336C"/>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630–1000</c:v>
                  </c:pt>
                  <c:pt idx="3">
                    <c:v>1000–1600</c:v>
                  </c:pt>
                  <c:pt idx="4">
                    <c:v>1600–3000</c:v>
                  </c:pt>
                  <c:pt idx="5">
                    <c:v>5000–6400</c:v>
                  </c:pt>
                </c:lvl>
              </c:multiLvlStrCache>
            </c:multiLvlStrRef>
          </c:cat>
          <c:val>
            <c:numRef>
              <c:f>Sheet1!$B$2:$B$7</c:f>
              <c:numCache>
                <c:formatCode>General</c:formatCode>
                <c:ptCount val="6"/>
                <c:pt idx="0">
                  <c:v>3.33</c:v>
                </c:pt>
                <c:pt idx="1">
                  <c:v>2.57</c:v>
                </c:pt>
                <c:pt idx="2">
                  <c:v>1.57</c:v>
                </c:pt>
                <c:pt idx="3">
                  <c:v>0.8</c:v>
                </c:pt>
                <c:pt idx="4">
                  <c:v>0.87</c:v>
                </c:pt>
                <c:pt idx="5">
                  <c:v>1.04</c:v>
                </c:pt>
              </c:numCache>
            </c:numRef>
          </c:val>
        </c:ser>
        <c:ser>
          <c:idx val="1"/>
          <c:order val="1"/>
          <c:tx>
            <c:strRef>
              <c:f>Sheet1!$C$1</c:f>
              <c:strCache>
                <c:ptCount val="1"/>
                <c:pt idx="0">
                  <c:v>Stan końcowy</c:v>
                </c:pt>
              </c:strCache>
            </c:strRef>
          </c:tx>
          <c:spPr>
            <a:solidFill>
              <a:srgbClr val="2B6CB0"/>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630–1000</c:v>
                  </c:pt>
                  <c:pt idx="3">
                    <c:v>1000–1600</c:v>
                  </c:pt>
                  <c:pt idx="4">
                    <c:v>1600–3000</c:v>
                  </c:pt>
                  <c:pt idx="5">
                    <c:v>5000–6400</c:v>
                  </c:pt>
                </c:lvl>
              </c:multiLvlStrCache>
            </c:multiLvlStrRef>
          </c:cat>
          <c:val>
            <c:numRef>
              <c:f>Sheet1!$C$2:$C$7</c:f>
              <c:numCache>
                <c:formatCode>General</c:formatCode>
                <c:ptCount val="6"/>
                <c:pt idx="0">
                  <c:v>1.99</c:v>
                </c:pt>
                <c:pt idx="1">
                  <c:v>1.52</c:v>
                </c:pt>
                <c:pt idx="2">
                  <c:v>1.47</c:v>
                </c:pt>
                <c:pt idx="3">
                  <c:v>0.85</c:v>
                </c:pt>
                <c:pt idx="4">
                  <c:v>0.96</c:v>
                </c:pt>
                <c:pt idx="5">
                  <c:v>1.17</c:v>
                </c:pt>
              </c:numCache>
            </c:numRef>
          </c:val>
        </c:ser>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8"/>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tytułowy. Zdjęcie (komora_05_10_26.jpg) pokazuje komorę w konfiguracji końcowej (carpet-reordered): pierścień z mikrofonami ułożony poziomo wokół stanowiska ze śmigłem w środku, statyw z głośnikiem po lewej, włóknina na podłodze i suficie, kliny i obłożone słupki na ścianach. Średnica pierścienia 1,68 m (promień 0,84 m), jedenaście mikrofonów UMIK-2.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Dane: pomiar bazowy z 31 sierpnia 2026 (łuk ułożony poziomo, oś śmigła pionowo), śmigło przy PWM 2000, poziom całkowity 20–560 Hz na mikrofon, odczytany z fabrycznymi plikami kalibracyjnymi, tak jak był mierzony. Rozrzut skuteczny wokół średniej 2,05 dB, rozstęp 6,7 dB (63,9 do 70,6 dB SPL). Oś promieniowa 30–76 dB jest taka sama jak na wykresach w raporcie, więc ta sama czerwona krzywa może być pokazana obok pomiaru z 30 września na dalszym slajdzie. Na osi 0–80 dB ta sama krzywa wygląda na okrąglejszą.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Procedura (calibrator/session.py, sesja 16.09.2026): każdą z jedenastu kapsuł UMIK-2 podłączano po kolei w tym samym punkcie montażu przed głośnikiem i mierzono 97 tonów krokowych od 62 Hz do 16 kHz (około 12 na oktawę), amplituda 0,03, próbkowanie 48 kHz, 0,7 s na ustabilizowanie i 2 s zapisu na ton (6 s poniżej 250 Hz). Kapsułę 810-8904 zmierzono trzy razy w całości (18:21, 18:30, 20:43) jako odniesienie. Różnicę każdej kapsuły względem odniesienia dodano do jej krzywej kalibracyjnej; współczynniki czułości zostały takie jak w plikach fabrycznych. Wzorcem jest średnia czterech kapsuł, których pliki fabryczne zgadzają się z pomiarem (810-8900, 810-8903, 811-1896, 811-2321). Rozrzut 4,01 → 0,02 dB pochodzi z notatek projektu: to sprawdzenie w tej samej sesji, bo poprawki pochodzą z tej sesji, a poziom bezwzględny nie jest zakotwiczony (potrzebny kalibrator 94 dB). Siedem kapsuł ma średnie odchylenie powyżej 0,6 dB w funkcji częstotliwości, od 0,76 do 2,59 dB; najgorsza pojedyncza częstotliwość to 3,48 dB (811-1892), z pliku CORRECTIONS-2026-09-16.csv.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sam rysunek co w rozdziale 1 raportu, narysowany większy. Te same dwa pomiary skalibrowano na dwa sposoby: plikami fabrycznymi i poprawkami zmierzonymi 16 września. Rozstęp to zakres średnich poziomów kapsuł: 4,3 do 0,8 dB na początku dnia 3 i 4,1 do 1,0 dB w konfiguracji końcowej. Błąd pomieszczenia poniżej 3 kHz: 2,277 do 1,997 dB oraz 1,736 do 1,387 dB. Zmiana to głównie przesunięcie każdej kapsuły, więc głównie przesuwa całe wiersze.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sama para co na stronie 3 raportu (day3-a o 13:17, carpet-reordered o 19:15, oba 25 września), odczytana z poprawionymi plikami mikrofonów. Błąd pomieszczenia to wartość skuteczna odchylenia jedenastu mikrofonów od ich średniej, w paśmie. Poniżej 630 Hz błąd skuteczny spadł z 2,98 do 1,78 dB (1,2 dB, 40 %); między 1 a 3 kHz zmienił się z 0,84 na 0,91 dB. Początek dnia 3: 3,33; 2,57; 1,57; 0,80; 0,87; 1,04 dB; stan końcowy: 1,99; 1,52; 1,47; 0,85; 0,96; 1,17 dB dla pasm 250–400, 400–630, 630–1000, 1000–1600, 1600–3000 i 5000–6400 Hz. Zastrzeżenie z raportu: w ciągu dnia głośnik przesuwano celowo (20 cm bliżej, do płaszczyzny pierścienia, 5 cm do tyłu), po czym wrócił mniej więcej do pozycji wyjściowej, której nie zapisano. Pochylenie mapy zmieniło się z −0,41 na −0,63, a średni poziom wzrósł o 1,16 dB, więc zysk to zabiegi plus niewielka, nieznana różnica położenia źródła, a część może wynikać z głośniejszego dźwięku bezpośredniego. Czysta para z nieruszanym źródłem to 24 września: pusta podłoga 2,054 do dywanu 1,317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sama tabela co na stronie 4 raportu. Każde pasmo tercjowe oceniono względem wartości tolerancji dla komory bezechowej z tabeli 1 normy ISO 5305 (także ISO 3745 w ujęciu Cunefare 2003): ±1,5 dB dla 125–630 Hz, ±1,0 dB dla 800–5000 Hz. Liczba to odchylenie średniej pasma najgorszego mikrofonu od średniej łuku, w dB; kolor to ta liczba jako ułamek limitu. „Komórki w limicie” liczy komórki ton × mikrofon mieszczące się w limicie (3 tony × 11 mikrofonów = 33 komórki przy 250 Hz, gdzie siatka zaczyna się od 257 Hz). To analogia: normy używają przemieszczanego mikrofonu i badają zanik z odległością, my mamy jedenaście stałych mikrofonów na jednym promieniu. Pomieszczenie jest wygłuszone, ale nie zakwalifikowane. W tolerancji od 1250 Hz na początku dnia 3 i od 2000 Hz w stanie końcowym, do 2500 Hz. Wiersze z gwiazdką (5000 i 6300 Hz) są częściowe: 4 i 5 tonów powyżej 5 kHz, limit ±1,0 dB przy 5000 Hz i ±1,5 dB przy 6300 Hz (ISO 5305, tabela 1). Oba są ponad limitem w obu stanach (1,24 i 1,23 dB; 1,59 i 1,77 dB). Pasm 3150 i 4000 Hz nie pokazano: brak tonów między 3 a 5 kHz z powodu trybu kołyszącego kuli przy około 4,4 kHz. Zastrzeżenie: położenia głośnika nie zapisano w ciągu dnia.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Niebieski: pomiar śmigła z 30 września (11,7 V, 7,3 A, ciąg −4 N), odczytany z poprawkami mikrofonów z 16 września. Rozrzut skuteczny wokół średniej 1,45 dB wobec 2,05 dB dla 31 sierpnia; rozstęp 4,0 dB (55,5 do 59,6 dB SPL) wobec 6,7 dB. Niebieski jest o około 11 dB niższy, ale nie można tego przypisać napięciu zasilania (niebieski miał wyższe napięcie): pomiary wykonano różnymi śmigłami, a kierunek ciągu był odwrócony, więc poziomów nie wolno porównywać. Rozstęp 4 dB niebieskiego to trend: głośniej na dole. Uczciwe zastrzeżenie: po zastosowaniu tej samej kalibracji do pomiarów z 1–2 września są one mniej więcej tak samo okrągłe jak z 30 września, więc większość poprawy względem wcześniejszych pomiarów bazowych pochodzi z kalibracji mikrofonów, nie z pomieszczenia.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Zestawy pomiarowe z 2 października 2026 w repozytorium danych: 2004__5in3b__unset__v1-naked-horizontal, ...cork__v1-cork-horizontal, ...rubber__v1-rubber, ...felt__v1-felt, ...felt-rubber__v1-felt-rubber. Każdy zapis to krok PWM 2000; poziom na mikrofon to poziom całkowity 100 Hz–10 kHz w dB SPL, odczytany z poprawionymi plikami mikrofonów (wszystkie po 16 września). Wykres jest odbity do 360 stopni. Średnia z jedenastu pozycji: bez materiału 74,2, korek 78,7, guma 80,6, filc 79,5, filc z gumą 78,7 dB. Przy −90 stopni (strumień wylotowy) wszystkie pięć mieści się w 93,7–98,3 dB. Slajd pokazuje poziomy tak, jak zmierzono; punktów pracy (napięcie, ciąg) tu nie porównywano.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pic>
        <p:nvPicPr>
          <p:cNvPr id="2" name="Image 0" descr="Komora w obecnej konfiguracji: pierścień z mikrofonami ułożony poziomo wokół stanowiska ze śmigłem, statyw z głośnikiem po lewej, materiał pochłaniający na podłodze, suficie i ścianach">    </p:cNvPr>
          <p:cNvPicPr>
            <a:picLocks noChangeAspect="1"/>
          </p:cNvPicPr>
          <p:nvPr/>
        </p:nvPicPr>
        <p:blipFill>
          <a:blip r:embed="rId1"/>
          <a:srcRect l="0" r="0" t="0" b="0"/>
          <a:stretch/>
        </p:blipFill>
        <p:spPr>
          <a:xfrm>
            <a:off x="0" y="0"/>
            <a:ext cx="5166360" cy="6858000"/>
          </a:xfrm>
          <a:prstGeom prst="rect">
            <a:avLst/>
          </a:prstGeom>
        </p:spPr>
      </p:pic>
      <p:sp>
        <p:nvSpPr>
          <p:cNvPr id="3" name="Text 0"/>
          <p:cNvSpPr txBox="1"/>
          <p:nvPr/>
        </p:nvSpPr>
        <p:spPr>
          <a:xfrm>
            <a:off x="5760720" y="2651760"/>
            <a:ext cx="6217920" cy="12801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 pogoni za okrągłym wykresem biegunowym</a:t>
            </a:r>
            <a:endParaRPr lang="en-US" sz="3400" dirty="0"/>
          </a:p>
        </p:txBody>
      </p:sp>
      <p:sp>
        <p:nvSpPr>
          <p:cNvPr id="4" name="Text 1"/>
          <p:cNvSpPr txBox="1"/>
          <p:nvPr/>
        </p:nvSpPr>
        <p:spPr>
          <a:xfrm>
            <a:off x="5760720" y="5760720"/>
            <a:ext cx="5760720" cy="731520"/>
          </a:xfrm>
          <a:prstGeom prst="rect">
            <a:avLst/>
          </a:prstGeom>
          <a:noFill/>
          <a:ln/>
        </p:spPr>
        <p:txBody>
          <a:bodyPr wrap="square" lIns="0" tIns="0" rIns="0" bIns="0" rtlCol="0" anchor="t"/>
          <a:lstStyle/>
          <a:p>
            <a:pPr indent="0" marL="0">
              <a:buNone/>
            </a:pPr>
            <a:r>
              <a:rPr lang="en-US" sz="1400" dirty="0">
                <a:solidFill>
                  <a:srgbClr val="AFC3E3"/>
                </a:solidFill>
                <a:latin typeface="Calibri" pitchFamily="34" charset="0"/>
                <a:ea typeface="Calibri" pitchFamily="34" charset="-122"/>
                <a:cs typeface="Calibri" pitchFamily="34" charset="-120"/>
              </a:rPr>
              <a:t>Nasza komora w obecnej konfiguracji (5 października 2026): jedenaście mikrofonów na pierścieniu wokół źródła, materiał pochłaniający na podłodze, suficie i ścianach.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ykres biegunowy pomiaru śmigła z 31 sierpnia, 20–560 Hz, o postrzępionym kształcie">    </p:cNvPr>
          <p:cNvPicPr>
            <a:picLocks noChangeAspect="1"/>
          </p:cNvPicPr>
          <p:nvPr/>
        </p:nvPicPr>
        <p:blipFill>
          <a:blip r:embed="rId1"/>
          <a:stretch>
            <a:fillRect/>
          </a:stretch>
        </p:blipFill>
        <p:spPr>
          <a:xfrm>
            <a:off x="548640" y="594360"/>
            <a:ext cx="5669280" cy="5669280"/>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D6336C"/>
                </a:solidFill>
                <a:latin typeface="Calibri" pitchFamily="34" charset="0"/>
                <a:ea typeface="Calibri" pitchFamily="34" charset="-122"/>
                <a:cs typeface="Calibri" pitchFamily="34" charset="-120"/>
              </a:rPr>
              <a:t>PROBLEM</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Nasz wykres biegunowy jest postrzępiony</a:t>
            </a:r>
            <a:endParaRPr lang="en-US" sz="26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Mierzyliśmy śmigło, ustawiając łuk z mikrofonami w płaszczyźnie równoległej do tarczy śmigła.</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Śmigło jest symetryczne względem swojej osi, więc każdy mikrofon powinien pokazywać mniej więcej to samo.</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Spodziewaliśmy się gładkiego, prawie okrągłego wykresu. Zobaczyliśmy postrzępiony kształt.</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między najgłośniejszym a najcichszym z jedenastu mikrofonów</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31 sierpnia 2026, 20–560 Hz, silnik przy 2000 µs. Oś promieniowa 30–76 dB, taka sama jak w raporcie.</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NAPRAWA</a:t>
            </a:r>
            <a:endParaRPr lang="en-US" sz="1400" dirty="0"/>
          </a:p>
        </p:txBody>
      </p:sp>
      <p:sp>
        <p:nvSpPr>
          <p:cNvPr id="3" name="Text 1"/>
          <p:cNvSpPr txBox="1"/>
          <p:nvPr/>
        </p:nvSpPr>
        <p:spPr>
          <a:xfrm>
            <a:off x="548640" y="822960"/>
            <a:ext cx="11064240" cy="731520"/>
          </a:xfrm>
          <a:prstGeom prst="rect">
            <a:avLst/>
          </a:prstGeom>
          <a:noFill/>
          <a:ln/>
        </p:spPr>
        <p:txBody>
          <a:bodyPr wrap="square" lIns="0" tIns="0" rIns="0" bIns="0" rtlCol="0" anchor="t"/>
          <a:lstStyle/>
          <a:p>
            <a:pPr indent="0" marL="0">
              <a:buNone/>
            </a:pPr>
            <a:r>
              <a:rPr lang="en-US" sz="3200" b="1" dirty="0">
                <a:solidFill>
                  <a:srgbClr val="1F2A44"/>
                </a:solidFill>
                <a:latin typeface="Cambria" pitchFamily="34" charset="0"/>
                <a:ea typeface="Cambria" pitchFamily="34" charset="-122"/>
                <a:cs typeface="Cambria" pitchFamily="34" charset="-120"/>
              </a:rPr>
              <a:t>Co zrobiliśmy: każdy mikrofon, jeden głośnik</a:t>
            </a:r>
            <a:endParaRPr lang="en-US" sz="3200" dirty="0"/>
          </a:p>
        </p:txBody>
      </p:sp>
      <p:pic>
        <p:nvPicPr>
          <p:cNvPr id="4" name="Image 0" descr="Nasz głośnik: drukowana kula z głośnikiem o średnicy 8 cm">    </p:cNvPr>
          <p:cNvPicPr>
            <a:picLocks noChangeAspect="1"/>
          </p:cNvPicPr>
          <p:nvPr/>
        </p:nvPicPr>
        <p:blipFill>
          <a:blip r:embed="rId1"/>
          <a:srcRect l="0" r="0" t="0" b="0"/>
          <a:stretch/>
        </p:blipFill>
        <p:spPr>
          <a:xfrm>
            <a:off x="822960" y="1828800"/>
            <a:ext cx="1920240" cy="2240280"/>
          </a:xfrm>
          <a:prstGeom prst="rect">
            <a:avLst/>
          </a:prstGeom>
        </p:spPr>
      </p:pic>
      <p:sp>
        <p:nvSpPr>
          <p:cNvPr id="5" name="Text 2"/>
          <p:cNvSpPr txBox="1"/>
          <p:nvPr/>
        </p:nvSpPr>
        <p:spPr>
          <a:xfrm>
            <a:off x="548640" y="4160520"/>
            <a:ext cx="2468880" cy="320040"/>
          </a:xfrm>
          <a:prstGeom prst="rect">
            <a:avLst/>
          </a:prstGeom>
          <a:noFill/>
          <a:ln/>
        </p:spPr>
        <p:txBody>
          <a:bodyPr wrap="square" lIns="0" tIns="0" rIns="0" bIns="0" rtlCol="0" anchor="ctr"/>
          <a:lstStyle/>
          <a:p>
            <a:pPr algn="ctr" indent="0" marL="0">
              <a:buNone/>
            </a:pPr>
            <a:r>
              <a:rPr lang="en-US" sz="1600" dirty="0">
                <a:solidFill>
                  <a:srgbClr val="1F2A44"/>
                </a:solidFill>
                <a:latin typeface="Calibri" pitchFamily="34" charset="0"/>
                <a:ea typeface="Calibri" pitchFamily="34" charset="-122"/>
                <a:cs typeface="Calibri" pitchFamily="34" charset="-120"/>
              </a:rPr>
              <a:t>Nasz głośnik</a:t>
            </a:r>
            <a:endParaRPr lang="en-US" sz="1600" dirty="0"/>
          </a:p>
        </p:txBody>
      </p:sp>
      <p:sp>
        <p:nvSpPr>
          <p:cNvPr id="6" name="Text 3"/>
          <p:cNvSpPr txBox="1"/>
          <p:nvPr/>
        </p:nvSpPr>
        <p:spPr>
          <a:xfrm>
            <a:off x="3063240" y="2331720"/>
            <a:ext cx="2194560" cy="320040"/>
          </a:xfrm>
          <a:prstGeom prst="rect">
            <a:avLst/>
          </a:prstGeom>
          <a:noFill/>
          <a:ln/>
        </p:spPr>
        <p:txBody>
          <a:bodyPr wrap="square" lIns="0" tIns="0" rIns="0" bIns="0" rtlCol="0" anchor="ctr"/>
          <a:lstStyle/>
          <a:p>
            <a:pPr algn="ctr" indent="0" marL="0">
              <a:buNone/>
            </a:pPr>
            <a:r>
              <a:rPr lang="en-US" sz="1400" dirty="0">
                <a:solidFill>
                  <a:srgbClr val="5B6578"/>
                </a:solidFill>
                <a:latin typeface="Calibri" pitchFamily="34" charset="0"/>
                <a:ea typeface="Calibri" pitchFamily="34" charset="-122"/>
                <a:cs typeface="Calibri" pitchFamily="34" charset="-120"/>
              </a:rPr>
              <a:t>tony, 62 Hz–16 kHz</a:t>
            </a:r>
            <a:endParaRPr lang="en-US" sz="1400" dirty="0"/>
          </a:p>
        </p:txBody>
      </p:sp>
      <p:sp>
        <p:nvSpPr>
          <p:cNvPr id="7" name="Shape 4"/>
          <p:cNvSpPr/>
          <p:nvPr/>
        </p:nvSpPr>
        <p:spPr>
          <a:xfrm>
            <a:off x="3154680" y="2971800"/>
            <a:ext cx="2011680" cy="0"/>
          </a:xfrm>
          <a:prstGeom prst="line">
            <a:avLst/>
          </a:prstGeom>
          <a:noFill/>
          <a:ln w="38100">
            <a:solidFill>
              <a:srgbClr val="D6336C"/>
            </a:solidFill>
            <a:prstDash val="dash"/>
            <a:tailEnd type="triangle"/>
          </a:ln>
        </p:spPr>
      </p:sp>
      <p:pic>
        <p:nvPicPr>
          <p:cNvPr id="8" name="Image 1" descr="Mikrofon pomiarowy UMIK-2, kapsuła po lewej stronie zwrócona do głośnika">    </p:cNvPr>
          <p:cNvPicPr>
            <a:picLocks noChangeAspect="1"/>
          </p:cNvPicPr>
          <p:nvPr/>
        </p:nvPicPr>
        <p:blipFill>
          <a:blip r:embed="rId2"/>
          <a:stretch>
            <a:fillRect/>
          </a:stretch>
        </p:blipFill>
        <p:spPr>
          <a:xfrm>
            <a:off x="5394960" y="2514600"/>
            <a:ext cx="4754880" cy="1284732"/>
          </a:xfrm>
          <a:prstGeom prst="rect">
            <a:avLst/>
          </a:prstGeom>
        </p:spPr>
      </p:pic>
      <p:sp>
        <p:nvSpPr>
          <p:cNvPr id="9" name="Text 5"/>
          <p:cNvSpPr txBox="1"/>
          <p:nvPr/>
        </p:nvSpPr>
        <p:spPr>
          <a:xfrm>
            <a:off x="5394960" y="3931920"/>
            <a:ext cx="6217920" cy="320040"/>
          </a:xfrm>
          <a:prstGeom prst="rect">
            <a:avLst/>
          </a:prstGeom>
          <a:noFill/>
          <a:ln/>
        </p:spPr>
        <p:txBody>
          <a:bodyPr wrap="square" lIns="0" tIns="0" rIns="0" bIns="0" rtlCol="0" anchor="ctr"/>
          <a:lstStyle/>
          <a:p>
            <a:pPr indent="0" marL="0">
              <a:buNone/>
            </a:pPr>
            <a:r>
              <a:rPr lang="en-US" sz="1600" b="1" dirty="0">
                <a:solidFill>
                  <a:srgbClr val="2B6CB0"/>
                </a:solidFill>
                <a:latin typeface="Calibri" pitchFamily="34" charset="0"/>
                <a:ea typeface="Calibri" pitchFamily="34" charset="-122"/>
                <a:cs typeface="Calibri" pitchFamily="34" charset="-120"/>
              </a:rPr>
              <a:t>Mikrofon UMIK-2, kapsuła zwrócona do głośnika</a:t>
            </a:r>
            <a:endParaRPr lang="en-US" sz="1600" dirty="0"/>
          </a:p>
        </p:txBody>
      </p:sp>
      <p:sp>
        <p:nvSpPr>
          <p:cNvPr id="10" name="Text 6"/>
          <p:cNvSpPr txBox="1"/>
          <p:nvPr/>
        </p:nvSpPr>
        <p:spPr>
          <a:xfrm>
            <a:off x="548640" y="4754880"/>
            <a:ext cx="640080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97 tonów na mikrofon, 62 Hz–16 kHz, 12 na oktawę (przemiatanie krokowe)</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Jeden ton naraz: 0,7 s ustalania, 2 s zapisu (6 s poniżej 250 Hz)</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Mikrofony wymieniane po kolei: ta sama pozycja, głośnik i poziom</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Jeden mikrofon zmierzony trzy razy jako odniesienie</a:t>
            </a:r>
            <a:endParaRPr lang="en-US" sz="1400" dirty="0"/>
          </a:p>
        </p:txBody>
      </p:sp>
      <p:sp>
        <p:nvSpPr>
          <p:cNvPr id="11" name="Text 7"/>
          <p:cNvSpPr txBox="1"/>
          <p:nvPr/>
        </p:nvSpPr>
        <p:spPr>
          <a:xfrm>
            <a:off x="7498080" y="4617720"/>
            <a:ext cx="4206240" cy="68580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4,01</a:t>
            </a:r>
            <a:r>
              <a:rPr lang="en-US" sz="4000" b="1" dirty="0">
                <a:solidFill>
                  <a:srgbClr val="5B6578"/>
                </a:solidFill>
                <a:latin typeface="Cambria" pitchFamily="34" charset="0"/>
                <a:ea typeface="Cambria" pitchFamily="34" charset="-122"/>
                <a:cs typeface="Cambria" pitchFamily="34" charset="-120"/>
              </a:rPr>
              <a:t> → </a:t>
            </a:r>
            <a:r>
              <a:rPr lang="en-US" sz="4000" b="1" dirty="0">
                <a:solidFill>
                  <a:srgbClr val="2B6CB0"/>
                </a:solidFill>
                <a:latin typeface="Cambria" pitchFamily="34" charset="0"/>
                <a:ea typeface="Cambria" pitchFamily="34" charset="-122"/>
                <a:cs typeface="Cambria" pitchFamily="34" charset="-120"/>
              </a:rPr>
              <a:t>0,02 dB</a:t>
            </a:r>
            <a:endParaRPr lang="en-US" sz="4000" dirty="0"/>
          </a:p>
        </p:txBody>
      </p:sp>
      <p:sp>
        <p:nvSpPr>
          <p:cNvPr id="12" name="Text 8"/>
          <p:cNvSpPr txBox="1"/>
          <p:nvPr/>
        </p:nvSpPr>
        <p:spPr>
          <a:xfrm>
            <a:off x="7498080" y="5303520"/>
            <a:ext cx="4206240" cy="457200"/>
          </a:xfrm>
          <a:prstGeom prst="rect">
            <a:avLst/>
          </a:prstGeom>
          <a:noFill/>
          <a:ln/>
        </p:spPr>
        <p:txBody>
          <a:bodyPr wrap="square" lIns="0" tIns="0" rIns="0" bIns="0" rtlCol="0" anchor="t"/>
          <a:lstStyle/>
          <a:p>
            <a:pPr indent="0" marL="0">
              <a:buNone/>
            </a:pPr>
            <a:r>
              <a:rPr lang="en-US" sz="1400" dirty="0">
                <a:solidFill>
                  <a:srgbClr val="5B6578"/>
                </a:solidFill>
                <a:latin typeface="Calibri" pitchFamily="34" charset="0"/>
                <a:ea typeface="Calibri" pitchFamily="34" charset="-122"/>
                <a:cs typeface="Calibri" pitchFamily="34" charset="-120"/>
              </a:rPr>
              <a:t>rozrzut między jedenastoma mikrofonami dla tego samego dźwięku</a:t>
            </a:r>
            <a:endParaRPr lang="en-US" sz="1400" dirty="0"/>
          </a:p>
        </p:txBody>
      </p:sp>
      <p:sp>
        <p:nvSpPr>
          <p:cNvPr id="13" name="Text 9"/>
          <p:cNvSpPr txBox="1"/>
          <p:nvPr/>
        </p:nvSpPr>
        <p:spPr>
          <a:xfrm>
            <a:off x="7498080" y="5806440"/>
            <a:ext cx="4206240" cy="457200"/>
          </a:xfrm>
          <a:prstGeom prst="rect">
            <a:avLst/>
          </a:prstGeom>
          <a:noFill/>
          <a:ln/>
        </p:spPr>
        <p:txBody>
          <a:bodyPr wrap="square" lIns="0" tIns="0" rIns="0" bIns="0" rtlCol="0" anchor="t"/>
          <a:lstStyle/>
          <a:p>
            <a:pPr indent="0" marL="0">
              <a:buNone/>
            </a:pPr>
            <a:r>
              <a:rPr lang="en-US" sz="1400" b="1" dirty="0">
                <a:solidFill>
                  <a:srgbClr val="1F2A44"/>
                </a:solidFill>
                <a:latin typeface="Calibri" pitchFamily="34" charset="0"/>
                <a:ea typeface="Calibri" pitchFamily="34" charset="-122"/>
                <a:cs typeface="Calibri" pitchFamily="34" charset="-120"/>
              </a:rPr>
              <a:t>7 z 11 fabrycznych plików odbiegało średnio o 0,8–2,6 dB</a:t>
            </a:r>
            <a:endParaRPr lang="en-US" sz="1400" dirty="0"/>
          </a:p>
        </p:txBody>
      </p:sp>
      <p:sp>
        <p:nvSpPr>
          <p:cNvPr id="14" name="Text 10"/>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Sesja kalibracyjna 16 września 2026, amplituda głośnika 0,03 pełnej skali. Zdjęcie UMIK-2: karta produktu miniDSP.</a:t>
            </a:r>
            <a:endParaRPr lang="en-US" sz="1100" dirty="0"/>
          </a:p>
        </p:txBody>
      </p:sp>
      <p:sp>
        <p:nvSpPr>
          <p:cNvPr id="15" name="Text 11"/>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py każdego mikrofonu w funkcji częstotliwości dla dwóch pomiarów: pliki fabryczne (góra), z poprawkami (środek), efekt poprawki (dół)">    </p:cNvPr>
          <p:cNvPicPr>
            <a:picLocks noChangeAspect="1"/>
          </p:cNvPicPr>
          <p:nvPr/>
        </p:nvPicPr>
        <p:blipFill>
          <a:blip r:embed="rId1"/>
          <a:stretch>
            <a:fillRect/>
          </a:stretch>
        </p:blipFill>
        <p:spPr>
          <a:xfrm>
            <a:off x="274320" y="274320"/>
            <a:ext cx="7370064" cy="5852160"/>
          </a:xfrm>
          <a:prstGeom prst="rect">
            <a:avLst/>
          </a:prstGeom>
        </p:spPr>
      </p:pic>
      <p:sp>
        <p:nvSpPr>
          <p:cNvPr id="3" name="Text 0"/>
          <p:cNvSpPr txBox="1"/>
          <p:nvPr/>
        </p:nvSpPr>
        <p:spPr>
          <a:xfrm>
            <a:off x="8183880" y="64008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WYNIK</a:t>
            </a:r>
            <a:endParaRPr lang="en-US" sz="1400" dirty="0"/>
          </a:p>
        </p:txBody>
      </p:sp>
      <p:sp>
        <p:nvSpPr>
          <p:cNvPr id="4" name="Text 1"/>
          <p:cNvSpPr txBox="1"/>
          <p:nvPr/>
        </p:nvSpPr>
        <p:spPr>
          <a:xfrm>
            <a:off x="8183880" y="960120"/>
            <a:ext cx="3566160" cy="155448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Poprawka usuwa przesunięcia mikrofonów</a:t>
            </a:r>
            <a:endParaRPr lang="en-US" sz="2600" dirty="0"/>
          </a:p>
        </p:txBody>
      </p:sp>
      <p:sp>
        <p:nvSpPr>
          <p:cNvPr id="5" name="Text 2"/>
          <p:cNvSpPr txBox="1"/>
          <p:nvPr/>
        </p:nvSpPr>
        <p:spPr>
          <a:xfrm>
            <a:off x="8183880" y="260604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F2A44"/>
                </a:solidFill>
                <a:latin typeface="Calibri" pitchFamily="34" charset="0"/>
                <a:ea typeface="Calibri" pitchFamily="34" charset="-122"/>
                <a:cs typeface="Calibri" pitchFamily="34" charset="-120"/>
              </a:rPr>
              <a:t>Góra</a:t>
            </a:r>
            <a:r>
              <a:rPr lang="en-US" sz="1400" dirty="0">
                <a:solidFill>
                  <a:srgbClr val="1F2A44"/>
                </a:solidFill>
                <a:latin typeface="Calibri" pitchFamily="34" charset="0"/>
                <a:ea typeface="Calibri" pitchFamily="34" charset="-122"/>
                <a:cs typeface="Calibri" pitchFamily="34" charset="-120"/>
              </a:rPr>
              <a:t>: pliki fabryczne. </a:t>
            </a:r>
            <a:r>
              <a:rPr lang="en-US" sz="1400" b="1" dirty="0">
                <a:solidFill>
                  <a:srgbClr val="1F2A44"/>
                </a:solidFill>
                <a:latin typeface="Calibri" pitchFamily="34" charset="0"/>
                <a:ea typeface="Calibri" pitchFamily="34" charset="-122"/>
                <a:cs typeface="Calibri" pitchFamily="34" charset="-120"/>
              </a:rPr>
              <a:t>Środek</a:t>
            </a:r>
            <a:r>
              <a:rPr lang="en-US" sz="1400" dirty="0">
                <a:solidFill>
                  <a:srgbClr val="1F2A44"/>
                </a:solidFill>
                <a:latin typeface="Calibri" pitchFamily="34" charset="0"/>
                <a:ea typeface="Calibri" pitchFamily="34" charset="-122"/>
                <a:cs typeface="Calibri" pitchFamily="34" charset="-120"/>
              </a:rPr>
              <a:t>: z poprawkami. </a:t>
            </a:r>
            <a:r>
              <a:rPr lang="en-US" sz="1400" b="1" dirty="0">
                <a:solidFill>
                  <a:srgbClr val="1F2A44"/>
                </a:solidFill>
                <a:latin typeface="Calibri" pitchFamily="34" charset="0"/>
                <a:ea typeface="Calibri" pitchFamily="34" charset="-122"/>
                <a:cs typeface="Calibri" pitchFamily="34" charset="-120"/>
              </a:rPr>
              <a:t>Dół</a:t>
            </a:r>
            <a:r>
              <a:rPr lang="en-US" sz="1400" dirty="0">
                <a:solidFill>
                  <a:srgbClr val="1F2A44"/>
                </a:solidFill>
                <a:latin typeface="Calibri" pitchFamily="34" charset="0"/>
                <a:ea typeface="Calibri" pitchFamily="34" charset="-122"/>
                <a:cs typeface="Calibri" pitchFamily="34" charset="-120"/>
              </a:rPr>
              <a:t>: co zmieniła poprawka.</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Pasek przez wszystkie częstotliwości to jeden mikrofon, który pokazuje za głośno lub za cicho. W środkowym rzędzie go nie ma.</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Obraz pomieszczenia zostaje: przesuwają się całe wiersze, a nie struktura częstotliwościowa.</a:t>
            </a:r>
            <a:endParaRPr lang="en-US" sz="1400" dirty="0"/>
          </a:p>
        </p:txBody>
      </p:sp>
      <p:sp>
        <p:nvSpPr>
          <p:cNvPr id="6" name="Text 3"/>
          <p:cNvSpPr txBox="1"/>
          <p:nvPr/>
        </p:nvSpPr>
        <p:spPr>
          <a:xfrm>
            <a:off x="8183880" y="5074920"/>
            <a:ext cx="3566160" cy="640080"/>
          </a:xfrm>
          <a:prstGeom prst="rect">
            <a:avLst/>
          </a:prstGeom>
          <a:noFill/>
          <a:ln/>
        </p:spPr>
        <p:txBody>
          <a:bodyPr wrap="square" lIns="0" tIns="0" rIns="0" bIns="0" rtlCol="0" anchor="ctr"/>
          <a:lstStyle/>
          <a:p>
            <a:pPr indent="0" marL="0">
              <a:buNone/>
            </a:pPr>
            <a:r>
              <a:rPr lang="en-US" sz="3600" b="1" dirty="0">
                <a:solidFill>
                  <a:srgbClr val="D6336C"/>
                </a:solidFill>
                <a:latin typeface="Cambria" pitchFamily="34" charset="0"/>
                <a:ea typeface="Cambria" pitchFamily="34" charset="-122"/>
                <a:cs typeface="Cambria" pitchFamily="34" charset="-120"/>
              </a:rPr>
              <a:t>4,3</a:t>
            </a:r>
            <a:r>
              <a:rPr lang="en-US" sz="3600" b="1" dirty="0">
                <a:solidFill>
                  <a:srgbClr val="5B6578"/>
                </a:solidFill>
                <a:latin typeface="Cambria" pitchFamily="34" charset="0"/>
                <a:ea typeface="Cambria" pitchFamily="34" charset="-122"/>
                <a:cs typeface="Cambria" pitchFamily="34" charset="-120"/>
              </a:rPr>
              <a:t> → </a:t>
            </a:r>
            <a:r>
              <a:rPr lang="en-US" sz="3600" b="1" dirty="0">
                <a:solidFill>
                  <a:srgbClr val="2B6CB0"/>
                </a:solidFill>
                <a:latin typeface="Cambria" pitchFamily="34" charset="0"/>
                <a:ea typeface="Cambria" pitchFamily="34" charset="-122"/>
                <a:cs typeface="Cambria" pitchFamily="34" charset="-120"/>
              </a:rPr>
              <a:t>0,8 dB</a:t>
            </a:r>
            <a:endParaRPr lang="en-US" sz="3600" dirty="0"/>
          </a:p>
        </p:txBody>
      </p:sp>
      <p:sp>
        <p:nvSpPr>
          <p:cNvPr id="7" name="Text 4"/>
          <p:cNvSpPr txBox="1"/>
          <p:nvPr/>
        </p:nvSpPr>
        <p:spPr>
          <a:xfrm>
            <a:off x="8183880" y="5715000"/>
            <a:ext cx="3566160" cy="54864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różnica między najgłośniejszym a najcichszym mikrofonem dla tego samego dźwięku: pliki fabryczne → z poprawkami (początek dnia 3; stan końcowy 4,1 → 1,0 dB)</a:t>
            </a:r>
            <a:endParaRPr lang="en-US" sz="1200" dirty="0"/>
          </a:p>
        </p:txBody>
      </p:sp>
      <p:sp>
        <p:nvSpPr>
          <p:cNvPr id="8" name="Text 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Dwa pomiary z 25 września 2026: początek dnia 3 (po lewej) i konfiguracja końcowa (po prawej).</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apy każdego mikrofonu w funkcji częstotliwości: początek dnia 3, stan końcowy i różnica między nimi">    </p:cNvPr>
          <p:cNvPicPr>
            <a:picLocks noChangeAspect="1"/>
          </p:cNvPicPr>
          <p:nvPr/>
        </p:nvPicPr>
        <p:blipFill>
          <a:blip r:embed="rId1"/>
          <a:stretch>
            <a:fillRect/>
          </a:stretch>
        </p:blipFill>
        <p:spPr>
          <a:xfrm>
            <a:off x="274320" y="274320"/>
            <a:ext cx="6940296" cy="5897880"/>
          </a:xfrm>
          <a:prstGeom prst="rect">
            <a:avLst/>
          </a:prstGeom>
        </p:spPr>
      </p:pic>
      <p:sp>
        <p:nvSpPr>
          <p:cNvPr id="3"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KOMORA</a:t>
            </a:r>
            <a:endParaRPr lang="en-US" sz="1400" dirty="0"/>
          </a:p>
        </p:txBody>
      </p:sp>
      <p:sp>
        <p:nvSpPr>
          <p:cNvPr id="4" name="Text 1"/>
          <p:cNvSpPr txBox="1"/>
          <p:nvPr/>
        </p:nvSpPr>
        <p:spPr>
          <a:xfrm>
            <a:off x="8183880" y="777240"/>
            <a:ext cx="3566160" cy="109728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Zabiegi wyrównują niskie częstotliwości</a:t>
            </a:r>
            <a:endParaRPr lang="en-US" sz="2600" dirty="0"/>
          </a:p>
        </p:txBody>
      </p:sp>
      <p:graphicFrame>
        <p:nvGraphicFramePr>
          <p:cNvPr id="5" name="Chart 0" descr=""/>
          <p:cNvGraphicFramePr/>
          <p:nvPr/>
        </p:nvGraphicFramePr>
        <p:xfrm>
          <a:off x="8092440" y="1874520"/>
          <a:ext cx="3749040" cy="25146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8183880" y="4434840"/>
            <a:ext cx="3566160" cy="594360"/>
          </a:xfrm>
          <a:prstGeom prst="rect">
            <a:avLst/>
          </a:prstGeom>
          <a:noFill/>
          <a:ln/>
        </p:spPr>
        <p:txBody>
          <a:bodyPr wrap="square" lIns="0" tIns="0" rIns="0" bIns="0" rtlCol="0" anchor="ctr"/>
          <a:lstStyle/>
          <a:p>
            <a:pPr indent="0" marL="0">
              <a:buNone/>
            </a:pPr>
            <a:r>
              <a:rPr lang="en-US" sz="3400" b="1" dirty="0">
                <a:solidFill>
                  <a:srgbClr val="D6336C"/>
                </a:solidFill>
                <a:latin typeface="Cambria" pitchFamily="34" charset="0"/>
                <a:ea typeface="Cambria" pitchFamily="34" charset="-122"/>
                <a:cs typeface="Cambria" pitchFamily="34" charset="-120"/>
              </a:rPr>
              <a:t>2,00</a:t>
            </a:r>
            <a:r>
              <a:rPr lang="en-US" sz="3400" b="1" dirty="0">
                <a:solidFill>
                  <a:srgbClr val="5B6578"/>
                </a:solidFill>
                <a:latin typeface="Cambria" pitchFamily="34" charset="0"/>
                <a:ea typeface="Cambria" pitchFamily="34" charset="-122"/>
                <a:cs typeface="Cambria" pitchFamily="34" charset="-120"/>
              </a:rPr>
              <a:t> → </a:t>
            </a:r>
            <a:r>
              <a:rPr lang="en-US" sz="3400" b="1" dirty="0">
                <a:solidFill>
                  <a:srgbClr val="2B6CB0"/>
                </a:solidFill>
                <a:latin typeface="Cambria" pitchFamily="34" charset="0"/>
                <a:ea typeface="Cambria" pitchFamily="34" charset="-122"/>
                <a:cs typeface="Cambria" pitchFamily="34" charset="-120"/>
              </a:rPr>
              <a:t>1,39 dB</a:t>
            </a:r>
            <a:endParaRPr lang="en-US" sz="3400" dirty="0"/>
          </a:p>
        </p:txBody>
      </p:sp>
      <p:sp>
        <p:nvSpPr>
          <p:cNvPr id="7" name="Text 3"/>
          <p:cNvSpPr txBox="1"/>
          <p:nvPr/>
        </p:nvSpPr>
        <p:spPr>
          <a:xfrm>
            <a:off x="8183880" y="5029200"/>
            <a:ext cx="356616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błąd pomieszczenia poniżej 3 kHz</a:t>
            </a:r>
            <a:endParaRPr lang="en-US" sz="1200" dirty="0"/>
          </a:p>
        </p:txBody>
      </p:sp>
      <p:sp>
        <p:nvSpPr>
          <p:cNvPr id="8" name="Text 4"/>
          <p:cNvSpPr txBox="1"/>
          <p:nvPr/>
        </p:nvSpPr>
        <p:spPr>
          <a:xfrm>
            <a:off x="8183880" y="5349240"/>
            <a:ext cx="3566160" cy="868680"/>
          </a:xfrm>
          <a:prstGeom prst="rect">
            <a:avLst/>
          </a:prstGeom>
          <a:noFill/>
          <a:ln/>
        </p:spPr>
        <p:txBody>
          <a:bodyPr wrap="square" lIns="0" tIns="0" rIns="0" bIns="0" rtlCol="0" anchor="t"/>
          <a:lstStyle/>
          <a:p>
            <a:pPr indent="0" marL="0">
              <a:buNone/>
            </a:pPr>
            <a:r>
              <a:rPr lang="en-US" sz="1400" dirty="0">
                <a:solidFill>
                  <a:srgbClr val="1F2A44"/>
                </a:solidFill>
                <a:latin typeface="Calibri" pitchFamily="34" charset="0"/>
                <a:ea typeface="Calibri" pitchFamily="34" charset="-122"/>
                <a:cs typeface="Calibri" pitchFamily="34" charset="-120"/>
              </a:rPr>
              <a:t>Poprawiliśmy niskie częstotliwości (poniżej 630 Hz) o 1,2 dB: błąd spadł z 3,0 do 1,8 dB, czyli o 40 %. Powyżej 1 kHz tylko nieznaczne zmiany.</a:t>
            </a:r>
            <a:endParaRPr lang="en-US" sz="1400" dirty="0"/>
          </a:p>
        </p:txBody>
      </p:sp>
      <p:sp>
        <p:nvSpPr>
          <p:cNvPr id="9" name="Text 5"/>
          <p:cNvSpPr txBox="1"/>
          <p:nvPr/>
        </p:nvSpPr>
        <p:spPr>
          <a:xfrm>
            <a:off x="548640" y="6263640"/>
            <a:ext cx="10424160" cy="41148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25 września 2026. W ciągu dnia głośnik przesuwano i wrócił mniej więcej do punktu wyjścia; położenia nie zapisano. Błąd pomieszczenia: wartość skuteczna różnicy jedenastu mikrofonów od ich średniej.</a:t>
            </a:r>
            <a:endParaRPr lang="en-US" sz="1100" dirty="0"/>
          </a:p>
        </p:txBody>
      </p:sp>
      <p:sp>
        <p:nvSpPr>
          <p:cNvPr id="10"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OCENA</a:t>
            </a:r>
            <a:endParaRPr lang="en-US" sz="1400" dirty="0"/>
          </a:p>
        </p:txBody>
      </p:sp>
      <p:sp>
        <p:nvSpPr>
          <p:cNvPr id="3" name="Text 1"/>
          <p:cNvSpPr txBox="1"/>
          <p:nvPr/>
        </p:nvSpPr>
        <p:spPr>
          <a:xfrm>
            <a:off x="8183880" y="777240"/>
            <a:ext cx="356616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Pasmo po paśmie względem tolerancji ISO</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57200"/>
          <a:ext cx="7223760" cy="914400"/>
        </p:xfrm>
        <a:graphic>
          <a:graphicData uri="http://schemas.openxmlformats.org/drawingml/2006/table">
            <a:tbl>
              <a:tblPr/>
              <a:tblGrid>
                <a:gridCol w="777240"/>
                <a:gridCol w="731520"/>
                <a:gridCol w="777240"/>
                <a:gridCol w="1280160"/>
                <a:gridCol w="1188720"/>
                <a:gridCol w="1280160"/>
                <a:gridCol w="1188720"/>
              </a:tblGrid>
              <a:tr h="329184">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Pasmo</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Tony</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gridSpan="2">
                  <a:txBody>
                    <a:bodyPr/>
                    <a:lstStyle/>
                    <a:p>
                      <a:pPr algn="ctr" indent="0" marL="0">
                        <a:buNone/>
                      </a:pPr>
                      <a:r>
                        <a:rPr lang="en-US" sz="1200" b="1" dirty="0">
                          <a:solidFill>
                            <a:srgbClr val="D6336C"/>
                          </a:solidFill>
                          <a:latin typeface="Calibri" pitchFamily="34" charset="0"/>
                          <a:ea typeface="Calibri" pitchFamily="34" charset="-122"/>
                          <a:cs typeface="Calibri" pitchFamily="34" charset="-120"/>
                        </a:rPr>
                        <a:t>Początek dnia 3</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c gridSpan="2">
                  <a:txBody>
                    <a:bodyPr/>
                    <a:lstStyle/>
                    <a:p>
                      <a:pPr algn="ctr" indent="0" marL="0">
                        <a:buNone/>
                      </a:pPr>
                      <a:r>
                        <a:rPr lang="en-US" sz="1200" b="1" dirty="0">
                          <a:solidFill>
                            <a:srgbClr val="2B6CB0"/>
                          </a:solidFill>
                          <a:latin typeface="Calibri" pitchFamily="34" charset="0"/>
                          <a:ea typeface="Calibri" pitchFamily="34" charset="-122"/>
                          <a:cs typeface="Calibri" pitchFamily="34" charset="-120"/>
                        </a:rPr>
                        <a:t>Stan końcowy</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r>
              <a:tr h="292608">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Hz</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 dB</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w paśmie</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najgorszy mikr.,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komórki w limicie</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najgorszy mikr.,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komórki w limicie</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6,81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B6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D6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DB6F"/>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28 %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CA861"/>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2D0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7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DDA6F"/>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FBA6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EB46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5D1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C6A"/>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C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9D5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800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5D871"/>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60 %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BD672"/>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CD6A"/>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A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D2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1D07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FCF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BCE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3C87B"/>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5DA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1600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ED37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6CD78"/>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A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4CC78"/>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AD27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0C87C"/>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8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5C97B"/>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6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0D374"/>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F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C0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5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FCB7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3CC79"/>
                    </a:solidFill>
                  </a:tcPr>
                </a:tc>
              </a:tr>
            </a:tbl>
          </a:graphicData>
        </a:graphic>
      </p:graphicFrame>
      <p:sp>
        <p:nvSpPr>
          <p:cNvPr id="5" name="Text 2"/>
          <p:cNvSpPr txBox="1"/>
          <p:nvPr/>
        </p:nvSpPr>
        <p:spPr>
          <a:xfrm>
            <a:off x="8183880" y="2148840"/>
            <a:ext cx="356616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Skala kolorów</a:t>
            </a:r>
            <a:endParaRPr lang="en-US" sz="1400" dirty="0"/>
          </a:p>
        </p:txBody>
      </p:sp>
      <p:sp>
        <p:nvSpPr>
          <p:cNvPr id="6" name="Shape 3"/>
          <p:cNvSpPr/>
          <p:nvPr/>
        </p:nvSpPr>
        <p:spPr>
          <a:xfrm>
            <a:off x="8183880" y="2468880"/>
            <a:ext cx="713232" cy="274320"/>
          </a:xfrm>
          <a:prstGeom prst="rect">
            <a:avLst/>
          </a:prstGeom>
          <a:solidFill>
            <a:srgbClr val="78BE82"/>
          </a:solidFill>
          <a:ln w="12700">
            <a:solidFill>
              <a:srgbClr val="FFFFFF"/>
            </a:solidFill>
            <a:prstDash val="solid"/>
          </a:ln>
        </p:spPr>
      </p:sp>
      <p:sp>
        <p:nvSpPr>
          <p:cNvPr id="7" name="Shape 4"/>
          <p:cNvSpPr/>
          <p:nvPr/>
        </p:nvSpPr>
        <p:spPr>
          <a:xfrm>
            <a:off x="8897112" y="2468880"/>
            <a:ext cx="713232" cy="274320"/>
          </a:xfrm>
          <a:prstGeom prst="rect">
            <a:avLst/>
          </a:prstGeom>
          <a:solidFill>
            <a:srgbClr val="B6CD78"/>
          </a:solidFill>
          <a:ln w="12700">
            <a:solidFill>
              <a:srgbClr val="FFFFFF"/>
            </a:solidFill>
            <a:prstDash val="solid"/>
          </a:ln>
        </p:spPr>
      </p:sp>
      <p:sp>
        <p:nvSpPr>
          <p:cNvPr id="8" name="Shape 5"/>
          <p:cNvSpPr/>
          <p:nvPr/>
        </p:nvSpPr>
        <p:spPr>
          <a:xfrm>
            <a:off x="9610344" y="2468880"/>
            <a:ext cx="713232" cy="274320"/>
          </a:xfrm>
          <a:prstGeom prst="rect">
            <a:avLst/>
          </a:prstGeom>
          <a:solidFill>
            <a:srgbClr val="F5DC6E"/>
          </a:solidFill>
          <a:ln w="12700">
            <a:solidFill>
              <a:srgbClr val="FFFFFF"/>
            </a:solidFill>
            <a:prstDash val="solid"/>
          </a:ln>
        </p:spPr>
      </p:sp>
      <p:sp>
        <p:nvSpPr>
          <p:cNvPr id="9" name="Shape 6"/>
          <p:cNvSpPr/>
          <p:nvPr/>
        </p:nvSpPr>
        <p:spPr>
          <a:xfrm>
            <a:off x="10323576" y="2468880"/>
            <a:ext cx="713232" cy="274320"/>
          </a:xfrm>
          <a:prstGeom prst="rect">
            <a:avLst/>
          </a:prstGeom>
          <a:solidFill>
            <a:srgbClr val="EBA05F"/>
          </a:solidFill>
          <a:ln w="12700">
            <a:solidFill>
              <a:srgbClr val="FFFFFF"/>
            </a:solidFill>
            <a:prstDash val="solid"/>
          </a:ln>
        </p:spPr>
      </p:sp>
      <p:sp>
        <p:nvSpPr>
          <p:cNvPr id="10" name="Shape 7"/>
          <p:cNvSpPr/>
          <p:nvPr/>
        </p:nvSpPr>
        <p:spPr>
          <a:xfrm>
            <a:off x="11036808" y="2468880"/>
            <a:ext cx="713232" cy="274320"/>
          </a:xfrm>
          <a:prstGeom prst="rect">
            <a:avLst/>
          </a:prstGeom>
          <a:solidFill>
            <a:srgbClr val="E16450"/>
          </a:solidFill>
          <a:ln w="12700">
            <a:solidFill>
              <a:srgbClr val="FFFFFF"/>
            </a:solidFill>
            <a:prstDash val="solid"/>
          </a:ln>
        </p:spPr>
      </p:sp>
      <p:sp>
        <p:nvSpPr>
          <p:cNvPr id="11" name="Text 8"/>
          <p:cNvSpPr txBox="1"/>
          <p:nvPr/>
        </p:nvSpPr>
        <p:spPr>
          <a:xfrm>
            <a:off x="8183880" y="2770632"/>
            <a:ext cx="71323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0</a:t>
            </a:r>
            <a:endParaRPr lang="en-US" sz="1200" dirty="0"/>
          </a:p>
        </p:txBody>
      </p:sp>
      <p:sp>
        <p:nvSpPr>
          <p:cNvPr id="12" name="Text 9"/>
          <p:cNvSpPr txBox="1"/>
          <p:nvPr/>
        </p:nvSpPr>
        <p:spPr>
          <a:xfrm>
            <a:off x="9518904"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na limicie</a:t>
            </a:r>
            <a:endParaRPr lang="en-US" sz="1200" dirty="0"/>
          </a:p>
        </p:txBody>
      </p:sp>
      <p:sp>
        <p:nvSpPr>
          <p:cNvPr id="13" name="Text 10"/>
          <p:cNvSpPr txBox="1"/>
          <p:nvPr/>
        </p:nvSpPr>
        <p:spPr>
          <a:xfrm>
            <a:off x="10945368"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 2×</a:t>
            </a:r>
            <a:endParaRPr lang="en-US" sz="1200" dirty="0"/>
          </a:p>
        </p:txBody>
      </p:sp>
      <p:sp>
        <p:nvSpPr>
          <p:cNvPr id="14" name="Text 11"/>
          <p:cNvSpPr txBox="1"/>
          <p:nvPr/>
        </p:nvSpPr>
        <p:spPr>
          <a:xfrm>
            <a:off x="8183880" y="3063240"/>
            <a:ext cx="3566160" cy="5029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Najgorszy mikrofon jako ułamek limitu. Komórki: zielony 100 %, żółty 50 %, czerwony 0 %.</a:t>
            </a:r>
            <a:endParaRPr lang="en-US" sz="1200" dirty="0"/>
          </a:p>
        </p:txBody>
      </p:sp>
      <p:sp>
        <p:nvSpPr>
          <p:cNvPr id="15" name="Text 12"/>
          <p:cNvSpPr txBox="1"/>
          <p:nvPr/>
        </p:nvSpPr>
        <p:spPr>
          <a:xfrm>
            <a:off x="8183880" y="3749040"/>
            <a:ext cx="3566160" cy="1371600"/>
          </a:xfrm>
          <a:prstGeom prst="rect">
            <a:avLst/>
          </a:prstGeom>
          <a:noFill/>
          <a:ln/>
        </p:spPr>
        <p:txBody>
          <a:bodyPr wrap="square" lIns="0" tIns="0" rIns="0" bIns="0" rtlCol="0" anchor="t"/>
          <a:lstStyle/>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Pasma ponad limitem (z 13): </a:t>
            </a:r>
            <a:r>
              <a:rPr lang="en-US" sz="1400" b="1" dirty="0">
                <a:solidFill>
                  <a:srgbClr val="1F2A44"/>
                </a:solidFill>
                <a:latin typeface="Calibri" pitchFamily="34" charset="0"/>
                <a:ea typeface="Calibri" pitchFamily="34" charset="-122"/>
                <a:cs typeface="Calibri" pitchFamily="34" charset="-120"/>
              </a:rPr>
              <a:t>7 → 6</a:t>
            </a:r>
            <a:endParaRPr lang="en-US" sz="1400" dirty="0"/>
          </a:p>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Komórki w limicie (13 pasm): </a:t>
            </a:r>
            <a:r>
              <a:rPr lang="en-US" sz="1400" b="1" dirty="0">
                <a:solidFill>
                  <a:srgbClr val="1F2A44"/>
                </a:solidFill>
                <a:latin typeface="Calibri" pitchFamily="34" charset="0"/>
                <a:ea typeface="Calibri" pitchFamily="34" charset="-122"/>
                <a:cs typeface="Calibri" pitchFamily="34" charset="-120"/>
              </a:rPr>
              <a:t>60 % → 66 %</a:t>
            </a:r>
            <a:endParaRPr lang="en-US" sz="1400" dirty="0"/>
          </a:p>
        </p:txBody>
      </p:sp>
      <p:sp>
        <p:nvSpPr>
          <p:cNvPr id="16" name="Text 13"/>
          <p:cNvSpPr txBox="1"/>
          <p:nvPr/>
        </p:nvSpPr>
        <p:spPr>
          <a:xfrm>
            <a:off x="8183880" y="5257800"/>
            <a:ext cx="3566160" cy="105156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 Pasma częściowe: zmierzono tylko tony powyżej 5 kHz (4 i 5 tonów). Zakres 3–5 kHz pominięto z powodu głośnika: jego membrana ma tryb kołyszący około 4,4 kHz. Wartości ISO służą jako analogia, nie jako kwalifikacja pomieszczenia.</a:t>
            </a:r>
            <a:endParaRPr lang="en-US" sz="1200" dirty="0"/>
          </a:p>
        </p:txBody>
      </p:sp>
      <p:sp>
        <p:nvSpPr>
          <p:cNvPr id="17" name="Text 14"/>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ykres biegunowy 20–560 Hz: postrzępiony czerwony kształt z 31 sierpnia i gładszy niebieski z 30 września">    </p:cNvPr>
          <p:cNvPicPr>
            <a:picLocks noChangeAspect="1"/>
          </p:cNvPicPr>
          <p:nvPr/>
        </p:nvPicPr>
        <p:blipFill>
          <a:blip r:embed="rId1"/>
          <a:stretch>
            <a:fillRect/>
          </a:stretch>
        </p:blipFill>
        <p:spPr>
          <a:xfrm>
            <a:off x="548640" y="457200"/>
            <a:ext cx="5440680" cy="5797296"/>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PORÓWNANIE</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31 sierpnia i 30 września na tych samych osiach</a:t>
            </a:r>
            <a:endParaRPr lang="en-US" sz="26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Czerwony: 31 sierpnia, fabryczne pliki mikrofonów. Niebieski: 30 września, pliki z poprawkami. Dwa różne śmigła.</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Między pomiarami śmigło zamontowano w przeciwną stronę, więc ciąg jest skierowany odwrotnie. Nie spodziewamy się, że to zmieni dźwięk.</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Kształt z 30 września jest gładszy.</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a:t>
            </a:r>
            <a:r>
              <a:rPr lang="en-US" sz="4800" b="1" dirty="0">
                <a:solidFill>
                  <a:srgbClr val="5B6578"/>
                </a:solidFill>
                <a:latin typeface="Cambria" pitchFamily="34" charset="0"/>
                <a:ea typeface="Cambria" pitchFamily="34" charset="-122"/>
                <a:cs typeface="Cambria" pitchFamily="34" charset="-120"/>
              </a:rPr>
              <a:t> → </a:t>
            </a:r>
            <a:r>
              <a:rPr lang="en-US" sz="4800" b="1" dirty="0">
                <a:solidFill>
                  <a:srgbClr val="2B6CB0"/>
                </a:solidFill>
                <a:latin typeface="Cambria" pitchFamily="34" charset="0"/>
                <a:ea typeface="Cambria" pitchFamily="34" charset="-122"/>
                <a:cs typeface="Cambria" pitchFamily="34" charset="-120"/>
              </a:rPr>
              <a:t>4,0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między najgłośniejszym a najcichszym mikrofonem</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20–560 Hz, silnik przy 2000 µs. Różne śmigła i warunki pracy, więc poziomów nie wolno porównywać; porównujemy kształty.</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ykres biegunowy pięciu wariantów materiałowych przy 2000 mikrosekundach: bez materiału, korek, guma, filc i filc z gumą">    </p:cNvPr>
          <p:cNvPicPr>
            <a:picLocks noChangeAspect="1"/>
          </p:cNvPicPr>
          <p:nvPr/>
        </p:nvPicPr>
        <p:blipFill>
          <a:blip r:embed="rId1"/>
          <a:stretch>
            <a:fillRect/>
          </a:stretch>
        </p:blipFill>
        <p:spPr>
          <a:xfrm>
            <a:off x="411480" y="411480"/>
            <a:ext cx="5824728" cy="5806440"/>
          </a:xfrm>
          <a:prstGeom prst="rect">
            <a:avLst/>
          </a:prstGeom>
        </p:spPr>
      </p:pic>
      <p:sp>
        <p:nvSpPr>
          <p:cNvPr id="3" name="Text 0"/>
          <p:cNvSpPr txBox="1"/>
          <p:nvPr/>
        </p:nvSpPr>
        <p:spPr>
          <a:xfrm>
            <a:off x="6949440" y="640080"/>
            <a:ext cx="475488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MATERIAŁY</a:t>
            </a:r>
            <a:endParaRPr lang="en-US" sz="1400" dirty="0"/>
          </a:p>
        </p:txBody>
      </p:sp>
      <p:sp>
        <p:nvSpPr>
          <p:cNvPr id="4" name="Text 1"/>
          <p:cNvSpPr txBox="1"/>
          <p:nvPr/>
        </p:nvSpPr>
        <p:spPr>
          <a:xfrm>
            <a:off x="6949440" y="960120"/>
            <a:ext cx="475488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Pomiary materiałów przy 2000 µs</a:t>
            </a:r>
            <a:endParaRPr lang="en-US" sz="2600" dirty="0"/>
          </a:p>
        </p:txBody>
      </p:sp>
      <p:sp>
        <p:nvSpPr>
          <p:cNvPr id="5" name="Text 2"/>
          <p:cNvSpPr txBox="1"/>
          <p:nvPr/>
        </p:nvSpPr>
        <p:spPr>
          <a:xfrm>
            <a:off x="6949440" y="2331720"/>
            <a:ext cx="47548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Średni poziom z jedenastu mikrofonów</a:t>
            </a:r>
            <a:endParaRPr lang="en-US" sz="1200" dirty="0"/>
          </a:p>
        </p:txBody>
      </p:sp>
      <p:sp>
        <p:nvSpPr>
          <p:cNvPr id="6" name="Shape 3"/>
          <p:cNvSpPr/>
          <p:nvPr/>
        </p:nvSpPr>
        <p:spPr>
          <a:xfrm>
            <a:off x="6949440" y="2715768"/>
            <a:ext cx="237744" cy="237744"/>
          </a:xfrm>
          <a:prstGeom prst="ellipse">
            <a:avLst/>
          </a:prstGeom>
          <a:solidFill>
            <a:srgbClr val="1F2A44"/>
          </a:solidFill>
          <a:ln w="12700">
            <a:solidFill>
              <a:srgbClr val="1F2A44"/>
            </a:solidFill>
            <a:prstDash val="solid"/>
          </a:ln>
        </p:spPr>
      </p:sp>
      <p:sp>
        <p:nvSpPr>
          <p:cNvPr id="7" name="Text 4"/>
          <p:cNvSpPr txBox="1"/>
          <p:nvPr/>
        </p:nvSpPr>
        <p:spPr>
          <a:xfrm>
            <a:off x="7360920" y="2651760"/>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Bez materiału</a:t>
            </a:r>
            <a:endParaRPr lang="en-US" sz="1800" dirty="0"/>
          </a:p>
        </p:txBody>
      </p:sp>
      <p:sp>
        <p:nvSpPr>
          <p:cNvPr id="8" name="Text 5"/>
          <p:cNvSpPr txBox="1"/>
          <p:nvPr/>
        </p:nvSpPr>
        <p:spPr>
          <a:xfrm>
            <a:off x="9692640" y="2651760"/>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74,2 dB</a:t>
            </a:r>
            <a:endParaRPr lang="en-US" sz="1800" dirty="0"/>
          </a:p>
        </p:txBody>
      </p:sp>
      <p:sp>
        <p:nvSpPr>
          <p:cNvPr id="9" name="Shape 6"/>
          <p:cNvSpPr/>
          <p:nvPr/>
        </p:nvSpPr>
        <p:spPr>
          <a:xfrm>
            <a:off x="6949440" y="3136392"/>
            <a:ext cx="237744" cy="237744"/>
          </a:xfrm>
          <a:prstGeom prst="ellipse">
            <a:avLst/>
          </a:prstGeom>
          <a:solidFill>
            <a:srgbClr val="7048E8"/>
          </a:solidFill>
          <a:ln w="12700">
            <a:solidFill>
              <a:srgbClr val="7048E8"/>
            </a:solidFill>
            <a:prstDash val="solid"/>
          </a:ln>
        </p:spPr>
      </p:sp>
      <p:sp>
        <p:nvSpPr>
          <p:cNvPr id="10" name="Text 7"/>
          <p:cNvSpPr txBox="1"/>
          <p:nvPr/>
        </p:nvSpPr>
        <p:spPr>
          <a:xfrm>
            <a:off x="7360920" y="3072384"/>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Filc + guma</a:t>
            </a:r>
            <a:endParaRPr lang="en-US" sz="1800" dirty="0"/>
          </a:p>
        </p:txBody>
      </p:sp>
      <p:sp>
        <p:nvSpPr>
          <p:cNvPr id="11" name="Text 8"/>
          <p:cNvSpPr txBox="1"/>
          <p:nvPr/>
        </p:nvSpPr>
        <p:spPr>
          <a:xfrm>
            <a:off x="9692640" y="3072384"/>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78,7 dB</a:t>
            </a:r>
            <a:endParaRPr lang="en-US" sz="1800" dirty="0"/>
          </a:p>
        </p:txBody>
      </p:sp>
      <p:sp>
        <p:nvSpPr>
          <p:cNvPr id="12" name="Shape 9"/>
          <p:cNvSpPr/>
          <p:nvPr/>
        </p:nvSpPr>
        <p:spPr>
          <a:xfrm>
            <a:off x="6949440" y="3557016"/>
            <a:ext cx="237744" cy="237744"/>
          </a:xfrm>
          <a:prstGeom prst="ellipse">
            <a:avLst/>
          </a:prstGeom>
          <a:solidFill>
            <a:srgbClr val="2F9E44"/>
          </a:solidFill>
          <a:ln w="12700">
            <a:solidFill>
              <a:srgbClr val="2F9E44"/>
            </a:solidFill>
            <a:prstDash val="solid"/>
          </a:ln>
        </p:spPr>
      </p:sp>
      <p:sp>
        <p:nvSpPr>
          <p:cNvPr id="13" name="Text 10"/>
          <p:cNvSpPr txBox="1"/>
          <p:nvPr/>
        </p:nvSpPr>
        <p:spPr>
          <a:xfrm>
            <a:off x="7360920" y="3493008"/>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Korek</a:t>
            </a:r>
            <a:endParaRPr lang="en-US" sz="1800" dirty="0"/>
          </a:p>
        </p:txBody>
      </p:sp>
      <p:sp>
        <p:nvSpPr>
          <p:cNvPr id="14" name="Text 11"/>
          <p:cNvSpPr txBox="1"/>
          <p:nvPr/>
        </p:nvSpPr>
        <p:spPr>
          <a:xfrm>
            <a:off x="9692640" y="3493008"/>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78,7 dB</a:t>
            </a:r>
            <a:endParaRPr lang="en-US" sz="1800" dirty="0"/>
          </a:p>
        </p:txBody>
      </p:sp>
      <p:sp>
        <p:nvSpPr>
          <p:cNvPr id="15" name="Shape 12"/>
          <p:cNvSpPr/>
          <p:nvPr/>
        </p:nvSpPr>
        <p:spPr>
          <a:xfrm>
            <a:off x="6949440" y="3977640"/>
            <a:ext cx="237744" cy="237744"/>
          </a:xfrm>
          <a:prstGeom prst="ellipse">
            <a:avLst/>
          </a:prstGeom>
          <a:solidFill>
            <a:srgbClr val="1098AD"/>
          </a:solidFill>
          <a:ln w="12700">
            <a:solidFill>
              <a:srgbClr val="1098AD"/>
            </a:solidFill>
            <a:prstDash val="solid"/>
          </a:ln>
        </p:spPr>
      </p:sp>
      <p:sp>
        <p:nvSpPr>
          <p:cNvPr id="16" name="Text 13"/>
          <p:cNvSpPr txBox="1"/>
          <p:nvPr/>
        </p:nvSpPr>
        <p:spPr>
          <a:xfrm>
            <a:off x="7360920" y="3913632"/>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Filc</a:t>
            </a:r>
            <a:endParaRPr lang="en-US" sz="1800" dirty="0"/>
          </a:p>
        </p:txBody>
      </p:sp>
      <p:sp>
        <p:nvSpPr>
          <p:cNvPr id="17" name="Text 14"/>
          <p:cNvSpPr txBox="1"/>
          <p:nvPr/>
        </p:nvSpPr>
        <p:spPr>
          <a:xfrm>
            <a:off x="9692640" y="3913632"/>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79,5 dB</a:t>
            </a:r>
            <a:endParaRPr lang="en-US" sz="1800" dirty="0"/>
          </a:p>
        </p:txBody>
      </p:sp>
      <p:sp>
        <p:nvSpPr>
          <p:cNvPr id="18" name="Shape 15"/>
          <p:cNvSpPr/>
          <p:nvPr/>
        </p:nvSpPr>
        <p:spPr>
          <a:xfrm>
            <a:off x="6949440" y="4398264"/>
            <a:ext cx="237744" cy="237744"/>
          </a:xfrm>
          <a:prstGeom prst="ellipse">
            <a:avLst/>
          </a:prstGeom>
          <a:solidFill>
            <a:srgbClr val="F08C00"/>
          </a:solidFill>
          <a:ln w="12700">
            <a:solidFill>
              <a:srgbClr val="F08C00"/>
            </a:solidFill>
            <a:prstDash val="solid"/>
          </a:ln>
        </p:spPr>
      </p:sp>
      <p:sp>
        <p:nvSpPr>
          <p:cNvPr id="19" name="Text 16"/>
          <p:cNvSpPr txBox="1"/>
          <p:nvPr/>
        </p:nvSpPr>
        <p:spPr>
          <a:xfrm>
            <a:off x="7360920" y="4334256"/>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Guma</a:t>
            </a:r>
            <a:endParaRPr lang="en-US" sz="1800" dirty="0"/>
          </a:p>
        </p:txBody>
      </p:sp>
      <p:sp>
        <p:nvSpPr>
          <p:cNvPr id="20" name="Text 17"/>
          <p:cNvSpPr txBox="1"/>
          <p:nvPr/>
        </p:nvSpPr>
        <p:spPr>
          <a:xfrm>
            <a:off x="9692640" y="4334256"/>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80,6 dB</a:t>
            </a:r>
            <a:endParaRPr lang="en-US" sz="1800" dirty="0"/>
          </a:p>
        </p:txBody>
      </p:sp>
      <p:sp>
        <p:nvSpPr>
          <p:cNvPr id="21" name="Text 18"/>
          <p:cNvSpPr txBox="1"/>
          <p:nvPr/>
        </p:nvSpPr>
        <p:spPr>
          <a:xfrm>
            <a:off x="6949440" y="4846320"/>
            <a:ext cx="4754880" cy="73152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+4,5 do +6,4 dB</a:t>
            </a:r>
            <a:endParaRPr lang="en-US" sz="4000" dirty="0"/>
          </a:p>
        </p:txBody>
      </p:sp>
      <p:sp>
        <p:nvSpPr>
          <p:cNvPr id="22" name="Text 19"/>
          <p:cNvSpPr txBox="1"/>
          <p:nvPr/>
        </p:nvSpPr>
        <p:spPr>
          <a:xfrm>
            <a:off x="6949440" y="5559552"/>
            <a:ext cx="4754880" cy="32004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głośniej niż bez materiału, średnio</a:t>
            </a:r>
            <a:endParaRPr lang="en-US" sz="1400" dirty="0"/>
          </a:p>
        </p:txBody>
      </p:sp>
      <p:sp>
        <p:nvSpPr>
          <p:cNvPr id="23" name="Text 20"/>
          <p:cNvSpPr txBox="1"/>
          <p:nvPr/>
        </p:nvSpPr>
        <p:spPr>
          <a:xfrm>
            <a:off x="6949440" y="5897880"/>
            <a:ext cx="47548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Przy −90°, w strumieniu wylotowym (poza wykresem), wszystkie pięć spotyka się przy 94–98 dB.</a:t>
            </a:r>
            <a:endParaRPr lang="en-US" sz="1200" dirty="0"/>
          </a:p>
        </p:txBody>
      </p:sp>
      <p:sp>
        <p:nvSpPr>
          <p:cNvPr id="24" name="Text 21"/>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 października 2026, śmigło 5-calowe, poziom całkowity 100 Hz–10 kHz, 2000 µs, pliki z poprawkami. Oś 65–90 dB.</a:t>
            </a:r>
            <a:endParaRPr lang="en-US" sz="1100" dirty="0"/>
          </a:p>
        </p:txBody>
      </p:sp>
      <p:sp>
        <p:nvSpPr>
          <p:cNvPr id="25" name="Text 22"/>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Pomiary w komorze</dc:title>
  <dc:subject>PptxGenJS Presentation</dc:subject>
  <dc:creator>PptxGenJS</dc:creator>
  <cp:lastModifiedBy>PptxGenJS</cp:lastModifiedBy>
  <cp:revision>1</cp:revision>
  <dcterms:created xsi:type="dcterms:W3CDTF">2026-10-07T06:17:33Z</dcterms:created>
  <dcterms:modified xsi:type="dcterms:W3CDTF">2026-10-07T06:17:33Z</dcterms:modified>
</cp:coreProperties>
</file>