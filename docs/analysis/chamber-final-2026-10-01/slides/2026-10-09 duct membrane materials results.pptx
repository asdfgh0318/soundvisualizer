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Bases in the data repo (f30__5in3b__membrane-...): 8 Oct 2026: membrane-duct-small, membrane-open-pore-pu-foam. 9 Oct 2026: membrane-duct-open-pore-pu-foam-double-layer, membrane-felt, membrane-felt-double-layer, membrane-cork, membrane-felt-rubber, membrane-thinsulate-8-layers, -4-layers, -2-layers. Each base was captured with 3 repeats of the ramp; the plot uses the PWM 2000 step and the mean over the 3 repeats of the total level 500 Hz to 24 kHz per microphone, in dB SPL, read with the corrected microphone files. The repeat-to-repeat scatter of the mean level is 0.02-0.11 dB. The bare prop (base f30__5in3b__unset__v1-bare-prop, 9 Oct 16:10, 3 repeats) is the reference for this set-up and the quietest curve on average (75.1 dB), 7.7 dB below the quietest membrane set-up on average, but at -90 degrees it is 87.7 dB, level with the others. Thrust at 2000 us (median of the second half of each step, mean of 3 repeats, magnitude; the stand reads negative): bare prop 3.75 N; membrane set-ups 0.37-1.19 N (Thinsulate 2 layers 0.37, Thinsulate 4 layers 0.39, felt double 0.88, felt 0.95, duct membrane only 0.97, PU foam 1.03, duct + PU foam double 1.03, felt + rubber 1.09, Thinsulate 8 layers 1.10, cork 1.19), so every membrane set-up delivers 10-32 % of the bare thrust and the levels are not at equal thrust. Levels here are not comparable with slide 8 (different motor field in the base name, f30). The callout is the difference between the quietest (best: Thinsulate, 4 layers) and the loudest (worst: duct, membrane only) set-up: 10.2 dB at its largest, at +18°, and 6.7 dB on average over the eleven microphones. Per angle the difference runs from 4.1 dB at -90 degrees to 10.2 dB at +18 degrees; the largest spread across all ten set-ups at a single angle is the same 10.2 dB. Two of the bases are ducts. The polar is mirrored to 360 degrees.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olar plot of ten membrane set-ups at 2000 microseconds, total level 500 Hz to 24 kHz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11480"/>
            <a:ext cx="5824728" cy="58064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583680" y="3657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MEMBRANES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6583680" y="658368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Membranes at 2000 µs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583680" y="15087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level. Round markers: 8 Oct. Square: 9 Oct.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6583680" y="1837944"/>
            <a:ext cx="164592" cy="164592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0" y="17830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 prop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692640" y="17830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Oct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0241280" y="17830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75.1 dB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583680" y="2125980"/>
            <a:ext cx="164592" cy="164592"/>
          </a:xfrm>
          <a:prstGeom prst="ellipse">
            <a:avLst/>
          </a:prstGeom>
          <a:solidFill>
            <a:srgbClr val="E03131"/>
          </a:solidFill>
          <a:ln w="12700">
            <a:solidFill>
              <a:srgbClr val="E0313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0" y="207111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Thinsulate, 4 layers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692640" y="207111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Oct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0241280" y="207111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82.8 dB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583680" y="2414016"/>
            <a:ext cx="164592" cy="164592"/>
          </a:xfrm>
          <a:prstGeom prst="ellipse">
            <a:avLst/>
          </a:prstGeom>
          <a:solidFill>
            <a:srgbClr val="F08C00"/>
          </a:solidFill>
          <a:ln w="12700">
            <a:solidFill>
              <a:srgbClr val="F08C0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0" y="23591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Thinsulate, 2 layers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9692640" y="23591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Oct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241280" y="23591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84.0 dB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583680" y="2702052"/>
            <a:ext cx="164592" cy="164592"/>
          </a:xfrm>
          <a:prstGeom prst="ellipse">
            <a:avLst/>
          </a:prstGeom>
          <a:solidFill>
            <a:srgbClr val="C2255C"/>
          </a:solidFill>
          <a:ln w="12700">
            <a:solidFill>
              <a:srgbClr val="C2255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0" y="26471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Thinsulate, 8 layers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9692640" y="264718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Oct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241280" y="26471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85.0 dB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583680" y="2990088"/>
            <a:ext cx="164592" cy="164592"/>
          </a:xfrm>
          <a:prstGeom prst="ellipse">
            <a:avLst/>
          </a:prstGeom>
          <a:solidFill>
            <a:srgbClr val="7048E8"/>
          </a:solidFill>
          <a:ln w="12700">
            <a:solidFill>
              <a:srgbClr val="7048E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58000" y="293522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Felt + rubber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9692640" y="293522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Oct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0241280" y="29352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86.0 dB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583680" y="3278124"/>
            <a:ext cx="164592" cy="164592"/>
          </a:xfrm>
          <a:prstGeom prst="ellipse">
            <a:avLst/>
          </a:prstGeom>
          <a:solidFill>
            <a:srgbClr val="1098AD"/>
          </a:solidFill>
          <a:ln w="12700">
            <a:solidFill>
              <a:srgbClr val="1098AD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0" y="32232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Felt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9692640" y="32232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Oct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0" y="32232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 dB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6583680" y="3566160"/>
            <a:ext cx="164592" cy="164592"/>
          </a:xfrm>
          <a:prstGeom prst="ellipse">
            <a:avLst/>
          </a:prstGeom>
          <a:solidFill>
            <a:srgbClr val="1864AB"/>
          </a:solidFill>
          <a:ln w="12700">
            <a:solidFill>
              <a:srgbClr val="1864AB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858000" y="351129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Felt, double layer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9692640" y="351129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Oct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10241280" y="351129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86.4 dB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6583680" y="3854196"/>
            <a:ext cx="164592" cy="164592"/>
          </a:xfrm>
          <a:prstGeom prst="ellipse">
            <a:avLst/>
          </a:prstGeom>
          <a:solidFill>
            <a:srgbClr val="5C940D"/>
          </a:solidFill>
          <a:ln w="12700">
            <a:solidFill>
              <a:srgbClr val="5C940D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858000" y="37993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Duct + PU foam, double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9692640" y="379933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Oct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10241280" y="37993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87.5 dB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583680" y="4142232"/>
            <a:ext cx="164592" cy="164592"/>
          </a:xfrm>
          <a:prstGeom prst="ellipse">
            <a:avLst/>
          </a:prstGeom>
          <a:solidFill>
            <a:srgbClr val="862E9C"/>
          </a:solidFill>
          <a:ln w="12700">
            <a:solidFill>
              <a:srgbClr val="862E9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858000" y="40873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 foam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9692640" y="40873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Oct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10241280" y="40873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87.9 dB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6583680" y="4430268"/>
            <a:ext cx="164592" cy="164592"/>
          </a:xfrm>
          <a:prstGeom prst="ellipse">
            <a:avLst/>
          </a:prstGeom>
          <a:solidFill>
            <a:srgbClr val="2F9E44"/>
          </a:solidFill>
          <a:ln w="12700">
            <a:solidFill>
              <a:srgbClr val="2F9E44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858000" y="437540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Cork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9692640" y="437540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Oct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10241280" y="43754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88.5 dB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6583680" y="4718304"/>
            <a:ext cx="164592" cy="164592"/>
          </a:xfrm>
          <a:prstGeom prst="ellipse">
            <a:avLst/>
          </a:prstGeom>
          <a:solidFill>
            <a:srgbClr val="868E96"/>
          </a:solidFill>
          <a:ln w="12700">
            <a:solidFill>
              <a:srgbClr val="868E96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858000" y="4663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Duct, membrane only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9692640" y="46634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Oct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10241280" y="4663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89.5 dB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6583680" y="496519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633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 to 10.2 dB</a:t>
            </a:r>
            <a:endParaRPr lang="en-US" sz="2800" dirty="0"/>
          </a:p>
        </p:txBody>
      </p:sp>
      <p:sp>
        <p:nvSpPr>
          <p:cNvPr id="51" name="Text 48"/>
          <p:cNvSpPr txBox="1"/>
          <p:nvPr/>
        </p:nvSpPr>
        <p:spPr>
          <a:xfrm>
            <a:off x="6583680" y="542239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against worst membrane set-up (Thinsulate, 4 layers and Duct, membrane only), at +18°; 6.7 dB on average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583680" y="582472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Thrust at 2000 µs: </a:t>
            </a:r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 prop 3.75 N. The quietest other set-up, Thinsulate 4 layers, only 0.39 N.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548640" y="63550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and 9 Oct 2026, 5-inch 3-blade propeller, 500 Hz–24 kHz, 2000 µs, mean of 3 repeats, corrected files. Axis 69–94 dB. Not comparable with slide 8.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Chamber measurements</dc:title>
  <dc:subject>PptxGenJS Presentation</dc:subject>
  <dc:creator>PptxGenJS</dc:creator>
  <cp:lastModifiedBy>PptxGenJS</cp:lastModifiedBy>
  <cp:revision>1</cp:revision>
  <dcterms:created xsi:type="dcterms:W3CDTF">2026-10-09T16:14:43Z</dcterms:created>
  <dcterms:modified xsi:type="dcterms:W3CDTF">2026-10-09T16:14:43Z</dcterms:modified>
</cp:coreProperties>
</file>