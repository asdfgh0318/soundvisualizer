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Bases in the data repo (f30__5in3b__membrane-...): 8 Oct 2026: membrane-duct-small, membrane-open-pore-pu-foam. 9 Oct 2026: membrane-duct-open-pore-pu-foam-double-layer, membrane-felt, membrane-felt-double-layer, membrane-cork, membrane-felt-rubber, membrane-thinsulate-8-layers, -4-layers, -2-layers. Each base was captured with 3 repeats of the ramp; the plot uses the PWM 2000 step and the mean over the 3 repeats of the total level 500 Hz to 24 kHz per microphone, in dB SPL, read with the corrected microphone files. The repeat-to-repeat scatter of the mean level is 0.02-0.11 dB. There is no bare reference measured with this set-up (the base names carry a different motor field, f30, from the 2 and 7 Oct materials), so levels here are not comparable with slide 8 and no louder-than-bare figure is given; the callout is the difference between the quietest (best: Thinsulate, 4 layers) and the loudest (worst: duct, membrane only) set-up: 10.2 dB at its largest, at +18°, and 6.7 dB on average over the eleven microphones. Per angle the difference runs from 4.1 dB at -90 degrees to 10.2 dB at +18 degrees; the largest spread across all ten set-ups at a single angle is the same 10.2 dB. Two of the bases are ducts. The polar is mirrored to 360 degrees.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olar plot of ten membrane set-ups at 2000 microseconds, total level 500 Hz to 24 kH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11480"/>
            <a:ext cx="5824728" cy="5806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0" y="365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MEMBRANES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65836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Membranes at 2000 µs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583680" y="1508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level. Round markers: 8 Oct. Square: 9 Oct.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583680" y="1938528"/>
            <a:ext cx="182880" cy="182880"/>
          </a:xfrm>
          <a:prstGeom prst="ellipse">
            <a:avLst/>
          </a:prstGeom>
          <a:solidFill>
            <a:srgbClr val="E03131"/>
          </a:solidFill>
          <a:ln w="12700">
            <a:solidFill>
              <a:srgbClr val="E0313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0" y="18745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Thinsulate, 4 layers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692640" y="187452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Oct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241280" y="18745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82.8 dB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2276856"/>
            <a:ext cx="182880" cy="182880"/>
          </a:xfrm>
          <a:prstGeom prst="ellipse">
            <a:avLst/>
          </a:prstGeom>
          <a:solidFill>
            <a:srgbClr val="F08C00"/>
          </a:solidFill>
          <a:ln w="12700">
            <a:solidFill>
              <a:srgbClr val="F08C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0" y="22128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Thinsulate, 2 layers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692640" y="22128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Oct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241280" y="22128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 dB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83680" y="2615184"/>
            <a:ext cx="182880" cy="182880"/>
          </a:xfrm>
          <a:prstGeom prst="ellipse">
            <a:avLst/>
          </a:prstGeom>
          <a:solidFill>
            <a:srgbClr val="C2255C"/>
          </a:solidFill>
          <a:ln w="12700">
            <a:solidFill>
              <a:srgbClr val="C2255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25511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Thinsulate, 8 layers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692640" y="255117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Oct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241280" y="25511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85.0 dB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83680" y="2953512"/>
            <a:ext cx="182880" cy="18288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0" y="28895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+ rubber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692640" y="288950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Oct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241280" y="288950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86.0 dB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583680" y="3291840"/>
            <a:ext cx="182880" cy="182880"/>
          </a:xfrm>
          <a:prstGeom prst="ellipse">
            <a:avLst/>
          </a:prstGeom>
          <a:solidFill>
            <a:srgbClr val="1098AD"/>
          </a:solidFill>
          <a:ln w="12700">
            <a:solidFill>
              <a:srgbClr val="1098A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0" y="32278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692640" y="32278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Oct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241280" y="32278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 dB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583680" y="3630168"/>
            <a:ext cx="182880" cy="182880"/>
          </a:xfrm>
          <a:prstGeom prst="ellipse">
            <a:avLst/>
          </a:prstGeom>
          <a:solidFill>
            <a:srgbClr val="1864AB"/>
          </a:solidFill>
          <a:ln w="12700">
            <a:solidFill>
              <a:srgbClr val="1864A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0" y="35661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Felt, double layer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692640" y="35661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Oct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0" y="35661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86.4 dB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583680" y="3968496"/>
            <a:ext cx="182880" cy="182880"/>
          </a:xfrm>
          <a:prstGeom prst="ellipse">
            <a:avLst/>
          </a:prstGeom>
          <a:solidFill>
            <a:srgbClr val="5C940D"/>
          </a:solidFill>
          <a:ln w="12700">
            <a:solidFill>
              <a:srgbClr val="5C940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58000" y="39044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 + PU foam, double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692640" y="39044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Oct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10241280" y="39044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 dB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583680" y="4306824"/>
            <a:ext cx="182880" cy="182880"/>
          </a:xfrm>
          <a:prstGeom prst="ellipse">
            <a:avLst/>
          </a:prstGeom>
          <a:solidFill>
            <a:srgbClr val="862E9C"/>
          </a:solidFill>
          <a:ln w="12700">
            <a:solidFill>
              <a:srgbClr val="862E9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858000" y="42428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 foam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9692640" y="424281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Oct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241280" y="42428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87.9 dB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583680" y="4645152"/>
            <a:ext cx="182880" cy="182880"/>
          </a:xfrm>
          <a:prstGeom prst="ellipse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858000" y="45811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Cork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9692640" y="45811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Oct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10241280" y="458114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 dB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583680" y="4983480"/>
            <a:ext cx="182880" cy="18288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858000" y="49194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Duct, membrane only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9692640" y="49194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Oct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10241280" y="49194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89.5 dB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6583680" y="51937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3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10.2 dB</a:t>
            </a:r>
            <a:endParaRPr lang="en-US" sz="3400" dirty="0"/>
          </a:p>
        </p:txBody>
      </p:sp>
      <p:sp>
        <p:nvSpPr>
          <p:cNvPr id="47" name="Text 44"/>
          <p:cNvSpPr txBox="1"/>
          <p:nvPr/>
        </p:nvSpPr>
        <p:spPr>
          <a:xfrm>
            <a:off x="6583680" y="5760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(Thinsulate, 4 layers) against worst (Duct, membrane only), at +18°; 6.7 dB on average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and 9 Oct 2026, 5-inch 3-blade propeller, 500 Hz–24 kHz, 2000 µs, mean of 3 repeats, corrected files. Axis 76–94 dB. Not comparable with slide 8.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Chamber measurements</dc:title>
  <dc:subject>PptxGenJS Presentation</dc:subject>
  <dc:creator>PptxGenJS</dc:creator>
  <cp:lastModifiedBy>PptxGenJS</cp:lastModifiedBy>
  <cp:revision>1</cp:revision>
  <dcterms:created xsi:type="dcterms:W3CDTF">2026-10-09T15:34:34Z</dcterms:created>
  <dcterms:modified xsi:type="dcterms:W3CDTF">2026-10-09T15:34:34Z</dcterms:modified>
</cp:coreProperties>
</file>