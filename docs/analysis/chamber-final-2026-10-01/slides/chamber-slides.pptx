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Change in room error (dB)</c:v>
                </c:pt>
              </c:strCache>
            </c:strRef>
          </c:tx>
          <c:spPr>
            <a:solidFill>
              <a:srgbClr val="9AA5B8"/>
            </a:solidFill>
            <a:effectLst/>
          </c:spPr>
          <c:invertIfNegative val="0"/>
          <c:dLbls>
            <c:numFmt formatCode="0.000" sourceLinked="0"/>
            <c:txPr>
              <a:bodyPr/>
              <a:lstStyle/>
              <a:p>
                <a:pPr>
                  <a:defRPr b="0" i="0" strike="noStrike" sz="1300" u="none">
                    <a:solidFill>
                      <a:srgbClr val="1F2A44"/>
                    </a:solidFill>
                    <a:latin typeface="Calibri"/>
                  </a:defRPr>
                </a:pPr>
              </a:p>
            </c:txPr>
            <c:showLegendKey val="0"/>
            <c:showVal val="1"/>
            <c:showCatName val="0"/>
            <c:showSerName val="0"/>
            <c:showPercent val="0"/>
            <c:showBubbleSize val="0"/>
            <c:showLeaderLines val="0"/>
          </c:dLbls>
          <c:dPt>
            <c:idx val="0"/>
            <c:invertIfNegative val="0"/>
            <c:bubble3D val="0"/>
            <c:spPr>
              <a:solidFill>
                <a:srgbClr val="9AA5B8"/>
              </a:solidFill>
              <a:effectLst/>
            </c:spPr>
          </c:dPt>
          <c:dPt>
            <c:idx val="1"/>
            <c:invertIfNegative val="0"/>
            <c:bubble3D val="0"/>
            <c:spPr>
              <a:solidFill>
                <a:srgbClr val="9AA5B8"/>
              </a:solidFill>
              <a:effectLst/>
            </c:spPr>
          </c:dPt>
          <c:dPt>
            <c:idx val="2"/>
            <c:invertIfNegative val="0"/>
            <c:bubble3D val="0"/>
            <c:spPr>
              <a:solidFill>
                <a:srgbClr val="9AA5B8"/>
              </a:solidFill>
              <a:effectLst/>
            </c:spPr>
          </c:dPt>
          <c:dPt>
            <c:idx val="3"/>
            <c:invertIfNegative val="0"/>
            <c:bubble3D val="0"/>
            <c:spPr>
              <a:solidFill>
                <a:srgbClr val="9AA5B8"/>
              </a:solidFill>
              <a:effectLst/>
            </c:spPr>
          </c:dPt>
          <c:dPt>
            <c:idx val="4"/>
            <c:invertIfNegative val="0"/>
            <c:bubble3D val="0"/>
            <c:spPr>
              <a:solidFill>
                <a:srgbClr val="C9CFDA"/>
              </a:solidFill>
              <a:effectLst/>
            </c:spPr>
          </c:dPt>
          <c:dPt>
            <c:idx val="5"/>
            <c:invertIfNegative val="0"/>
            <c:bubble3D val="0"/>
            <c:spPr>
              <a:solidFill>
                <a:srgbClr val="2B6CB0"/>
              </a:solidFill>
              <a:effectLst/>
            </c:spPr>
          </c:dPt>
          <c:cat>
            <c:multiLvlStrRef>
              <c:f>Sheet1!$A$2:$A$7</c:f>
              <c:multiLvlStrCache>
                <c:ptCount val="6"/>
                <c:lvl>
                  <c:pt idx="0">
                    <c:v>Tripod wrap partly off (23 Sep)</c:v>
                  </c:pt>
                  <c:pt idx="1">
                    <c:v>Ring wrap, first part off (23 Sep)</c:v>
                  </c:pt>
                  <c:pt idx="2">
                    <c:v>Ring wrap, more off (23 Sep)</c:v>
                  </c:pt>
                  <c:pt idx="3">
                    <c:v>Rest of ring wrap off (24 Sep)</c:v>
                  </c:pt>
                  <c:pt idx="4">
                    <c:v>Handling alone (typical)</c:v>
                  </c:pt>
                  <c:pt idx="5">
                    <c:v>Carpet on the empty floor (24 Sep)</c:v>
                  </c:pt>
                </c:lvl>
              </c:multiLvlStrCache>
            </c:multiLvlStrRef>
          </c:cat>
          <c:val>
            <c:numRef>
              <c:f>Sheet1!$B$2:$B$7</c:f>
              <c:numCache>
                <c:formatCode>General</c:formatCode>
                <c:ptCount val="6"/>
                <c:pt idx="0">
                  <c:v>0.004</c:v>
                </c:pt>
                <c:pt idx="1">
                  <c:v>0.018</c:v>
                </c:pt>
                <c:pt idx="2">
                  <c:v>0.002</c:v>
                </c:pt>
                <c:pt idx="3">
                  <c:v>0.014</c:v>
                </c:pt>
                <c:pt idx="4">
                  <c:v>0.04</c:v>
                </c:pt>
                <c:pt idx="5">
                  <c:v>0.737</c:v>
                </c:pt>
              </c:numCache>
            </c:numRef>
          </c:val>
        </c:ser>
        <c:dLbls>
          <c:numFmt formatCode="0.000" sourceLinked="0"/>
          <c:txPr>
            <a:bodyPr/>
            <a:lstStyle/>
            <a:p>
              <a:pPr>
                <a:defRPr b="0" i="0" strike="noStrike" sz="1300" u="none">
                  <a:solidFill>
                    <a:srgbClr val="1F2A44"/>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A44"/>
                </a:solidFill>
                <a:latin typeface="Calibri"/>
              </a:defRPr>
            </a:pPr>
            <a:endParaRPr lang="en-US"/>
          </a:p>
        </c:txPr>
        <c:crossAx val="2094734552"/>
        <c:crosses val="autoZero"/>
        <c:auto val="1"/>
        <c:lblAlgn val="ctr"/>
        <c:noMultiLvlLbl val="1"/>
        <c:tickLblSkip val="1"/>
      </c:catAx>
      <c:valAx>
        <c:axId val="2094734552"/>
        <c:scaling>
          <c:orientation val="minMax"/>
          <c:max val="0.9"/>
          <c:min val="0"/>
        </c:scaling>
        <c:delete val="0"/>
        <c:axPos val="b"/>
        <c:majorGridlines>
          <c:spPr>
            <a:ln w="6350" cap="flat">
              <a:solidFill>
                <a:srgbClr val="E3E7EE"/>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578"/>
                </a:solidFill>
                <a:latin typeface="Calibri"/>
              </a:defRPr>
            </a:pPr>
            <a:endParaRPr lang="en-US"/>
          </a:p>
        </c:txPr>
        <c:crossAx val="2094734554"/>
        <c:crosses val="autoZero"/>
        <c:crossBetween val="between"/>
        <c:majorUnit val="0.3"/>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 of the chamber trials (docs/analysis/chamber-treatments-2026-09-23) and the loudspeaker sessions, room error below 3 kHz. 23 Sep: foam-out 1.3837 to tripod-unwrapped 1.3874 (+0.004, some wrapping off the tripod legs); to ring-unwrapped 1.4057 (+0.018, part of the ring wrapping removed; a new hub mounting preset from there); to ring-unwrapped-2 1.4076 (+0.002, more of the ring unwrapped). 24 Sep, speaker on the wall (a different geometry): wall-direct-absorber 2.2193 to ring-bare 2.2054 (-0.014), the rest of the ring wrap removed, 10 minutes apart; map change 0.36 dB spread over all capsules. Three of the four changes are slightly worse, one slightly better. The README concludes the ring wrap is worth a little only at the high end, and that the best state measured was tripod bare and ring wrapped. Repeat floor 0.006-0.015 dB, handling about 0.04 dB (README). Carpet on the empty floor: 24 Sep floor-no-wedges 2.054 to chaotic-carpet 1.317 dB (-0.737), source unmoved. 0.737 / 0.018 = 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Chasing a round polar</a:t>
            </a:r>
            <a:endParaRPr lang="en-US" sz="40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Our chamber in its current set-up (5 Oct 2026): eleven microphones on a ring around the source, absorbing material on floor, ceiling and walls.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RING WRAP</a:t>
            </a:r>
            <a:endParaRPr lang="en-US" sz="1400" dirty="0"/>
          </a:p>
        </p:txBody>
      </p:sp>
      <p:sp>
        <p:nvSpPr>
          <p:cNvPr id="3" name="Text 1"/>
          <p:cNvSpPr txBox="1"/>
          <p:nvPr/>
        </p:nvSpPr>
        <p:spPr>
          <a:xfrm>
            <a:off x="548640" y="77724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Thinsulate on the ring hardly matters</a:t>
            </a:r>
            <a:endParaRPr lang="en-US" sz="3200" dirty="0"/>
          </a:p>
        </p:txBody>
      </p:sp>
      <p:sp>
        <p:nvSpPr>
          <p:cNvPr id="4" name="Text 2"/>
          <p:cNvSpPr txBox="1"/>
          <p:nvPr/>
        </p:nvSpPr>
        <p:spPr>
          <a:xfrm>
            <a:off x="548640" y="1737360"/>
            <a:ext cx="6583680" cy="32004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Size of the change in room error (dB)</a:t>
            </a:r>
            <a:endParaRPr lang="en-US" sz="1400" dirty="0"/>
          </a:p>
        </p:txBody>
      </p:sp>
      <p:graphicFrame>
        <p:nvGraphicFramePr>
          <p:cNvPr id="5" name="Chart 0" descr=""/>
          <p:cNvGraphicFramePr/>
          <p:nvPr/>
        </p:nvGraphicFramePr>
        <p:xfrm>
          <a:off x="457200" y="2057400"/>
          <a:ext cx="7040880" cy="41605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863840" y="1783080"/>
            <a:ext cx="3840480" cy="82296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0.02 dB</a:t>
            </a:r>
            <a:endParaRPr lang="en-US" sz="4800" dirty="0"/>
          </a:p>
        </p:txBody>
      </p:sp>
      <p:sp>
        <p:nvSpPr>
          <p:cNvPr id="7" name="Text 4"/>
          <p:cNvSpPr txBox="1"/>
          <p:nvPr/>
        </p:nvSpPr>
        <p:spPr>
          <a:xfrm>
            <a:off x="7863840" y="2651760"/>
            <a:ext cx="3840480" cy="91440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at most: the largest change in room error from taking any Thinsulate wrap off the ring or the tripod, in four cases.</a:t>
            </a:r>
            <a:endParaRPr lang="en-US" sz="1400" dirty="0"/>
          </a:p>
        </p:txBody>
      </p:sp>
      <p:sp>
        <p:nvSpPr>
          <p:cNvPr id="8" name="Text 5"/>
          <p:cNvSpPr txBox="1"/>
          <p:nvPr/>
        </p:nvSpPr>
        <p:spPr>
          <a:xfrm>
            <a:off x="7863840" y="3749040"/>
            <a:ext cx="3840480" cy="2377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Three cases got slightly worse, one slightly better: no clear effect.</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same state measured twice differs by 0.006–0.015 dB, and handling by about 0.04 dB.</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carpet on the empty floor changed the error 40 times more.</a:t>
            </a:r>
            <a:endParaRPr lang="en-US" sz="1400" dirty="0"/>
          </a:p>
        </p:txBody>
      </p:sp>
      <p:sp>
        <p:nvSpPr>
          <p:cNvPr id="9" name="Text 6"/>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Runs: foam-out → tripod-unwrapped → ring-unwrapped → -2 (23 Sep); wall-direct-absorber → ring-bare (24 Sep). Carpet: 2.054 → 1.317 dB.</a:t>
            </a:r>
            <a:endParaRPr lang="en-US" sz="1100" dirty="0"/>
          </a:p>
        </p:txBody>
      </p:sp>
      <p:sp>
        <p:nvSpPr>
          <p:cNvPr id="10" name="Text 7"/>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rocks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Naked</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3977640"/>
            <a:ext cx="237744" cy="237744"/>
          </a:xfrm>
          <a:prstGeom prst="ellipse">
            <a:avLst/>
          </a:prstGeom>
          <a:solidFill>
            <a:srgbClr val="D6336C"/>
          </a:solidFill>
          <a:ln w="12700">
            <a:solidFill>
              <a:srgbClr val="D6336C"/>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to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louder than naked, on average</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At −90°, in the outflow (off the plot), all five meet at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 Radial axis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2026-10-06T15:52:40Z</dcterms:created>
  <dcterms:modified xsi:type="dcterms:W3CDTF">2026-10-06T15:52:40Z</dcterms:modified>
</cp:coreProperties>
</file>