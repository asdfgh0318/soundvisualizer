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Mean offset (dB)</c:v>
                </c:pt>
              </c:strCache>
            </c:strRef>
          </c:tx>
          <c:spPr>
            <a:solidFill>
              <a:srgbClr val="2B6CB0"/>
            </a:solidFill>
            <a:effectLst/>
          </c:spPr>
          <c:invertIfNegative val="0"/>
          <c:dLbls>
            <c:numFmt formatCode="0.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810-8893</c:v>
                  </c:pt>
                  <c:pt idx="1">
                    <c:v>810-8904</c:v>
                  </c:pt>
                  <c:pt idx="2">
                    <c:v>810-8901</c:v>
                  </c:pt>
                  <c:pt idx="3">
                    <c:v>810-8897</c:v>
                  </c:pt>
                  <c:pt idx="4">
                    <c:v>810-8900</c:v>
                  </c:pt>
                  <c:pt idx="5">
                    <c:v>811-1896</c:v>
                  </c:pt>
                  <c:pt idx="6">
                    <c:v>811-2321</c:v>
                  </c:pt>
                  <c:pt idx="7">
                    <c:v>810-8903</c:v>
                  </c:pt>
                  <c:pt idx="8">
                    <c:v>811-2310</c:v>
                  </c:pt>
                  <c:pt idx="9">
                    <c:v>811-1897</c:v>
                  </c:pt>
                  <c:pt idx="10">
                    <c:v>811-1892</c:v>
                  </c:pt>
                </c:lvl>
              </c:multiLvlStrCache>
            </c:multiLvlStrRef>
          </c:cat>
          <c:val>
            <c:numRef>
              <c:f>Sheet1!$B$2:$B$12</c:f>
              <c:numCache>
                <c:formatCode>General</c:formatCode>
                <c:ptCount val="11"/>
                <c:pt idx="0">
                  <c:v>1.25</c:v>
                </c:pt>
                <c:pt idx="1">
                  <c:v>0.85</c:v>
                </c:pt>
                <c:pt idx="2">
                  <c:v>0.84</c:v>
                </c:pt>
                <c:pt idx="3">
                  <c:v>0.76</c:v>
                </c:pt>
                <c:pt idx="4">
                  <c:v>0.23</c:v>
                </c:pt>
                <c:pt idx="5">
                  <c:v>0</c:v>
                </c:pt>
                <c:pt idx="6">
                  <c:v>-0.09</c:v>
                </c:pt>
                <c:pt idx="7">
                  <c:v>-0.14</c:v>
                </c:pt>
                <c:pt idx="8">
                  <c:v>-0.78</c:v>
                </c:pt>
                <c:pt idx="9">
                  <c:v>-1.39</c:v>
                </c:pt>
                <c:pt idx="10">
                  <c:v>-2.59</c:v>
                </c:pt>
              </c:numCache>
            </c:numRef>
          </c:val>
        </c:ser>
        <c:dLbls>
          <c:numFmt formatCode="0.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tickLblSkip val="1"/>
      </c:catAx>
      <c:valAx>
        <c:axId val="2094734552"/>
        <c:scaling>
          <c:orientation val="minMax"/>
          <c:max val="2"/>
          <c:min val="-3"/>
        </c:scaling>
        <c:delete val="0"/>
        <c:axPos val="b"/>
        <c:majorGridlines>
          <c:spPr>
            <a:ln w="6350" cap="flat">
              <a:solidFill>
                <a:srgbClr val="E3E7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Bars: mean over frequency of how far each capsule read from that datum with its factory file (calibrator corrections csv). Spread 4.01 to 0.02 dB and 7 of 11 files wrong by 0.6-3.6 dB are from the project notes.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1.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640080" y="2057400"/>
            <a:ext cx="1417320" cy="1600200"/>
          </a:xfrm>
          <a:prstGeom prst="rect">
            <a:avLst/>
          </a:prstGeom>
        </p:spPr>
      </p:pic>
      <p:sp>
        <p:nvSpPr>
          <p:cNvPr id="5" name="Text 2"/>
          <p:cNvSpPr txBox="1"/>
          <p:nvPr/>
        </p:nvSpPr>
        <p:spPr>
          <a:xfrm>
            <a:off x="411480" y="3703320"/>
            <a:ext cx="1874520" cy="274320"/>
          </a:xfrm>
          <a:prstGeom prst="rect">
            <a:avLst/>
          </a:prstGeom>
          <a:noFill/>
          <a:ln/>
        </p:spPr>
        <p:txBody>
          <a:bodyPr wrap="square" lIns="0" tIns="0" rIns="0" bIns="0" rtlCol="0" anchor="ctr"/>
          <a:lstStyle/>
          <a:p>
            <a:pPr algn="ctr" indent="0" marL="0">
              <a:buNone/>
            </a:pPr>
            <a:r>
              <a:rPr lang="en-US" sz="1400" dirty="0">
                <a:solidFill>
                  <a:srgbClr val="1F2A44"/>
                </a:solidFill>
                <a:latin typeface="Calibri" pitchFamily="34" charset="0"/>
                <a:ea typeface="Calibri" pitchFamily="34" charset="-122"/>
                <a:cs typeface="Calibri" pitchFamily="34" charset="-120"/>
              </a:rPr>
              <a:t>Our loudspeaker</a:t>
            </a:r>
            <a:endParaRPr lang="en-US" sz="1400" dirty="0"/>
          </a:p>
        </p:txBody>
      </p:sp>
      <p:sp>
        <p:nvSpPr>
          <p:cNvPr id="6" name="Text 3"/>
          <p:cNvSpPr txBox="1"/>
          <p:nvPr/>
        </p:nvSpPr>
        <p:spPr>
          <a:xfrm>
            <a:off x="2011680" y="2514600"/>
            <a:ext cx="2377440" cy="27432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stepped tones, 62 Hz to 16 kHz</a:t>
            </a:r>
            <a:endParaRPr lang="en-US" sz="1200" dirty="0"/>
          </a:p>
        </p:txBody>
      </p:sp>
      <p:sp>
        <p:nvSpPr>
          <p:cNvPr id="7" name="Shape 4"/>
          <p:cNvSpPr/>
          <p:nvPr/>
        </p:nvSpPr>
        <p:spPr>
          <a:xfrm>
            <a:off x="2194560" y="2926080"/>
            <a:ext cx="2011680" cy="0"/>
          </a:xfrm>
          <a:prstGeom prst="line">
            <a:avLst/>
          </a:prstGeom>
          <a:noFill/>
          <a:ln w="31750">
            <a:solidFill>
              <a:srgbClr val="D6336C"/>
            </a:solidFill>
            <a:prstDash val="dash"/>
            <a:tailEnd type="triangle"/>
          </a:ln>
        </p:spPr>
      </p:sp>
      <p:sp>
        <p:nvSpPr>
          <p:cNvPr id="8" name="Shape 5"/>
          <p:cNvSpPr/>
          <p:nvPr/>
        </p:nvSpPr>
        <p:spPr>
          <a:xfrm>
            <a:off x="4297680" y="2651760"/>
            <a:ext cx="502920" cy="502920"/>
          </a:xfrm>
          <a:prstGeom prst="ellipse">
            <a:avLst/>
          </a:prstGeom>
          <a:solidFill>
            <a:srgbClr val="2B6CB0"/>
          </a:solidFill>
          <a:ln w="12700">
            <a:solidFill>
              <a:srgbClr val="2B6CB0"/>
            </a:solidFill>
            <a:prstDash val="solid"/>
          </a:ln>
        </p:spPr>
      </p:sp>
      <p:sp>
        <p:nvSpPr>
          <p:cNvPr id="9" name="Shape 6"/>
          <p:cNvSpPr/>
          <p:nvPr/>
        </p:nvSpPr>
        <p:spPr>
          <a:xfrm>
            <a:off x="4498848" y="3108960"/>
            <a:ext cx="100584" cy="548640"/>
          </a:xfrm>
          <a:prstGeom prst="rect">
            <a:avLst/>
          </a:prstGeom>
          <a:solidFill>
            <a:srgbClr val="2B6CB0"/>
          </a:solidFill>
          <a:ln w="12700">
            <a:solidFill>
              <a:srgbClr val="2B6CB0"/>
            </a:solidFill>
            <a:prstDash val="solid"/>
          </a:ln>
        </p:spPr>
      </p:sp>
      <p:sp>
        <p:nvSpPr>
          <p:cNvPr id="10" name="Text 7"/>
          <p:cNvSpPr txBox="1"/>
          <p:nvPr/>
        </p:nvSpPr>
        <p:spPr>
          <a:xfrm>
            <a:off x="3383280" y="3749040"/>
            <a:ext cx="2148840" cy="274320"/>
          </a:xfrm>
          <a:prstGeom prst="rect">
            <a:avLst/>
          </a:prstGeom>
          <a:noFill/>
          <a:ln/>
        </p:spPr>
        <p:txBody>
          <a:bodyPr wrap="square" lIns="0" tIns="0" rIns="0" bIns="0" rtlCol="0" anchor="ctr"/>
          <a:lstStyle/>
          <a:p>
            <a:pPr algn="ctr" indent="0" marL="0">
              <a:buNone/>
            </a:pPr>
            <a:r>
              <a:rPr lang="en-US" sz="1400" dirty="0">
                <a:solidFill>
                  <a:srgbClr val="1F2A44"/>
                </a:solidFill>
                <a:latin typeface="Calibri" pitchFamily="34" charset="0"/>
                <a:ea typeface="Calibri" pitchFamily="34" charset="-122"/>
                <a:cs typeface="Calibri" pitchFamily="34" charset="-120"/>
              </a:rPr>
              <a:t>UMIK-2 microphone</a:t>
            </a:r>
            <a:endParaRPr lang="en-US" sz="1400" dirty="0"/>
          </a:p>
        </p:txBody>
      </p:sp>
      <p:sp>
        <p:nvSpPr>
          <p:cNvPr id="11" name="Text 8"/>
          <p:cNvSpPr txBox="1"/>
          <p:nvPr/>
        </p:nvSpPr>
        <p:spPr>
          <a:xfrm>
            <a:off x="4892040" y="2606040"/>
            <a:ext cx="731520" cy="274320"/>
          </a:xfrm>
          <a:prstGeom prst="rect">
            <a:avLst/>
          </a:prstGeom>
          <a:noFill/>
          <a:ln/>
        </p:spPr>
        <p:txBody>
          <a:bodyPr wrap="square" lIns="0" tIns="0" rIns="0" bIns="0" rtlCol="0" anchor="ctr"/>
          <a:lstStyle/>
          <a:p>
            <a:pPr algn="ctr" indent="0" marL="0">
              <a:buNone/>
            </a:pPr>
            <a:r>
              <a:rPr lang="en-US" sz="1200" b="1" dirty="0">
                <a:solidFill>
                  <a:srgbClr val="1F2A44"/>
                </a:solidFill>
                <a:latin typeface="Calibri" pitchFamily="34" charset="0"/>
                <a:ea typeface="Calibri" pitchFamily="34" charset="-122"/>
                <a:cs typeface="Calibri" pitchFamily="34" charset="-120"/>
              </a:rPr>
              <a:t>swap</a:t>
            </a:r>
            <a:endParaRPr lang="en-US" sz="1200" dirty="0"/>
          </a:p>
        </p:txBody>
      </p:sp>
      <p:sp>
        <p:nvSpPr>
          <p:cNvPr id="12" name="Shape 9"/>
          <p:cNvSpPr/>
          <p:nvPr/>
        </p:nvSpPr>
        <p:spPr>
          <a:xfrm>
            <a:off x="4937760" y="2926080"/>
            <a:ext cx="640080" cy="0"/>
          </a:xfrm>
          <a:prstGeom prst="line">
            <a:avLst/>
          </a:prstGeom>
          <a:noFill/>
          <a:ln w="25400">
            <a:solidFill>
              <a:srgbClr val="1F2A44"/>
            </a:solidFill>
            <a:prstDash val="solid"/>
            <a:headEnd type="triangle"/>
            <a:tailEnd type="triangle"/>
          </a:ln>
        </p:spPr>
      </p:sp>
      <p:sp>
        <p:nvSpPr>
          <p:cNvPr id="13" name="Shape 10"/>
          <p:cNvSpPr/>
          <p:nvPr/>
        </p:nvSpPr>
        <p:spPr>
          <a:xfrm>
            <a:off x="5760720" y="2240280"/>
            <a:ext cx="384048" cy="384048"/>
          </a:xfrm>
          <a:prstGeom prst="ellipse">
            <a:avLst/>
          </a:prstGeom>
          <a:solidFill>
            <a:srgbClr val="C9CFDA"/>
          </a:solidFill>
          <a:ln w="12700">
            <a:solidFill>
              <a:srgbClr val="C9CFDA"/>
            </a:solidFill>
            <a:prstDash val="solid"/>
          </a:ln>
        </p:spPr>
      </p:sp>
      <p:sp>
        <p:nvSpPr>
          <p:cNvPr id="14" name="Shape 11"/>
          <p:cNvSpPr/>
          <p:nvPr/>
        </p:nvSpPr>
        <p:spPr>
          <a:xfrm>
            <a:off x="5760720" y="2697480"/>
            <a:ext cx="384048" cy="384048"/>
          </a:xfrm>
          <a:prstGeom prst="ellipse">
            <a:avLst/>
          </a:prstGeom>
          <a:solidFill>
            <a:srgbClr val="C9CFDA"/>
          </a:solidFill>
          <a:ln w="12700">
            <a:solidFill>
              <a:srgbClr val="C9CFDA"/>
            </a:solidFill>
            <a:prstDash val="solid"/>
          </a:ln>
        </p:spPr>
      </p:sp>
      <p:sp>
        <p:nvSpPr>
          <p:cNvPr id="15" name="Shape 12"/>
          <p:cNvSpPr/>
          <p:nvPr/>
        </p:nvSpPr>
        <p:spPr>
          <a:xfrm>
            <a:off x="5760720" y="3154680"/>
            <a:ext cx="384048" cy="384048"/>
          </a:xfrm>
          <a:prstGeom prst="ellipse">
            <a:avLst/>
          </a:prstGeom>
          <a:solidFill>
            <a:srgbClr val="C9CFDA"/>
          </a:solidFill>
          <a:ln w="12700">
            <a:solidFill>
              <a:srgbClr val="C9CFDA"/>
            </a:solidFill>
            <a:prstDash val="solid"/>
          </a:ln>
        </p:spPr>
      </p:sp>
      <p:sp>
        <p:nvSpPr>
          <p:cNvPr id="16" name="Text 13"/>
          <p:cNvSpPr txBox="1"/>
          <p:nvPr/>
        </p:nvSpPr>
        <p:spPr>
          <a:xfrm>
            <a:off x="5577840" y="3749040"/>
            <a:ext cx="1188720" cy="274320"/>
          </a:xfrm>
          <a:prstGeom prst="rect">
            <a:avLst/>
          </a:prstGeom>
          <a:noFill/>
          <a:ln/>
        </p:spPr>
        <p:txBody>
          <a:bodyPr wrap="square" lIns="0" tIns="0" rIns="0" bIns="0" rtlCol="0" anchor="ctr"/>
          <a:lstStyle/>
          <a:p>
            <a:pPr algn="ctr" indent="0" marL="0">
              <a:buNone/>
            </a:pPr>
            <a:r>
              <a:rPr lang="en-US" sz="1400" dirty="0">
                <a:solidFill>
                  <a:srgbClr val="1F2A44"/>
                </a:solidFill>
                <a:latin typeface="Calibri" pitchFamily="34" charset="0"/>
                <a:ea typeface="Calibri" pitchFamily="34" charset="-122"/>
                <a:cs typeface="Calibri" pitchFamily="34" charset="-120"/>
              </a:rPr>
              <a:t>all 11 in turn</a:t>
            </a:r>
            <a:endParaRPr lang="en-US" sz="1400" dirty="0"/>
          </a:p>
        </p:txBody>
      </p:sp>
      <p:sp>
        <p:nvSpPr>
          <p:cNvPr id="17" name="Text 14"/>
          <p:cNvSpPr txBox="1"/>
          <p:nvPr/>
        </p:nvSpPr>
        <p:spPr>
          <a:xfrm>
            <a:off x="548640" y="4434840"/>
            <a:ext cx="612648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Same position, same loudspeaker, same level for every microphone</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8" name="Text 15"/>
          <p:cNvSpPr txBox="1"/>
          <p:nvPr/>
        </p:nvSpPr>
        <p:spPr>
          <a:xfrm>
            <a:off x="7223760" y="1783080"/>
            <a:ext cx="4480560" cy="731520"/>
          </a:xfrm>
          <a:prstGeom prst="rect">
            <a:avLst/>
          </a:prstGeom>
          <a:noFill/>
          <a:ln/>
        </p:spPr>
        <p:txBody>
          <a:bodyPr wrap="square" lIns="0" tIns="0" rIns="0" bIns="0" rtlCol="0" anchor="ctr"/>
          <a:lstStyle/>
          <a:p>
            <a:pPr indent="0" marL="0">
              <a:buNone/>
            </a:pPr>
            <a:r>
              <a:rPr lang="en-US" sz="4400" b="1" dirty="0">
                <a:solidFill>
                  <a:srgbClr val="D6336C"/>
                </a:solidFill>
                <a:latin typeface="Cambria" pitchFamily="34" charset="0"/>
                <a:ea typeface="Cambria" pitchFamily="34" charset="-122"/>
                <a:cs typeface="Cambria" pitchFamily="34" charset="-120"/>
              </a:rPr>
              <a:t>4.01</a:t>
            </a:r>
            <a:pPr indent="0" marL="0">
              <a:buNone/>
            </a:pPr>
            <a:r>
              <a:rPr lang="en-US" sz="4400" b="1" dirty="0">
                <a:solidFill>
                  <a:srgbClr val="5B6578"/>
                </a:solidFill>
                <a:latin typeface="Cambria" pitchFamily="34" charset="0"/>
                <a:ea typeface="Cambria" pitchFamily="34" charset="-122"/>
                <a:cs typeface="Cambria" pitchFamily="34" charset="-120"/>
              </a:rPr>
              <a:t> → </a:t>
            </a:r>
            <a:pPr indent="0" marL="0">
              <a:buNone/>
            </a:pPr>
            <a:r>
              <a:rPr lang="en-US" sz="4400" b="1" dirty="0">
                <a:solidFill>
                  <a:srgbClr val="2B6CB0"/>
                </a:solidFill>
                <a:latin typeface="Cambria" pitchFamily="34" charset="0"/>
                <a:ea typeface="Cambria" pitchFamily="34" charset="-122"/>
                <a:cs typeface="Cambria" pitchFamily="34" charset="-120"/>
              </a:rPr>
              <a:t>0.02 dB</a:t>
            </a:r>
            <a:endParaRPr lang="en-US" sz="4400" dirty="0"/>
          </a:p>
        </p:txBody>
      </p:sp>
      <p:sp>
        <p:nvSpPr>
          <p:cNvPr id="19" name="Text 16"/>
          <p:cNvSpPr txBox="1"/>
          <p:nvPr/>
        </p:nvSpPr>
        <p:spPr>
          <a:xfrm>
            <a:off x="7223760" y="2514600"/>
            <a:ext cx="4480560" cy="50292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20" name="Text 17"/>
          <p:cNvSpPr txBox="1"/>
          <p:nvPr/>
        </p:nvSpPr>
        <p:spPr>
          <a:xfrm>
            <a:off x="7223760" y="3017520"/>
            <a:ext cx="4480560" cy="32004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21" name="Text 18"/>
          <p:cNvSpPr txBox="1"/>
          <p:nvPr/>
        </p:nvSpPr>
        <p:spPr>
          <a:xfrm>
            <a:off x="7223760" y="3383280"/>
            <a:ext cx="44805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Each factory file against the common reference, mean over frequency (dB): below 0 reads too quiet, above 0 too loud</a:t>
            </a:r>
            <a:endParaRPr lang="en-US" sz="1100" dirty="0"/>
          </a:p>
        </p:txBody>
      </p:sp>
      <p:graphicFrame>
        <p:nvGraphicFramePr>
          <p:cNvPr id="22" name="Chart 0" descr=""/>
          <p:cNvGraphicFramePr/>
          <p:nvPr/>
        </p:nvGraphicFramePr>
        <p:xfrm>
          <a:off x="7132320" y="3749040"/>
          <a:ext cx="4572000" cy="2606040"/>
        </p:xfrm>
        <a:graphic xmlns:a="http://schemas.openxmlformats.org/drawingml/2006/main">
          <a:graphicData uri="http://schemas.openxmlformats.org/drawingml/2006/chart">
            <c:chart xmlns:c="http://schemas.openxmlformats.org/drawingml/2006/chart" r:id="rId2"/>
          </a:graphicData>
        </a:graphic>
      </p:graphicFrame>
      <p:sp>
        <p:nvSpPr>
          <p:cNvPr id="23" name="Text 19"/>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one microphone plugged in at a time, loudspeaker amplitude 0.03 of full scale.</a:t>
            </a:r>
            <a:endParaRPr lang="en-US" sz="1100" dirty="0"/>
          </a:p>
        </p:txBody>
      </p:sp>
      <p:sp>
        <p:nvSpPr>
          <p:cNvPr id="24" name="Text 20"/>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2026-10-06T14:55:22Z</dcterms:created>
  <dcterms:modified xsi:type="dcterms:W3CDTF">2026-10-06T14:55:22Z</dcterms:modified>
</cp:coreProperties>
</file>