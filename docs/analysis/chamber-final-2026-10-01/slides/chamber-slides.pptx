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Mean offset (dB)</c:v>
                </c:pt>
              </c:strCache>
            </c:strRef>
          </c:tx>
          <c:spPr>
            <a:solidFill>
              <a:srgbClr val="2B6CB0"/>
            </a:solidFill>
            <a:effectLst/>
          </c:spPr>
          <c:invertIfNegative val="0"/>
          <c:dLbls>
            <c:numFmt formatCode="0.0" sourceLinked="0"/>
            <c:txPr>
              <a:bodyPr/>
              <a:lstStyle/>
              <a:p>
                <a:pPr>
                  <a:defRPr b="0" i="0" strike="noStrike" sz="1000" u="none">
                    <a:solidFill>
                      <a:srgbClr val="1F2A44"/>
                    </a:solidFill>
                    <a:latin typeface="Calibri"/>
                  </a:defRPr>
                </a:pPr>
              </a:p>
            </c:txPr>
            <c:showLegendKey val="0"/>
            <c:showVal val="1"/>
            <c:showCatName val="0"/>
            <c:showSerName val="0"/>
            <c:showPercent val="0"/>
            <c:showBubbleSize val="0"/>
            <c:showLeaderLines val="0"/>
          </c:dLbls>
          <c:cat>
            <c:multiLvlStrRef>
              <c:f>Sheet1!$A$2:$A$12</c:f>
              <c:multiLvlStrCache>
                <c:ptCount val="11"/>
                <c:lvl>
                  <c:pt idx="0">
                    <c:v>810-8893</c:v>
                  </c:pt>
                  <c:pt idx="1">
                    <c:v>810-8904</c:v>
                  </c:pt>
                  <c:pt idx="2">
                    <c:v>810-8901</c:v>
                  </c:pt>
                  <c:pt idx="3">
                    <c:v>810-8897</c:v>
                  </c:pt>
                  <c:pt idx="4">
                    <c:v>810-8900</c:v>
                  </c:pt>
                  <c:pt idx="5">
                    <c:v>811-1896</c:v>
                  </c:pt>
                  <c:pt idx="6">
                    <c:v>811-2321</c:v>
                  </c:pt>
                  <c:pt idx="7">
                    <c:v>810-8903</c:v>
                  </c:pt>
                  <c:pt idx="8">
                    <c:v>811-2310</c:v>
                  </c:pt>
                  <c:pt idx="9">
                    <c:v>811-1897</c:v>
                  </c:pt>
                  <c:pt idx="10">
                    <c:v>811-1892</c:v>
                  </c:pt>
                </c:lvl>
              </c:multiLvlStrCache>
            </c:multiLvlStrRef>
          </c:cat>
          <c:val>
            <c:numRef>
              <c:f>Sheet1!$B$2:$B$12</c:f>
              <c:numCache>
                <c:formatCode>General</c:formatCode>
                <c:ptCount val="11"/>
                <c:pt idx="0">
                  <c:v>1.25</c:v>
                </c:pt>
                <c:pt idx="1">
                  <c:v>0.85</c:v>
                </c:pt>
                <c:pt idx="2">
                  <c:v>0.84</c:v>
                </c:pt>
                <c:pt idx="3">
                  <c:v>0.76</c:v>
                </c:pt>
                <c:pt idx="4">
                  <c:v>0.23</c:v>
                </c:pt>
                <c:pt idx="5">
                  <c:v>0</c:v>
                </c:pt>
                <c:pt idx="6">
                  <c:v>-0.09</c:v>
                </c:pt>
                <c:pt idx="7">
                  <c:v>-0.14</c:v>
                </c:pt>
                <c:pt idx="8">
                  <c:v>-0.78</c:v>
                </c:pt>
                <c:pt idx="9">
                  <c:v>-1.39</c:v>
                </c:pt>
                <c:pt idx="10">
                  <c:v>-2.59</c:v>
                </c:pt>
              </c:numCache>
            </c:numRef>
          </c:val>
        </c:ser>
        <c:dLbls>
          <c:numFmt formatCode="0.0" sourceLinked="0"/>
          <c:txPr>
            <a:bodyPr/>
            <a:lstStyle/>
            <a:p>
              <a:pPr>
                <a:defRPr b="0" i="0" strike="noStrike" sz="1000" u="none">
                  <a:solidFill>
                    <a:srgbClr val="1F2A44"/>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A44"/>
                </a:solidFill>
                <a:latin typeface="Calibri"/>
              </a:defRPr>
            </a:pPr>
            <a:endParaRPr lang="en-US"/>
          </a:p>
        </c:txPr>
        <c:crossAx val="2094734552"/>
        <c:crosses val="autoZero"/>
        <c:auto val="1"/>
        <c:lblAlgn val="ctr"/>
        <c:noMultiLvlLbl val="1"/>
        <c:tickLblSkip val="1"/>
      </c:catAx>
      <c:valAx>
        <c:axId val="2094734552"/>
        <c:scaling>
          <c:orientation val="minMax"/>
          <c:max val="2"/>
          <c:min val="-3"/>
        </c:scaling>
        <c:delete val="0"/>
        <c:axPos val="b"/>
        <c:majorGridlines>
          <c:spPr>
            <a:ln w="6350" cap="flat">
              <a:solidFill>
                <a:srgbClr val="E3E7EE"/>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B6578"/>
                </a:solidFill>
                <a:latin typeface="Calibri"/>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the 31 Aug 2026 horizontal baseline (arc laid flat, propeller axis vertical), propeller at PWM 2000, total level 20-560 Hz per microphone, read with the factory calibration files as it was measured. Rms spread about the mean 2.05 dB, range 6.7 dB (63.9 to 70.6 dB SPL). The radial axis is 30-76 dB, the same as the report polars, so the same red curve can be shown against the 30 Sep measurement on a later slide. On a 0-80 dB axis the same curve looks rounder.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(calibrator/session.py, 2026-09-16 session): each of the eleven UMIK-2 capsules was plugged in at the same mounting point in front of the loudspeaker and measured over 97 stepped tones, 62 Hz to 16 kHz (about 12 per octave), amplitude 0.03, 48 kHz sampling, 0.7 s settle and 2 s capture per tone (6 s below 250 Hz). Capsule 810-8904 was measured three full times (18:21, 18:30, 20:43) as the reference. The difference of each capsule from the reference was folded into its calibration curve; Sens Factors kept as in the factory files. The datum is the mean of four capsules whose factory files agree with measurement (810-8900, 810-8903, 811-1896, 811-2321). Bars: mean over frequency of how far each capsule read from that datum with its factory file (calibrator corrections csv). Spread 4.01 to 0.02 dB and 7 of 11 files wrong by 0.6-3.6 dB are from the project notes. Absolute level is not anchored: that needs a 94 dB calibrator.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Blue: 30 Sep propeller measurement (11.7 V, 7.3 A, thrust -4 N), read with the 16 Sep microphone corrections. Rms spread about the mean 1.45 dB against 2.05 dB for 31 Aug; range 4.0 dB (55.5 to 59.6 dB SPL) against 6.7 dB. The blue is about 11 dB lower because the motor ran at a different operating point. The 4 dB range of the blue is a bottom-louder trend. Honest caveat: with the same calibration applied to the 1-2 Sep runs, those are about as round as 30 Sep, so most of the improvement against the earlier baselines comes from the microphone calibration, not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chart" Target="/ppt/charts/chart1.xml"/><Relationship Id="rId1" Type="http://schemas.openxmlformats.org/officeDocument/2006/relationships/image" Target="../media/image-2-1.jpg"/><Relationship Id="rId2" Type="http://schemas.openxmlformats.org/officeDocument/2006/relationships/image" Target="../media/image-2-2.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olar plot of the 31 Aug propeller measurement, 20 to 560 Hz, with a jagged outline">    </p:cNvPr>
          <p:cNvPicPr>
            <a:picLocks noChangeAspect="1"/>
          </p:cNvPicPr>
          <p:nvPr/>
        </p:nvPicPr>
        <p:blipFill>
          <a:blip r:embed="rId1"/>
          <a:stretch>
            <a:fillRect/>
          </a:stretch>
        </p:blipFill>
        <p:spPr>
          <a:xfrm>
            <a:off x="548640" y="594360"/>
            <a:ext cx="5669280" cy="5669280"/>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D6336C"/>
                </a:solidFill>
                <a:latin typeface="Calibri" pitchFamily="34" charset="0"/>
                <a:ea typeface="Calibri" pitchFamily="34" charset="-122"/>
                <a:cs typeface="Calibri" pitchFamily="34" charset="-120"/>
              </a:rPr>
              <a:t>THE PROBLEM</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Our polar plot is jagged</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We measured a propeller with the microphone arc in a plane parallel to the propeller disc.</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A propeller is symmetric around its axis, so every microphone should read about the same.</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We expected a smooth, nearly round polar. We observed a jagged outline.</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of the eleven microphones</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31 Aug 2026, 20–560 Hz, motor at 2000 µs. Radial axis 30–76 dB, the same as in the report.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1</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548640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FIX</a:t>
            </a:r>
            <a:endParaRPr lang="en-US" sz="1400" dirty="0"/>
          </a:p>
        </p:txBody>
      </p:sp>
      <p:sp>
        <p:nvSpPr>
          <p:cNvPr id="3" name="Text 1"/>
          <p:cNvSpPr txBox="1"/>
          <p:nvPr/>
        </p:nvSpPr>
        <p:spPr>
          <a:xfrm>
            <a:off x="548640" y="822960"/>
            <a:ext cx="11064240" cy="731520"/>
          </a:xfrm>
          <a:prstGeom prst="rect">
            <a:avLst/>
          </a:prstGeom>
          <a:noFill/>
          <a:ln/>
        </p:spPr>
        <p:txBody>
          <a:bodyPr wrap="square" lIns="0" tIns="0" rIns="0" bIns="0" rtlCol="0" anchor="t"/>
          <a:lstStyle/>
          <a:p>
            <a:pPr indent="0" marL="0">
              <a:buNone/>
            </a:pPr>
            <a:r>
              <a:rPr lang="en-US" sz="3200" b="1" dirty="0">
                <a:solidFill>
                  <a:srgbClr val="1F2A44"/>
                </a:solidFill>
                <a:latin typeface="Cambria" pitchFamily="34" charset="0"/>
                <a:ea typeface="Cambria" pitchFamily="34" charset="-122"/>
                <a:cs typeface="Cambria" pitchFamily="34" charset="-120"/>
              </a:rPr>
              <a:t>What we did: every microphone, one loudspeaker</a:t>
            </a:r>
            <a:endParaRPr lang="en-US" sz="3200" dirty="0"/>
          </a:p>
        </p:txBody>
      </p:sp>
      <p:pic>
        <p:nvPicPr>
          <p:cNvPr id="4" name="Image 0" descr="Our loudspeaker: a printed sphere with an 8 cm driver">    </p:cNvPr>
          <p:cNvPicPr>
            <a:picLocks noChangeAspect="1"/>
          </p:cNvPicPr>
          <p:nvPr/>
        </p:nvPicPr>
        <p:blipFill>
          <a:blip r:embed="rId1"/>
          <a:srcRect l="0" r="0" t="0" b="0"/>
          <a:stretch/>
        </p:blipFill>
        <p:spPr>
          <a:xfrm>
            <a:off x="640080" y="2057400"/>
            <a:ext cx="1417320" cy="1600200"/>
          </a:xfrm>
          <a:prstGeom prst="rect">
            <a:avLst/>
          </a:prstGeom>
        </p:spPr>
      </p:pic>
      <p:sp>
        <p:nvSpPr>
          <p:cNvPr id="5" name="Text 2"/>
          <p:cNvSpPr txBox="1"/>
          <p:nvPr/>
        </p:nvSpPr>
        <p:spPr>
          <a:xfrm>
            <a:off x="2103120" y="2468880"/>
            <a:ext cx="1828800" cy="27432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tones, 62 Hz–16 kHz</a:t>
            </a:r>
            <a:endParaRPr lang="en-US" sz="1200" dirty="0"/>
          </a:p>
        </p:txBody>
      </p:sp>
      <p:sp>
        <p:nvSpPr>
          <p:cNvPr id="6" name="Shape 3"/>
          <p:cNvSpPr/>
          <p:nvPr/>
        </p:nvSpPr>
        <p:spPr>
          <a:xfrm>
            <a:off x="2194560" y="2926080"/>
            <a:ext cx="1783080" cy="0"/>
          </a:xfrm>
          <a:prstGeom prst="line">
            <a:avLst/>
          </a:prstGeom>
          <a:noFill/>
          <a:ln w="31750">
            <a:solidFill>
              <a:srgbClr val="D6336C"/>
            </a:solidFill>
            <a:prstDash val="dash"/>
            <a:tailEnd type="triangle"/>
          </a:ln>
        </p:spPr>
      </p:sp>
      <p:sp>
        <p:nvSpPr>
          <p:cNvPr id="7" name="Text 4"/>
          <p:cNvSpPr txBox="1"/>
          <p:nvPr/>
        </p:nvSpPr>
        <p:spPr>
          <a:xfrm>
            <a:off x="4069080" y="2148840"/>
            <a:ext cx="2377440" cy="274320"/>
          </a:xfrm>
          <a:prstGeom prst="rect">
            <a:avLst/>
          </a:prstGeom>
          <a:noFill/>
          <a:ln/>
        </p:spPr>
        <p:txBody>
          <a:bodyPr wrap="square" lIns="0" tIns="0" rIns="0" bIns="0" rtlCol="0" anchor="ctr"/>
          <a:lstStyle/>
          <a:p>
            <a:pPr indent="0" marL="0">
              <a:buNone/>
            </a:pPr>
            <a:r>
              <a:rPr lang="en-US" sz="1400" dirty="0">
                <a:solidFill>
                  <a:srgbClr val="1F2A44"/>
                </a:solidFill>
                <a:latin typeface="Calibri" pitchFamily="34" charset="0"/>
                <a:ea typeface="Calibri" pitchFamily="34" charset="-122"/>
                <a:cs typeface="Calibri" pitchFamily="34" charset="-120"/>
              </a:rPr>
              <a:t>UMIK-2 microphone</a:t>
            </a:r>
            <a:endParaRPr lang="en-US" sz="1400" dirty="0"/>
          </a:p>
        </p:txBody>
      </p:sp>
      <p:pic>
        <p:nvPicPr>
          <p:cNvPr id="8" name="Image 1" descr="UMIK-2 measurement microphone, capsule end on the left facing the loudspeaker">    </p:cNvPr>
          <p:cNvPicPr>
            <a:picLocks noChangeAspect="1"/>
          </p:cNvPicPr>
          <p:nvPr/>
        </p:nvPicPr>
        <p:blipFill>
          <a:blip r:embed="rId2"/>
          <a:stretch>
            <a:fillRect/>
          </a:stretch>
        </p:blipFill>
        <p:spPr>
          <a:xfrm>
            <a:off x="4069080" y="2560320"/>
            <a:ext cx="2514600" cy="679399"/>
          </a:xfrm>
          <a:prstGeom prst="rect">
            <a:avLst/>
          </a:prstGeom>
        </p:spPr>
      </p:pic>
      <p:sp>
        <p:nvSpPr>
          <p:cNvPr id="9" name="Text 5"/>
          <p:cNvSpPr txBox="1"/>
          <p:nvPr/>
        </p:nvSpPr>
        <p:spPr>
          <a:xfrm>
            <a:off x="4069080" y="3310128"/>
            <a:ext cx="2651760" cy="256032"/>
          </a:xfrm>
          <a:prstGeom prst="rect">
            <a:avLst/>
          </a:prstGeom>
          <a:noFill/>
          <a:ln/>
        </p:spPr>
        <p:txBody>
          <a:bodyPr wrap="square" lIns="0" tIns="0" rIns="0" bIns="0" rtlCol="0" anchor="ctr"/>
          <a:lstStyle/>
          <a:p>
            <a:pPr indent="0" marL="0">
              <a:buNone/>
            </a:pPr>
            <a:r>
              <a:rPr lang="en-US" sz="1200" b="1" dirty="0">
                <a:solidFill>
                  <a:srgbClr val="2B6CB0"/>
                </a:solidFill>
                <a:latin typeface="Calibri" pitchFamily="34" charset="0"/>
                <a:ea typeface="Calibri" pitchFamily="34" charset="-122"/>
                <a:cs typeface="Calibri" pitchFamily="34" charset="-120"/>
              </a:rPr>
              <a:t>capsule end faces the loudspeaker</a:t>
            </a:r>
            <a:endParaRPr lang="en-US" sz="1200" dirty="0"/>
          </a:p>
        </p:txBody>
      </p:sp>
      <p:sp>
        <p:nvSpPr>
          <p:cNvPr id="10" name="Text 6"/>
          <p:cNvSpPr txBox="1"/>
          <p:nvPr/>
        </p:nvSpPr>
        <p:spPr>
          <a:xfrm>
            <a:off x="4069080" y="3657600"/>
            <a:ext cx="2651760" cy="237744"/>
          </a:xfrm>
          <a:prstGeom prst="rect">
            <a:avLst/>
          </a:prstGeom>
          <a:noFill/>
          <a:ln/>
        </p:spPr>
        <p:txBody>
          <a:bodyPr wrap="square" lIns="0" tIns="0" rIns="0" bIns="0" rtlCol="0" anchor="ctr"/>
          <a:lstStyle/>
          <a:p>
            <a:pPr indent="0" marL="0">
              <a:buNone/>
            </a:pPr>
            <a:r>
              <a:rPr lang="en-US" sz="1200" b="1" dirty="0">
                <a:solidFill>
                  <a:srgbClr val="1F2A44"/>
                </a:solidFill>
                <a:latin typeface="Calibri" pitchFamily="34" charset="0"/>
                <a:ea typeface="Calibri" pitchFamily="34" charset="-122"/>
                <a:cs typeface="Calibri" pitchFamily="34" charset="-120"/>
              </a:rPr>
              <a:t>swap, one unit at a time</a:t>
            </a:r>
            <a:endParaRPr lang="en-US" sz="1200" dirty="0"/>
          </a:p>
        </p:txBody>
      </p:sp>
      <p:sp>
        <p:nvSpPr>
          <p:cNvPr id="11" name="Text 7"/>
          <p:cNvSpPr/>
          <p:nvPr/>
        </p:nvSpPr>
        <p:spPr>
          <a:xfrm>
            <a:off x="4069080" y="3931920"/>
            <a:ext cx="841248" cy="292608"/>
          </a:xfrm>
          <a:prstGeom prst="roundRect">
            <a:avLst>
              <a:gd name="adj" fmla="val 31250"/>
            </a:avLst>
          </a:prstGeom>
          <a:solidFill>
            <a:srgbClr val="EEF1F6"/>
          </a:solidFill>
          <a:ln w="9525">
            <a:solidFill>
              <a:srgbClr val="C9CFDA"/>
            </a:solidFill>
          </a:ln>
        </p:spPr>
        <p:txBody>
          <a:bodyPr wrap="square" lIns="0" tIns="0" rIns="0" bIns="0" rtlCol="0" anchor="ctr"/>
          <a:lstStyle/>
          <a:p>
            <a:pPr algn="ctr" indent="0" marL="0">
              <a:buNone/>
            </a:pPr>
            <a:r>
              <a:rPr lang="en-US" sz="1200" dirty="0">
                <a:solidFill>
                  <a:srgbClr val="1F2A44"/>
                </a:solidFill>
                <a:latin typeface="Calibri" pitchFamily="34" charset="0"/>
                <a:ea typeface="Calibri" pitchFamily="34" charset="-122"/>
                <a:cs typeface="Calibri" pitchFamily="34" charset="-120"/>
              </a:rPr>
              <a:t>810-8904</a:t>
            </a:r>
            <a:endParaRPr lang="en-US" sz="1200" dirty="0"/>
          </a:p>
        </p:txBody>
      </p:sp>
      <p:sp>
        <p:nvSpPr>
          <p:cNvPr id="12" name="Text 8"/>
          <p:cNvSpPr/>
          <p:nvPr/>
        </p:nvSpPr>
        <p:spPr>
          <a:xfrm>
            <a:off x="5074920" y="3931920"/>
            <a:ext cx="841248" cy="292608"/>
          </a:xfrm>
          <a:prstGeom prst="roundRect">
            <a:avLst>
              <a:gd name="adj" fmla="val 31250"/>
            </a:avLst>
          </a:prstGeom>
          <a:solidFill>
            <a:srgbClr val="EEF1F6"/>
          </a:solidFill>
          <a:ln w="9525">
            <a:solidFill>
              <a:srgbClr val="C9CFDA"/>
            </a:solidFill>
          </a:ln>
        </p:spPr>
        <p:txBody>
          <a:bodyPr wrap="square" lIns="0" tIns="0" rIns="0" bIns="0" rtlCol="0" anchor="ctr"/>
          <a:lstStyle/>
          <a:p>
            <a:pPr algn="ctr" indent="0" marL="0">
              <a:buNone/>
            </a:pPr>
            <a:r>
              <a:rPr lang="en-US" sz="1200" dirty="0">
                <a:solidFill>
                  <a:srgbClr val="1F2A44"/>
                </a:solidFill>
                <a:latin typeface="Calibri" pitchFamily="34" charset="0"/>
                <a:ea typeface="Calibri" pitchFamily="34" charset="-122"/>
                <a:cs typeface="Calibri" pitchFamily="34" charset="-120"/>
              </a:rPr>
              <a:t>811-1896</a:t>
            </a:r>
            <a:endParaRPr lang="en-US" sz="1200" dirty="0"/>
          </a:p>
        </p:txBody>
      </p:sp>
      <p:sp>
        <p:nvSpPr>
          <p:cNvPr id="13" name="Text 9"/>
          <p:cNvSpPr/>
          <p:nvPr/>
        </p:nvSpPr>
        <p:spPr>
          <a:xfrm>
            <a:off x="6080760" y="3931920"/>
            <a:ext cx="841248" cy="292608"/>
          </a:xfrm>
          <a:prstGeom prst="roundRect">
            <a:avLst>
              <a:gd name="adj" fmla="val 31250"/>
            </a:avLst>
          </a:prstGeom>
          <a:solidFill>
            <a:srgbClr val="EEF1F6"/>
          </a:solidFill>
          <a:ln w="9525">
            <a:solidFill>
              <a:srgbClr val="C9CFDA"/>
            </a:solidFill>
          </a:ln>
        </p:spPr>
        <p:txBody>
          <a:bodyPr wrap="square" lIns="0" tIns="0" rIns="0" bIns="0" rtlCol="0" anchor="ctr"/>
          <a:lstStyle/>
          <a:p>
            <a:pPr algn="ctr" indent="0" marL="0">
              <a:buNone/>
            </a:pPr>
            <a:r>
              <a:rPr lang="en-US" sz="1200" dirty="0">
                <a:solidFill>
                  <a:srgbClr val="1F2A44"/>
                </a:solidFill>
                <a:latin typeface="Calibri" pitchFamily="34" charset="0"/>
                <a:ea typeface="Calibri" pitchFamily="34" charset="-122"/>
                <a:cs typeface="Calibri" pitchFamily="34" charset="-120"/>
              </a:rPr>
              <a:t>811-1892</a:t>
            </a:r>
            <a:endParaRPr lang="en-US" sz="1200" dirty="0"/>
          </a:p>
        </p:txBody>
      </p:sp>
      <p:sp>
        <p:nvSpPr>
          <p:cNvPr id="14" name="Text 10"/>
          <p:cNvSpPr txBox="1"/>
          <p:nvPr/>
        </p:nvSpPr>
        <p:spPr>
          <a:xfrm>
            <a:off x="4910328" y="3913632"/>
            <a:ext cx="182880" cy="320040"/>
          </a:xfrm>
          <a:prstGeom prst="rect">
            <a:avLst/>
          </a:prstGeom>
          <a:noFill/>
          <a:ln/>
        </p:spPr>
        <p:txBody>
          <a:bodyPr wrap="square" lIns="0" tIns="0" rIns="0" bIns="0" rtlCol="0" anchor="ctr"/>
          <a:lstStyle/>
          <a:p>
            <a:pPr algn="ctr" indent="0" marL="0">
              <a:buNone/>
            </a:pPr>
            <a:r>
              <a:rPr lang="en-US" sz="1400" b="1" dirty="0">
                <a:solidFill>
                  <a:srgbClr val="1F2A44"/>
                </a:solidFill>
                <a:latin typeface="Calibri" pitchFamily="34" charset="0"/>
                <a:ea typeface="Calibri" pitchFamily="34" charset="-122"/>
                <a:cs typeface="Calibri" pitchFamily="34" charset="-120"/>
              </a:rPr>
              <a:t>⇄</a:t>
            </a:r>
            <a:endParaRPr lang="en-US" sz="1400" dirty="0"/>
          </a:p>
        </p:txBody>
      </p:sp>
      <p:sp>
        <p:nvSpPr>
          <p:cNvPr id="15" name="Text 11"/>
          <p:cNvSpPr txBox="1"/>
          <p:nvPr/>
        </p:nvSpPr>
        <p:spPr>
          <a:xfrm>
            <a:off x="5916168" y="3913632"/>
            <a:ext cx="182880" cy="320040"/>
          </a:xfrm>
          <a:prstGeom prst="rect">
            <a:avLst/>
          </a:prstGeom>
          <a:noFill/>
          <a:ln/>
        </p:spPr>
        <p:txBody>
          <a:bodyPr wrap="square" lIns="0" tIns="0" rIns="0" bIns="0" rtlCol="0" anchor="ctr"/>
          <a:lstStyle/>
          <a:p>
            <a:pPr algn="ctr" indent="0" marL="0">
              <a:buNone/>
            </a:pPr>
            <a:r>
              <a:rPr lang="en-US" sz="1400" b="1" dirty="0">
                <a:solidFill>
                  <a:srgbClr val="1F2A44"/>
                </a:solidFill>
                <a:latin typeface="Calibri" pitchFamily="34" charset="0"/>
                <a:ea typeface="Calibri" pitchFamily="34" charset="-122"/>
                <a:cs typeface="Calibri" pitchFamily="34" charset="-120"/>
              </a:rPr>
              <a:t>⇄</a:t>
            </a:r>
            <a:endParaRPr lang="en-US" sz="1400" dirty="0"/>
          </a:p>
        </p:txBody>
      </p:sp>
      <p:sp>
        <p:nvSpPr>
          <p:cNvPr id="16" name="Text 12"/>
          <p:cNvSpPr txBox="1"/>
          <p:nvPr/>
        </p:nvSpPr>
        <p:spPr>
          <a:xfrm>
            <a:off x="411480" y="3703320"/>
            <a:ext cx="1874520" cy="274320"/>
          </a:xfrm>
          <a:prstGeom prst="rect">
            <a:avLst/>
          </a:prstGeom>
          <a:noFill/>
          <a:ln/>
        </p:spPr>
        <p:txBody>
          <a:bodyPr wrap="square" lIns="0" tIns="0" rIns="0" bIns="0" rtlCol="0" anchor="ctr"/>
          <a:lstStyle/>
          <a:p>
            <a:pPr algn="ctr" indent="0" marL="0">
              <a:buNone/>
            </a:pPr>
            <a:r>
              <a:rPr lang="en-US" sz="1400" dirty="0">
                <a:solidFill>
                  <a:srgbClr val="1F2A44"/>
                </a:solidFill>
                <a:latin typeface="Calibri" pitchFamily="34" charset="0"/>
                <a:ea typeface="Calibri" pitchFamily="34" charset="-122"/>
                <a:cs typeface="Calibri" pitchFamily="34" charset="-120"/>
              </a:rPr>
              <a:t>Our loudspeaker</a:t>
            </a:r>
            <a:endParaRPr lang="en-US" sz="1400" dirty="0"/>
          </a:p>
        </p:txBody>
      </p:sp>
      <p:sp>
        <p:nvSpPr>
          <p:cNvPr id="17" name="Text 13"/>
          <p:cNvSpPr txBox="1"/>
          <p:nvPr/>
        </p:nvSpPr>
        <p:spPr>
          <a:xfrm>
            <a:off x="548640" y="4434840"/>
            <a:ext cx="6126480" cy="17830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F2A44"/>
                </a:solidFill>
                <a:latin typeface="Calibri" pitchFamily="34" charset="0"/>
                <a:ea typeface="Calibri" pitchFamily="34" charset="-122"/>
                <a:cs typeface="Calibri" pitchFamily="34" charset="-120"/>
              </a:rPr>
              <a:t>97 tones per microphone, 62 Hz to 16 kHz, 12 per octave (a stepped sweep)</a:t>
            </a:r>
            <a:endParaRPr lang="en-US" sz="1400" dirty="0"/>
          </a:p>
          <a:p>
            <a:pPr marL="342900" indent="-342900">
              <a:spcAft>
                <a:spcPts val="600"/>
              </a:spcAft>
              <a:buSzPct val="100000"/>
              <a:buChar char="•"/>
            </a:pPr>
            <a:r>
              <a:rPr lang="en-US" sz="1400" dirty="0">
                <a:solidFill>
                  <a:srgbClr val="1F2A44"/>
                </a:solidFill>
                <a:latin typeface="Calibri" pitchFamily="34" charset="0"/>
                <a:ea typeface="Calibri" pitchFamily="34" charset="-122"/>
                <a:cs typeface="Calibri" pitchFamily="34" charset="-120"/>
              </a:rPr>
              <a:t>One tone at a time: 0.7 s to settle, then 2 s recorded (6 s below 250 Hz)</a:t>
            </a:r>
            <a:endParaRPr lang="en-US" sz="1400" dirty="0"/>
          </a:p>
          <a:p>
            <a:pPr marL="342900" indent="-342900">
              <a:spcAft>
                <a:spcPts val="600"/>
              </a:spcAft>
              <a:buSzPct val="100000"/>
              <a:buChar char="•"/>
            </a:pPr>
            <a:r>
              <a:rPr lang="en-US" sz="1400" dirty="0">
                <a:solidFill>
                  <a:srgbClr val="1F2A44"/>
                </a:solidFill>
                <a:latin typeface="Calibri" pitchFamily="34" charset="0"/>
                <a:ea typeface="Calibri" pitchFamily="34" charset="-122"/>
                <a:cs typeface="Calibri" pitchFamily="34" charset="-120"/>
              </a:rPr>
              <a:t>Same position, same loudspeaker, same level for every microphone</a:t>
            </a:r>
            <a:endParaRPr lang="en-US" sz="1400" dirty="0"/>
          </a:p>
          <a:p>
            <a:pPr marL="342900" indent="-342900">
              <a:spcAft>
                <a:spcPts val="600"/>
              </a:spcAft>
              <a:buSzPct val="100000"/>
              <a:buChar char="•"/>
            </a:pPr>
            <a:r>
              <a:rPr lang="en-US" sz="1400" dirty="0">
                <a:solidFill>
                  <a:srgbClr val="1F2A44"/>
                </a:solidFill>
                <a:latin typeface="Calibri" pitchFamily="34" charset="0"/>
                <a:ea typeface="Calibri" pitchFamily="34" charset="-122"/>
                <a:cs typeface="Calibri" pitchFamily="34" charset="-120"/>
              </a:rPr>
              <a:t>One microphone measured three times as the reference</a:t>
            </a:r>
            <a:endParaRPr lang="en-US" sz="1400" dirty="0"/>
          </a:p>
        </p:txBody>
      </p:sp>
      <p:sp>
        <p:nvSpPr>
          <p:cNvPr id="18" name="Text 14"/>
          <p:cNvSpPr txBox="1"/>
          <p:nvPr/>
        </p:nvSpPr>
        <p:spPr>
          <a:xfrm>
            <a:off x="7223760" y="1783080"/>
            <a:ext cx="4480560" cy="731520"/>
          </a:xfrm>
          <a:prstGeom prst="rect">
            <a:avLst/>
          </a:prstGeom>
          <a:noFill/>
          <a:ln/>
        </p:spPr>
        <p:txBody>
          <a:bodyPr wrap="square" lIns="0" tIns="0" rIns="0" bIns="0" rtlCol="0" anchor="ctr"/>
          <a:lstStyle/>
          <a:p>
            <a:pPr indent="0" marL="0">
              <a:buNone/>
            </a:pPr>
            <a:r>
              <a:rPr lang="en-US" sz="4400" b="1" dirty="0">
                <a:solidFill>
                  <a:srgbClr val="D6336C"/>
                </a:solidFill>
                <a:latin typeface="Cambria" pitchFamily="34" charset="0"/>
                <a:ea typeface="Cambria" pitchFamily="34" charset="-122"/>
                <a:cs typeface="Cambria" pitchFamily="34" charset="-120"/>
              </a:rPr>
              <a:t>4.01</a:t>
            </a:r>
            <a:pPr indent="0" marL="0">
              <a:buNone/>
            </a:pPr>
            <a:r>
              <a:rPr lang="en-US" sz="4400" b="1" dirty="0">
                <a:solidFill>
                  <a:srgbClr val="5B6578"/>
                </a:solidFill>
                <a:latin typeface="Cambria" pitchFamily="34" charset="0"/>
                <a:ea typeface="Cambria" pitchFamily="34" charset="-122"/>
                <a:cs typeface="Cambria" pitchFamily="34" charset="-120"/>
              </a:rPr>
              <a:t> → </a:t>
            </a:r>
            <a:pPr indent="0" marL="0">
              <a:buNone/>
            </a:pPr>
            <a:r>
              <a:rPr lang="en-US" sz="4400" b="1" dirty="0">
                <a:solidFill>
                  <a:srgbClr val="2B6CB0"/>
                </a:solidFill>
                <a:latin typeface="Cambria" pitchFamily="34" charset="0"/>
                <a:ea typeface="Cambria" pitchFamily="34" charset="-122"/>
                <a:cs typeface="Cambria" pitchFamily="34" charset="-120"/>
              </a:rPr>
              <a:t>0.02 dB</a:t>
            </a:r>
            <a:endParaRPr lang="en-US" sz="4400" dirty="0"/>
          </a:p>
        </p:txBody>
      </p:sp>
      <p:sp>
        <p:nvSpPr>
          <p:cNvPr id="19" name="Text 15"/>
          <p:cNvSpPr txBox="1"/>
          <p:nvPr/>
        </p:nvSpPr>
        <p:spPr>
          <a:xfrm>
            <a:off x="7223760" y="2514600"/>
            <a:ext cx="4480560" cy="502920"/>
          </a:xfrm>
          <a:prstGeom prst="rect">
            <a:avLst/>
          </a:prstGeom>
          <a:noFill/>
          <a:ln/>
        </p:spPr>
        <p:txBody>
          <a:bodyPr wrap="square" lIns="0" tIns="0" rIns="0" bIns="0" rtlCol="0" anchor="t"/>
          <a:lstStyle/>
          <a:p>
            <a:pPr indent="0" marL="0">
              <a:buNone/>
            </a:pPr>
            <a:r>
              <a:rPr lang="en-US" sz="1400" dirty="0">
                <a:solidFill>
                  <a:srgbClr val="5B6578"/>
                </a:solidFill>
                <a:latin typeface="Calibri" pitchFamily="34" charset="0"/>
                <a:ea typeface="Calibri" pitchFamily="34" charset="-122"/>
                <a:cs typeface="Calibri" pitchFamily="34" charset="-120"/>
              </a:rPr>
              <a:t>spread across the eleven microphones for the same sound</a:t>
            </a:r>
            <a:endParaRPr lang="en-US" sz="1400" dirty="0"/>
          </a:p>
        </p:txBody>
      </p:sp>
      <p:sp>
        <p:nvSpPr>
          <p:cNvPr id="20" name="Text 16"/>
          <p:cNvSpPr txBox="1"/>
          <p:nvPr/>
        </p:nvSpPr>
        <p:spPr>
          <a:xfrm>
            <a:off x="7223760" y="3017520"/>
            <a:ext cx="4480560" cy="320040"/>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7 of 11 factory files were wrong by 0.6–3.6 dB</a:t>
            </a:r>
            <a:endParaRPr lang="en-US" sz="1400" dirty="0"/>
          </a:p>
        </p:txBody>
      </p:sp>
      <p:sp>
        <p:nvSpPr>
          <p:cNvPr id="21" name="Text 17"/>
          <p:cNvSpPr txBox="1"/>
          <p:nvPr/>
        </p:nvSpPr>
        <p:spPr>
          <a:xfrm>
            <a:off x="7223760" y="3383280"/>
            <a:ext cx="4480560" cy="411480"/>
          </a:xfrm>
          <a:prstGeom prst="rect">
            <a:avLst/>
          </a:prstGeom>
          <a:noFill/>
          <a:ln/>
        </p:spPr>
        <p:txBody>
          <a:bodyPr wrap="square" lIns="0" tIns="0" rIns="0" bIns="0" rtlCol="0" anchor="t"/>
          <a:lstStyle/>
          <a:p>
            <a:pPr indent="0" marL="0">
              <a:buNone/>
            </a:pPr>
            <a:r>
              <a:rPr lang="en-US" sz="1100" dirty="0">
                <a:solidFill>
                  <a:srgbClr val="5B6578"/>
                </a:solidFill>
                <a:latin typeface="Calibri" pitchFamily="34" charset="0"/>
                <a:ea typeface="Calibri" pitchFamily="34" charset="-122"/>
                <a:cs typeface="Calibri" pitchFamily="34" charset="-120"/>
              </a:rPr>
              <a:t>Each factory file against the common reference, mean over frequency (dB): below 0 reads too quiet, above 0 too loud</a:t>
            </a:r>
            <a:endParaRPr lang="en-US" sz="1100" dirty="0"/>
          </a:p>
        </p:txBody>
      </p:sp>
      <p:graphicFrame>
        <p:nvGraphicFramePr>
          <p:cNvPr id="22" name="Chart 0" descr=""/>
          <p:cNvGraphicFramePr/>
          <p:nvPr/>
        </p:nvGraphicFramePr>
        <p:xfrm>
          <a:off x="7132320" y="3749040"/>
          <a:ext cx="4572000" cy="2606040"/>
        </p:xfrm>
        <a:graphic xmlns:a="http://schemas.openxmlformats.org/drawingml/2006/main">
          <a:graphicData uri="http://schemas.openxmlformats.org/drawingml/2006/chart">
            <c:chart xmlns:c="http://schemas.openxmlformats.org/drawingml/2006/chart" r:id="rId3"/>
          </a:graphicData>
        </a:graphic>
      </p:graphicFrame>
      <p:sp>
        <p:nvSpPr>
          <p:cNvPr id="23" name="Text 18"/>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Calibration session 16 Sep 2026, loudspeaker amplitude 0.03 of full scale. UMIK-2 photo: miniDSP product brief.</a:t>
            </a:r>
            <a:endParaRPr lang="en-US" sz="1100" dirty="0"/>
          </a:p>
        </p:txBody>
      </p:sp>
      <p:sp>
        <p:nvSpPr>
          <p:cNvPr id="24" name="Text 19"/>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olar plot of 20 to 560 Hz: the jagged red 31 Aug outline and the smoother blue 30 Sep outline">    </p:cNvPr>
          <p:cNvPicPr>
            <a:picLocks noChangeAspect="1"/>
          </p:cNvPicPr>
          <p:nvPr/>
        </p:nvPicPr>
        <p:blipFill>
          <a:blip r:embed="rId1"/>
          <a:stretch>
            <a:fillRect/>
          </a:stretch>
        </p:blipFill>
        <p:spPr>
          <a:xfrm>
            <a:off x="548640" y="457200"/>
            <a:ext cx="5440680" cy="5797296"/>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AFTER</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The new polar is rounder</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Same kind of measurement, same axes, on 30 Sep.</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The microphones now carry their measured corrections, and the room has been treated.</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The outline is smooth and close to a circle.</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a:t>
            </a:r>
            <a:pPr indent="0" marL="0">
              <a:buNone/>
            </a:pPr>
            <a:r>
              <a:rPr lang="en-US" sz="4800" b="1" dirty="0">
                <a:solidFill>
                  <a:srgbClr val="5B6578"/>
                </a:solidFill>
                <a:latin typeface="Cambria" pitchFamily="34" charset="0"/>
                <a:ea typeface="Cambria" pitchFamily="34" charset="-122"/>
                <a:cs typeface="Cambria" pitchFamily="34" charset="-120"/>
              </a:rPr>
              <a:t> → </a:t>
            </a:r>
            <a:pPr indent="0" marL="0">
              <a:buNone/>
            </a:pPr>
            <a:r>
              <a:rPr lang="en-US" sz="4800" b="1" dirty="0">
                <a:solidFill>
                  <a:srgbClr val="2B6CB0"/>
                </a:solidFill>
                <a:latin typeface="Cambria" pitchFamily="34" charset="0"/>
                <a:ea typeface="Cambria" pitchFamily="34" charset="-122"/>
                <a:cs typeface="Cambria" pitchFamily="34" charset="-120"/>
              </a:rPr>
              <a:t>4.0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microphone</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20–560 Hz, motor at 2000 µs. The two runs had different operating points (7.35 V against 11.7 V), which is why the blue is lower.</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3</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Chamber measurements</dc:title>
  <dc:subject>PptxGenJS Presentation</dc:subject>
  <dc:creator>PptxGenJS</dc:creator>
  <cp:lastModifiedBy>PptxGenJS</cp:lastModifiedBy>
  <cp:revision>1</cp:revision>
  <dcterms:created xsi:type="dcterms:W3CDTF">2026-10-06T14:59:33Z</dcterms:created>
  <dcterms:modified xsi:type="dcterms:W3CDTF">2026-10-06T14:59:33Z</dcterms:modified>
</cp:coreProperties>
</file>