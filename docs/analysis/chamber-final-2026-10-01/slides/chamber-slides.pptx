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Mean offset (dB)</c:v>
                </c:pt>
              </c:strCache>
            </c:strRef>
          </c:tx>
          <c:spPr>
            <a:solidFill>
              <a:srgbClr val="2B6CB0"/>
            </a:solidFill>
            <a:effectLst/>
          </c:spPr>
          <c:invertIfNegative val="0"/>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810-8893</c:v>
                  </c:pt>
                  <c:pt idx="1">
                    <c:v>810-8904</c:v>
                  </c:pt>
                  <c:pt idx="2">
                    <c:v>810-8901</c:v>
                  </c:pt>
                  <c:pt idx="3">
                    <c:v>810-8897</c:v>
                  </c:pt>
                  <c:pt idx="4">
                    <c:v>810-8900</c:v>
                  </c:pt>
                  <c:pt idx="5">
                    <c:v>811-1896</c:v>
                  </c:pt>
                  <c:pt idx="6">
                    <c:v>811-2321</c:v>
                  </c:pt>
                  <c:pt idx="7">
                    <c:v>810-8903</c:v>
                  </c:pt>
                  <c:pt idx="8">
                    <c:v>811-2310</c:v>
                  </c:pt>
                  <c:pt idx="9">
                    <c:v>811-1897</c:v>
                  </c:pt>
                  <c:pt idx="10">
                    <c:v>811-1892</c:v>
                  </c:pt>
                </c:lvl>
              </c:multiLvlStrCache>
            </c:multiLvlStrRef>
          </c:cat>
          <c:val>
            <c:numRef>
              <c:f>Sheet1!$B$2:$B$12</c:f>
              <c:numCache>
                <c:formatCode>General</c:formatCode>
                <c:ptCount val="11"/>
                <c:pt idx="0">
                  <c:v>1.25</c:v>
                </c:pt>
                <c:pt idx="1">
                  <c:v>0.85</c:v>
                </c:pt>
                <c:pt idx="2">
                  <c:v>0.84</c:v>
                </c:pt>
                <c:pt idx="3">
                  <c:v>0.76</c:v>
                </c:pt>
                <c:pt idx="4">
                  <c:v>0.23</c:v>
                </c:pt>
                <c:pt idx="5">
                  <c:v>0</c:v>
                </c:pt>
                <c:pt idx="6">
                  <c:v>-0.09</c:v>
                </c:pt>
                <c:pt idx="7">
                  <c:v>-0.14</c:v>
                </c:pt>
                <c:pt idx="8">
                  <c:v>-0.78</c:v>
                </c:pt>
                <c:pt idx="9">
                  <c:v>-1.39</c:v>
                </c:pt>
                <c:pt idx="10">
                  <c:v>-2.59</c:v>
                </c:pt>
              </c:numCache>
            </c:numRef>
          </c:val>
        </c:ser>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tickLblSkip val="1"/>
      </c:catAx>
      <c:valAx>
        <c:axId val="2094734552"/>
        <c:scaling>
          <c:orientation val="minMax"/>
          <c:max val="2"/>
          <c:min val="-3"/>
        </c:scaling>
        <c:delete val="0"/>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Bars: mean over frequency of how far each capsule read from that datum with its factory file (calibrator corrections csv). Spread 4.01 to 0.02 dB and 7 of 11 files wrong by 0.6-3.6 dB are from the project notes.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2-1.jp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548640" y="2103120"/>
            <a:ext cx="1325880" cy="1508760"/>
          </a:xfrm>
          <a:prstGeom prst="rect">
            <a:avLst/>
          </a:prstGeom>
        </p:spPr>
      </p:pic>
      <p:sp>
        <p:nvSpPr>
          <p:cNvPr id="5" name="Text 2"/>
          <p:cNvSpPr txBox="1"/>
          <p:nvPr/>
        </p:nvSpPr>
        <p:spPr>
          <a:xfrm>
            <a:off x="1874520" y="2514600"/>
            <a:ext cx="1234440" cy="457200"/>
          </a:xfrm>
          <a:prstGeom prst="rect">
            <a:avLst/>
          </a:prstGeom>
          <a:noFill/>
          <a:ln/>
        </p:spPr>
        <p:txBody>
          <a:bodyPr wrap="square" lIns="0" tIns="0" rIns="0" bIns="0" rtlCol="0" anchor="b"/>
          <a:lstStyle/>
          <a:p>
            <a:pPr algn="ctr" indent="0" marL="0">
              <a:buNone/>
            </a:pPr>
            <a:r>
              <a:rPr lang="en-US" sz="1200" dirty="0">
                <a:solidFill>
                  <a:srgbClr val="5B6578"/>
                </a:solidFill>
                <a:latin typeface="Calibri" pitchFamily="34" charset="0"/>
                <a:ea typeface="Calibri" pitchFamily="34" charset="-122"/>
                <a:cs typeface="Calibri" pitchFamily="34" charset="-120"/>
              </a:rPr>
              <a:t>tones</a:t>
            </a:r>
            <a:endParaRPr lang="en-US" sz="1200" dirty="0"/>
          </a:p>
          <a:p>
            <a:pPr algn="ctr" indent="0" marL="0">
              <a:buNone/>
            </a:pPr>
            <a:r>
              <a:rPr lang="en-US" sz="1200" dirty="0">
                <a:solidFill>
                  <a:srgbClr val="5B6578"/>
                </a:solidFill>
                <a:latin typeface="Calibri" pitchFamily="34" charset="0"/>
                <a:ea typeface="Calibri" pitchFamily="34" charset="-122"/>
                <a:cs typeface="Calibri" pitchFamily="34" charset="-120"/>
              </a:rPr>
              <a:t>62 Hz–16 kHz</a:t>
            </a:r>
            <a:endParaRPr lang="en-US" sz="1200" dirty="0"/>
          </a:p>
        </p:txBody>
      </p:sp>
      <p:sp>
        <p:nvSpPr>
          <p:cNvPr id="6" name="Shape 3"/>
          <p:cNvSpPr/>
          <p:nvPr/>
        </p:nvSpPr>
        <p:spPr>
          <a:xfrm>
            <a:off x="1965960" y="3063240"/>
            <a:ext cx="1234440" cy="0"/>
          </a:xfrm>
          <a:prstGeom prst="line">
            <a:avLst/>
          </a:prstGeom>
          <a:noFill/>
          <a:ln w="31750">
            <a:solidFill>
              <a:srgbClr val="D6336C"/>
            </a:solidFill>
            <a:prstDash val="dash"/>
            <a:tailEnd type="triangle"/>
          </a:ln>
        </p:spPr>
      </p:sp>
      <p:sp>
        <p:nvSpPr>
          <p:cNvPr id="7" name="Text 4"/>
          <p:cNvSpPr txBox="1"/>
          <p:nvPr/>
        </p:nvSpPr>
        <p:spPr>
          <a:xfrm>
            <a:off x="3291840" y="2194560"/>
            <a:ext cx="2286000" cy="27432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UMIK-2 microphone</a:t>
            </a:r>
            <a:endParaRPr lang="en-US" sz="1400" dirty="0"/>
          </a:p>
        </p:txBody>
      </p:sp>
      <p:pic>
        <p:nvPicPr>
          <p:cNvPr id="8" name="Image 1" descr="UMIK-2 measurement microphone at the mounting point, capsule end on the left facing the loudspeaker">    </p:cNvPr>
          <p:cNvPicPr>
            <a:picLocks noChangeAspect="1"/>
          </p:cNvPicPr>
          <p:nvPr/>
        </p:nvPicPr>
        <p:blipFill>
          <a:blip r:embed="rId2"/>
          <a:stretch>
            <a:fillRect/>
          </a:stretch>
        </p:blipFill>
        <p:spPr>
          <a:xfrm>
            <a:off x="3291840" y="2697480"/>
            <a:ext cx="2743200" cy="741578"/>
          </a:xfrm>
          <a:prstGeom prst="rect">
            <a:avLst/>
          </a:prstGeom>
        </p:spPr>
      </p:pic>
      <p:sp>
        <p:nvSpPr>
          <p:cNvPr id="9" name="Text 5"/>
          <p:cNvSpPr txBox="1"/>
          <p:nvPr/>
        </p:nvSpPr>
        <p:spPr>
          <a:xfrm>
            <a:off x="3291840" y="3547872"/>
            <a:ext cx="2926080" cy="256032"/>
          </a:xfrm>
          <a:prstGeom prst="rect">
            <a:avLst/>
          </a:prstGeom>
          <a:noFill/>
          <a:ln/>
        </p:spPr>
        <p:txBody>
          <a:bodyPr wrap="square" lIns="0" tIns="0" rIns="0" bIns="0" rtlCol="0" anchor="ctr"/>
          <a:lstStyle/>
          <a:p>
            <a:pPr indent="0" marL="0">
              <a:buNone/>
            </a:pPr>
            <a:r>
              <a:rPr lang="en-US" sz="1300" b="1" dirty="0">
                <a:solidFill>
                  <a:srgbClr val="2B6CB0"/>
                </a:solidFill>
                <a:latin typeface="Calibri" pitchFamily="34" charset="0"/>
                <a:ea typeface="Calibri" pitchFamily="34" charset="-122"/>
                <a:cs typeface="Calibri" pitchFamily="34" charset="-120"/>
              </a:rPr>
              <a:t>capsule faces the loudspeaker</a:t>
            </a:r>
            <a:endParaRPr lang="en-US" sz="1300" dirty="0"/>
          </a:p>
        </p:txBody>
      </p:sp>
      <p:sp>
        <p:nvSpPr>
          <p:cNvPr id="10" name="Text 6"/>
          <p:cNvSpPr txBox="1"/>
          <p:nvPr/>
        </p:nvSpPr>
        <p:spPr>
          <a:xfrm>
            <a:off x="365760" y="3703320"/>
            <a:ext cx="1691640" cy="274320"/>
          </a:xfrm>
          <a:prstGeom prst="rect">
            <a:avLst/>
          </a:prstGeom>
          <a:noFill/>
          <a:ln/>
        </p:spPr>
        <p:txBody>
          <a:bodyPr wrap="square" lIns="0" tIns="0" rIns="0" bIns="0" rtlCol="0" anchor="ctr"/>
          <a:lstStyle/>
          <a:p>
            <a:pPr algn="ctr" indent="0" marL="0">
              <a:buNone/>
            </a:pPr>
            <a:r>
              <a:rPr lang="en-US" sz="1400" dirty="0">
                <a:solidFill>
                  <a:srgbClr val="1F2A44"/>
                </a:solidFill>
                <a:latin typeface="Calibri" pitchFamily="34" charset="0"/>
                <a:ea typeface="Calibri" pitchFamily="34" charset="-122"/>
                <a:cs typeface="Calibri" pitchFamily="34" charset="-120"/>
              </a:rPr>
              <a:t>Our loudspeaker</a:t>
            </a:r>
            <a:endParaRPr lang="en-US" sz="1400" dirty="0"/>
          </a:p>
        </p:txBody>
      </p:sp>
      <p:sp>
        <p:nvSpPr>
          <p:cNvPr id="11" name="Text 7"/>
          <p:cNvSpPr txBox="1"/>
          <p:nvPr/>
        </p:nvSpPr>
        <p:spPr>
          <a:xfrm>
            <a:off x="548640" y="4434840"/>
            <a:ext cx="612648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2" name="Text 8"/>
          <p:cNvSpPr txBox="1"/>
          <p:nvPr/>
        </p:nvSpPr>
        <p:spPr>
          <a:xfrm>
            <a:off x="7223760" y="1783080"/>
            <a:ext cx="4480560" cy="731520"/>
          </a:xfrm>
          <a:prstGeom prst="rect">
            <a:avLst/>
          </a:prstGeom>
          <a:noFill/>
          <a:ln/>
        </p:spPr>
        <p:txBody>
          <a:bodyPr wrap="square" lIns="0" tIns="0" rIns="0" bIns="0" rtlCol="0" anchor="ctr"/>
          <a:lstStyle/>
          <a:p>
            <a:pPr indent="0" marL="0">
              <a:buNone/>
            </a:pPr>
            <a:r>
              <a:rPr lang="en-US" sz="4400" b="1" dirty="0">
                <a:solidFill>
                  <a:srgbClr val="D6336C"/>
                </a:solidFill>
                <a:latin typeface="Cambria" pitchFamily="34" charset="0"/>
                <a:ea typeface="Cambria" pitchFamily="34" charset="-122"/>
                <a:cs typeface="Cambria" pitchFamily="34" charset="-120"/>
              </a:rPr>
              <a:t>4.01</a:t>
            </a:r>
            <a:pPr indent="0" marL="0">
              <a:buNone/>
            </a:pPr>
            <a:r>
              <a:rPr lang="en-US" sz="4400" b="1" dirty="0">
                <a:solidFill>
                  <a:srgbClr val="5B6578"/>
                </a:solidFill>
                <a:latin typeface="Cambria" pitchFamily="34" charset="0"/>
                <a:ea typeface="Cambria" pitchFamily="34" charset="-122"/>
                <a:cs typeface="Cambria" pitchFamily="34" charset="-120"/>
              </a:rPr>
              <a:t> → </a:t>
            </a:r>
            <a:pPr indent="0" marL="0">
              <a:buNone/>
            </a:pPr>
            <a:r>
              <a:rPr lang="en-US" sz="4400" b="1" dirty="0">
                <a:solidFill>
                  <a:srgbClr val="2B6CB0"/>
                </a:solidFill>
                <a:latin typeface="Cambria" pitchFamily="34" charset="0"/>
                <a:ea typeface="Cambria" pitchFamily="34" charset="-122"/>
                <a:cs typeface="Cambria" pitchFamily="34" charset="-120"/>
              </a:rPr>
              <a:t>0.02 dB</a:t>
            </a:r>
            <a:endParaRPr lang="en-US" sz="4400" dirty="0"/>
          </a:p>
        </p:txBody>
      </p:sp>
      <p:sp>
        <p:nvSpPr>
          <p:cNvPr id="13" name="Text 9"/>
          <p:cNvSpPr txBox="1"/>
          <p:nvPr/>
        </p:nvSpPr>
        <p:spPr>
          <a:xfrm>
            <a:off x="7223760" y="2514600"/>
            <a:ext cx="4480560" cy="50292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4" name="Text 10"/>
          <p:cNvSpPr txBox="1"/>
          <p:nvPr/>
        </p:nvSpPr>
        <p:spPr>
          <a:xfrm>
            <a:off x="7223760" y="3017520"/>
            <a:ext cx="4480560" cy="32004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5" name="Text 11"/>
          <p:cNvSpPr txBox="1"/>
          <p:nvPr/>
        </p:nvSpPr>
        <p:spPr>
          <a:xfrm>
            <a:off x="7223760" y="3383280"/>
            <a:ext cx="44805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Each factory file against the common reference, mean over frequency (dB): below 0 reads too quiet, above 0 too loud</a:t>
            </a:r>
            <a:endParaRPr lang="en-US" sz="1100" dirty="0"/>
          </a:p>
        </p:txBody>
      </p:sp>
      <p:graphicFrame>
        <p:nvGraphicFramePr>
          <p:cNvPr id="16" name="Chart 0" descr=""/>
          <p:cNvGraphicFramePr/>
          <p:nvPr/>
        </p:nvGraphicFramePr>
        <p:xfrm>
          <a:off x="7132320" y="3749040"/>
          <a:ext cx="4572000" cy="2606040"/>
        </p:xfrm>
        <a:graphic xmlns:a="http://schemas.openxmlformats.org/drawingml/2006/main">
          <a:graphicData uri="http://schemas.openxmlformats.org/drawingml/2006/chart">
            <c:chart xmlns:c="http://schemas.openxmlformats.org/drawingml/2006/chart" r:id="rId3"/>
          </a:graphicData>
        </a:graphic>
      </p:graphicFrame>
      <p:sp>
        <p:nvSpPr>
          <p:cNvPr id="17" name="Text 12"/>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8" name="Text 13"/>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2026-10-06T15:00:51Z</dcterms:created>
  <dcterms:modified xsi:type="dcterms:W3CDTF">2026-10-06T15:00:51Z</dcterms:modified>
</cp:coreProperties>
</file>