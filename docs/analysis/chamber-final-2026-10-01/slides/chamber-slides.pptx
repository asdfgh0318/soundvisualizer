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pPr indent="0" marL="0">
              <a:buNone/>
            </a:pPr>
            <a:r>
              <a:rPr lang="en-US" sz="4000" b="1" dirty="0">
                <a:solidFill>
                  <a:srgbClr val="5B6578"/>
                </a:solidFill>
                <a:latin typeface="Cambria" pitchFamily="34" charset="0"/>
                <a:ea typeface="Cambria" pitchFamily="34" charset="-122"/>
                <a:cs typeface="Cambria" pitchFamily="34" charset="-120"/>
              </a:rPr>
              <a:t> → </a:t>
            </a:r>
            <a:pPr indent="0" marL="0">
              <a:buNone/>
            </a:pP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457200" y="411480"/>
            <a:ext cx="5623560" cy="5669280"/>
          </a:xfrm>
          <a:prstGeom prst="rect">
            <a:avLst/>
          </a:prstGeom>
        </p:spPr>
      </p:pic>
      <p:sp>
        <p:nvSpPr>
          <p:cNvPr id="3" name="Text 0"/>
          <p:cNvSpPr txBox="1"/>
          <p:nvPr/>
        </p:nvSpPr>
        <p:spPr>
          <a:xfrm>
            <a:off x="6583680" y="822960"/>
            <a:ext cx="50292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6583680" y="1188720"/>
            <a:ext cx="5029200" cy="128016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The correction removes the microphone offsets</a:t>
            </a:r>
            <a:endParaRPr lang="en-US" sz="3200" dirty="0"/>
          </a:p>
        </p:txBody>
      </p:sp>
      <p:sp>
        <p:nvSpPr>
          <p:cNvPr id="5" name="Text 2"/>
          <p:cNvSpPr txBox="1"/>
          <p:nvPr/>
        </p:nvSpPr>
        <p:spPr>
          <a:xfrm>
            <a:off x="6583680" y="2606040"/>
            <a:ext cx="5029200" cy="22860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Top row: read with the factory files. Middle row: read with the measured corrections. Bottom row: what the correction changed.</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Horizontal stripes across all frequencies are one microphone reading too loud or too quiet. They are gone in the middle row.</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pattern of the room stays: the correction moves whole rows, not the frequency structure.</a:t>
            </a:r>
            <a:endParaRPr lang="en-US" sz="1600" dirty="0"/>
          </a:p>
        </p:txBody>
      </p:sp>
      <p:sp>
        <p:nvSpPr>
          <p:cNvPr id="6" name="Text 3"/>
          <p:cNvSpPr txBox="1"/>
          <p:nvPr/>
        </p:nvSpPr>
        <p:spPr>
          <a:xfrm>
            <a:off x="6583680" y="5029200"/>
            <a:ext cx="5029200" cy="731520"/>
          </a:xfrm>
          <a:prstGeom prst="rect">
            <a:avLst/>
          </a:prstGeom>
          <a:noFill/>
          <a:ln/>
        </p:spPr>
        <p:txBody>
          <a:bodyPr wrap="square" lIns="0" tIns="0" rIns="0" bIns="0" rtlCol="0" anchor="ctr"/>
          <a:lstStyle/>
          <a:p>
            <a:pPr indent="0" marL="0">
              <a:buNone/>
            </a:pPr>
            <a:r>
              <a:rPr lang="en-US" sz="4400" b="1" dirty="0">
                <a:solidFill>
                  <a:srgbClr val="D6336C"/>
                </a:solidFill>
                <a:latin typeface="Cambria" pitchFamily="34" charset="0"/>
                <a:ea typeface="Cambria" pitchFamily="34" charset="-122"/>
                <a:cs typeface="Cambria" pitchFamily="34" charset="-120"/>
              </a:rPr>
              <a:t>4.3</a:t>
            </a:r>
            <a:pPr indent="0" marL="0">
              <a:buNone/>
            </a:pPr>
            <a:r>
              <a:rPr lang="en-US" sz="4400" b="1" dirty="0">
                <a:solidFill>
                  <a:srgbClr val="5B6578"/>
                </a:solidFill>
                <a:latin typeface="Cambria" pitchFamily="34" charset="0"/>
                <a:ea typeface="Cambria" pitchFamily="34" charset="-122"/>
                <a:cs typeface="Cambria" pitchFamily="34" charset="-120"/>
              </a:rPr>
              <a:t> → </a:t>
            </a:r>
            <a:pPr indent="0" marL="0">
              <a:buNone/>
            </a:pPr>
            <a:r>
              <a:rPr lang="en-US" sz="4400" b="1" dirty="0">
                <a:solidFill>
                  <a:srgbClr val="2B6CB0"/>
                </a:solidFill>
                <a:latin typeface="Cambria" pitchFamily="34" charset="0"/>
                <a:ea typeface="Cambria" pitchFamily="34" charset="-122"/>
                <a:cs typeface="Cambria" pitchFamily="34" charset="-120"/>
              </a:rPr>
              <a:t>0.8 dB</a:t>
            </a:r>
            <a:endParaRPr lang="en-US" sz="4400" dirty="0"/>
          </a:p>
        </p:txBody>
      </p:sp>
      <p:sp>
        <p:nvSpPr>
          <p:cNvPr id="7" name="Text 4"/>
          <p:cNvSpPr txBox="1"/>
          <p:nvPr/>
        </p:nvSpPr>
        <p:spPr>
          <a:xfrm>
            <a:off x="6583680" y="5760720"/>
            <a:ext cx="502920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400" dirty="0"/>
          </a:p>
        </p:txBody>
      </p:sp>
      <p:sp>
        <p:nvSpPr>
          <p:cNvPr id="8"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 257 Hz–6 kHz, 3–5 kHz omitted.</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2026-10-06T15:02:30Z</dcterms:created>
  <dcterms:modified xsi:type="dcterms:W3CDTF">2026-10-06T15:02:30Z</dcterms:modified>
</cp:coreProperties>
</file>