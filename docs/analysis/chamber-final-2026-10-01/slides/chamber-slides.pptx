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377440"/>
            <a:ext cx="4846320" cy="13716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766560" y="3931920"/>
          <a:ext cx="4846320" cy="914400"/>
        </p:xfrm>
        <a:graphic>
          <a:graphicData uri="http://schemas.openxmlformats.org/drawingml/2006/table">
            <a:tbl>
              <a:tblPr/>
              <a:tblGrid>
                <a:gridCol w="2103120"/>
                <a:gridCol w="1371600"/>
                <a:gridCol w="1371600"/>
              </a:tblGrid>
              <a:tr h="365760">
                <a:tc>
                  <a:txBody>
                    <a:bodyPr/>
                    <a:lstStyle/>
                    <a:p>
                      <a:pPr algn="l" indent="0" marL="0">
                        <a:buNone/>
                      </a:pPr>
                      <a:endParaRPr lang="en-US" sz="14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12700" cap="flat" cmpd="sng" algn="ctr">
                      <a:solidFill>
                        <a:srgbClr val="C9CFDA"/>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D6336C"/>
                          </a:solidFill>
                          <a:latin typeface="Calibri" pitchFamily="34" charset="0"/>
                          <a:ea typeface="Calibri" pitchFamily="34" charset="-122"/>
                          <a:cs typeface="Calibri" pitchFamily="34" charset="-120"/>
                        </a:rPr>
                        <a:t>31 Aug</a:t>
                      </a:r>
                      <a:endParaRPr lang="en-US" sz="14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12700" cap="flat" cmpd="sng" algn="ctr">
                      <a:solidFill>
                        <a:srgbClr val="C9CFDA"/>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2B6CB0"/>
                          </a:solidFill>
                          <a:latin typeface="Calibri" pitchFamily="34" charset="0"/>
                          <a:ea typeface="Calibri" pitchFamily="34" charset="-122"/>
                          <a:cs typeface="Calibri" pitchFamily="34" charset="-120"/>
                        </a:rPr>
                        <a:t>30 Sep</a:t>
                      </a:r>
                      <a:endParaRPr lang="en-US" sz="14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12700" cap="flat" cmpd="sng" algn="ctr">
                      <a:solidFill>
                        <a:srgbClr val="C9CFDA"/>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1F2A44"/>
                          </a:solidFill>
                          <a:latin typeface="Calibri" pitchFamily="34" charset="0"/>
                          <a:ea typeface="Calibri" pitchFamily="34" charset="-122"/>
                          <a:cs typeface="Calibri" pitchFamily="34" charset="-120"/>
                        </a:rPr>
                        <a:t>Loudest minus quietest</a:t>
                      </a:r>
                      <a:endParaRPr lang="en-US" sz="15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2000" b="1" dirty="0">
                          <a:solidFill>
                            <a:srgbClr val="D6336C"/>
                          </a:solidFill>
                          <a:latin typeface="Calibri" pitchFamily="34" charset="0"/>
                          <a:ea typeface="Calibri" pitchFamily="34" charset="-122"/>
                          <a:cs typeface="Calibri" pitchFamily="34" charset="-120"/>
                        </a:rPr>
                        <a:t>6.7 dB</a:t>
                      </a:r>
                      <a:endParaRPr lang="en-US" sz="20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2000" b="1" dirty="0">
                          <a:solidFill>
                            <a:srgbClr val="2B6CB0"/>
                          </a:solidFill>
                          <a:latin typeface="Calibri" pitchFamily="34" charset="0"/>
                          <a:ea typeface="Calibri" pitchFamily="34" charset="-122"/>
                          <a:cs typeface="Calibri" pitchFamily="34" charset="-120"/>
                        </a:rPr>
                        <a:t>4.0 dB</a:t>
                      </a:r>
                      <a:endParaRPr lang="en-US" sz="20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r>
              <a:tr h="502920">
                <a:tc>
                  <a:txBody>
                    <a:bodyPr/>
                    <a:lstStyle/>
                    <a:p>
                      <a:pPr algn="l" indent="0" marL="0">
                        <a:buNone/>
                      </a:pPr>
                      <a:r>
                        <a:rPr lang="en-US" sz="1500" dirty="0">
                          <a:solidFill>
                            <a:srgbClr val="1F2A44"/>
                          </a:solidFill>
                          <a:latin typeface="Calibri" pitchFamily="34" charset="0"/>
                          <a:ea typeface="Calibri" pitchFamily="34" charset="-122"/>
                          <a:cs typeface="Calibri" pitchFamily="34" charset="-120"/>
                        </a:rPr>
                        <a:t>Spread (rms)</a:t>
                      </a:r>
                      <a:endParaRPr lang="en-US" sz="15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2000" b="1" dirty="0">
                          <a:solidFill>
                            <a:srgbClr val="D6336C"/>
                          </a:solidFill>
                          <a:latin typeface="Calibri" pitchFamily="34" charset="0"/>
                          <a:ea typeface="Calibri" pitchFamily="34" charset="-122"/>
                          <a:cs typeface="Calibri" pitchFamily="34" charset="-120"/>
                        </a:rPr>
                        <a:t>2.05 dB</a:t>
                      </a:r>
                      <a:endParaRPr lang="en-US" sz="20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2000" b="1" dirty="0">
                          <a:solidFill>
                            <a:srgbClr val="2B6CB0"/>
                          </a:solidFill>
                          <a:latin typeface="Calibri" pitchFamily="34" charset="0"/>
                          <a:ea typeface="Calibri" pitchFamily="34" charset="-122"/>
                          <a:cs typeface="Calibri" pitchFamily="34" charset="-120"/>
                        </a:rPr>
                        <a:t>1.45 dB</a:t>
                      </a:r>
                      <a:endParaRPr lang="en-US" sz="20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r>
              <a:tr h="411480">
                <a:tc>
                  <a:txBody>
                    <a:bodyPr/>
                    <a:lstStyle/>
                    <a:p>
                      <a:pPr algn="l" indent="0" marL="0">
                        <a:buNone/>
                      </a:pPr>
                      <a:r>
                        <a:rPr lang="en-US" sz="1500" dirty="0">
                          <a:solidFill>
                            <a:srgbClr val="1F2A44"/>
                          </a:solidFill>
                          <a:latin typeface="Calibri" pitchFamily="34" charset="0"/>
                          <a:ea typeface="Calibri" pitchFamily="34" charset="-122"/>
                          <a:cs typeface="Calibri" pitchFamily="34" charset="-120"/>
                        </a:rPr>
                        <a:t>Level range</a:t>
                      </a:r>
                      <a:endParaRPr lang="en-US" sz="15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1500" dirty="0">
                          <a:solidFill>
                            <a:srgbClr val="D6336C"/>
                          </a:solidFill>
                          <a:latin typeface="Calibri" pitchFamily="34" charset="0"/>
                          <a:ea typeface="Calibri" pitchFamily="34" charset="-122"/>
                          <a:cs typeface="Calibri" pitchFamily="34" charset="-120"/>
                        </a:rPr>
                        <a:t>63.9–70.6 dB</a:t>
                      </a:r>
                      <a:endParaRPr lang="en-US" sz="15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c>
                  <a:txBody>
                    <a:bodyPr/>
                    <a:lstStyle/>
                    <a:p>
                      <a:pPr algn="r" indent="0" marL="0">
                        <a:buNone/>
                      </a:pPr>
                      <a:r>
                        <a:rPr lang="en-US" sz="1500" dirty="0">
                          <a:solidFill>
                            <a:srgbClr val="2B6CB0"/>
                          </a:solidFill>
                          <a:latin typeface="Calibri" pitchFamily="34" charset="0"/>
                          <a:ea typeface="Calibri" pitchFamily="34" charset="-122"/>
                          <a:cs typeface="Calibri" pitchFamily="34" charset="-120"/>
                        </a:rPr>
                        <a:t>55.5–59.6 dB</a:t>
                      </a:r>
                      <a:endParaRPr lang="en-US" sz="1500" dirty="0">
                        <a:latin typeface="Calibri" charset="0"/>
                        <a:ea typeface="Calibri" charset="0"/>
                        <a:cs typeface="Calibri" charset="0"/>
                      </a:endParaRPr>
                    </a:p>
                  </a:txBody>
                  <a:tcPr marL="54864" marR="54864" marT="36576" marB="36576">
                    <a:lnL w="0" cap="flat" cmpd="sng" algn="ctr">
                      <a:noFill/>
                    </a:lnL>
                    <a:lnR w="0" cap="flat" cmpd="sng" algn="ctr">
                      <a:noFill/>
                    </a:lnR>
                    <a:lnT w="0" cap="flat" cmpd="sng" algn="ctr">
                      <a:noFill/>
                    </a:lnT>
                    <a:lnB w="6350" cap="flat" cmpd="sng" algn="ctr">
                      <a:solidFill>
                        <a:srgbClr val="E3E7EE"/>
                      </a:solidFill>
                      <a:prstDash val="solid"/>
                      <a:round/>
                      <a:headEnd type="none" w="med" len="med"/>
                      <a:tailEnd type="none" w="med" len="med"/>
                    </a:lnB>
                  </a:tcPr>
                </a:tc>
              </a:tr>
            </a:tbl>
          </a:graphicData>
        </a:graphic>
      </p:graphicFrame>
      <p:sp>
        <p:nvSpPr>
          <p:cNvPr id="7" name="Text 3"/>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2026-10-06T14:51:02Z</dcterms:created>
  <dcterms:modified xsi:type="dcterms:W3CDTF">2026-10-06T14:51:02Z</dcterms:modified>
</cp:coreProperties>
</file>