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the 31 Aug 2026 horizontal baseline (arc laid flat, propeller axis vertical), propeller at PWM 2000, total level 20-560 Hz per microphone, read with the factory calibration files as it was measured. Rms spread about the mean 2.05 dB, range 6.7 dB (63.9 to 70.6 dB SPL). The radial axis is 30-76 dB, the same as the report polars, so the same red curve can be shown against the 30 Sep measurement on a later slide. On a 0-80 dB axis the same curve looks rounder.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(calibrator/session.py, 2026-09-16 session): each of the eleven UMIK-2 capsules was plugged in at the same mounting point in front of the loudspeaker and measured over 97 stepped tones, 62 Hz to 16 kHz (about 12 per octave), amplitude 0.03, 48 kHz sampling, 0.7 s settle and 2 s capture per tone (6 s below 250 Hz). Capsule 810-8904 was measured three full times (18:21, 18:30, 20:43) as the reference. The difference of each capsule from the reference was folded into its calibration curve; Sens Factors kept as in the factory files. The datum is the mean of four capsules whose factory files agree with measurement (810-8900, 810-8903, 811-1896, 811-2321). Spread 4.01 to 0.02 dB and 7 of 11 files wrong by 0.6-3.6 dB are from the project notes. Seven capsules had a mean offset beyond 0.6 dB (811-1892 -2.6, 811-1897 -1.4, 811-2310 -0.8, 810-8897 +0.8, 810-8901 +0.8, 810-8904 +0.9, 810-8893 +1.3). Absolute level is not anchored: that needs a 94 dB calibrator.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figure as chapter 1 of the report, redrawn larger. The same two captures were calibrated two ways: with the factory files and with the corrections measured on 16 Sep. The span is the range of the capsules mean levels: 4.3 to 0.8 dB at the start of day 3, 4.1 to 1.0 dB in the final configuration. Room error below 3 kHz: 2.277 to 1.997 dB and 1.736 to 1.387 dB. The change is mainly a per-capsule offset, so it mainly moves whole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Blue: 30 Sep propeller measurement (11.7 V, 7.3 A, thrust -4 N), read with the 16 Sep microphone corrections. Rms spread about the mean 1.45 dB against 2.05 dB for 31 Aug; range 4.0 dB (55.5 to 59.6 dB SPL) against 6.7 dB. The blue is about 11 dB lower because the motor ran at a different operating point. The 4 dB range of the blue is a bottom-louder trend. Honest caveat: with the same calibration applied to the 1-2 Sep runs, those are about as round as 30 Sep, so most of the improvement against the earlier baselines comes from the microphone calibration, not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olar plot of the 31 Aug propeller measurement, 20 to 560 Hz, with a jagged outline">    </p:cNvPr>
          <p:cNvPicPr>
            <a:picLocks noChangeAspect="1"/>
          </p:cNvPicPr>
          <p:nvPr/>
        </p:nvPicPr>
        <p:blipFill>
          <a:blip r:embed="rId1"/>
          <a:stretch>
            <a:fillRect/>
          </a:stretch>
        </p:blipFill>
        <p:spPr>
          <a:xfrm>
            <a:off x="548640" y="594360"/>
            <a:ext cx="5669280" cy="5669280"/>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D6336C"/>
                </a:solidFill>
                <a:latin typeface="Calibri" pitchFamily="34" charset="0"/>
                <a:ea typeface="Calibri" pitchFamily="34" charset="-122"/>
                <a:cs typeface="Calibri" pitchFamily="34" charset="-120"/>
              </a:rPr>
              <a:t>THE PROBLEM</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Our polar plot is jagged</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We measured a propeller with the microphone arc in a plane parallel to the propeller disc.</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A propeller is symmetric around its axis, so every microphone should read about the same.</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We expected a smooth, nearly round polar. We observed a jagged outline.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of the eleven microphones</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31 Aug 2026, 20–560 Hz, motor at 2000 µs. Radial axis 30–76 dB, the same as in the report.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1</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FIX</a:t>
            </a:r>
            <a:endParaRPr lang="en-US" sz="1400" dirty="0"/>
          </a:p>
        </p:txBody>
      </p:sp>
      <p:sp>
        <p:nvSpPr>
          <p:cNvPr id="3" name="Text 1"/>
          <p:cNvSpPr txBox="1"/>
          <p:nvPr/>
        </p:nvSpPr>
        <p:spPr>
          <a:xfrm>
            <a:off x="548640" y="822960"/>
            <a:ext cx="11064240" cy="731520"/>
          </a:xfrm>
          <a:prstGeom prst="rect">
            <a:avLst/>
          </a:prstGeom>
          <a:noFill/>
          <a:ln/>
        </p:spPr>
        <p:txBody>
          <a:bodyPr wrap="square" lIns="0" tIns="0" rIns="0" bIns="0" rtlCol="0" anchor="t"/>
          <a:lstStyle/>
          <a:p>
            <a:pPr indent="0" marL="0">
              <a:buNone/>
            </a:pPr>
            <a:r>
              <a:rPr lang="en-US" sz="3200" b="1" dirty="0">
                <a:solidFill>
                  <a:srgbClr val="1F2A44"/>
                </a:solidFill>
                <a:latin typeface="Cambria" pitchFamily="34" charset="0"/>
                <a:ea typeface="Cambria" pitchFamily="34" charset="-122"/>
                <a:cs typeface="Cambria" pitchFamily="34" charset="-120"/>
              </a:rPr>
              <a:t>What we did: every microphone, one loudspeaker</a:t>
            </a:r>
            <a:endParaRPr lang="en-US" sz="3200" dirty="0"/>
          </a:p>
        </p:txBody>
      </p:sp>
      <p:pic>
        <p:nvPicPr>
          <p:cNvPr id="4" name="Image 0" descr="Our loudspeaker: a printed sphere with an 8 cm driver">    </p:cNvPr>
          <p:cNvPicPr>
            <a:picLocks noChangeAspect="1"/>
          </p:cNvPicPr>
          <p:nvPr/>
        </p:nvPicPr>
        <p:blipFill>
          <a:blip r:embed="rId1"/>
          <a:srcRect l="0" r="0" t="0" b="0"/>
          <a:stretch/>
        </p:blipFill>
        <p:spPr>
          <a:xfrm>
            <a:off x="822960" y="1828800"/>
            <a:ext cx="1920240" cy="2240280"/>
          </a:xfrm>
          <a:prstGeom prst="rect">
            <a:avLst/>
          </a:prstGeom>
        </p:spPr>
      </p:pic>
      <p:sp>
        <p:nvSpPr>
          <p:cNvPr id="5" name="Text 2"/>
          <p:cNvSpPr txBox="1"/>
          <p:nvPr/>
        </p:nvSpPr>
        <p:spPr>
          <a:xfrm>
            <a:off x="548640" y="4160520"/>
            <a:ext cx="2468880" cy="320040"/>
          </a:xfrm>
          <a:prstGeom prst="rect">
            <a:avLst/>
          </a:prstGeom>
          <a:noFill/>
          <a:ln/>
        </p:spPr>
        <p:txBody>
          <a:bodyPr wrap="square" lIns="0" tIns="0" rIns="0" bIns="0" rtlCol="0" anchor="ctr"/>
          <a:lstStyle/>
          <a:p>
            <a:pPr algn="ctr" indent="0" marL="0">
              <a:buNone/>
            </a:pPr>
            <a:r>
              <a:rPr lang="en-US" sz="1600" dirty="0">
                <a:solidFill>
                  <a:srgbClr val="1F2A44"/>
                </a:solidFill>
                <a:latin typeface="Calibri" pitchFamily="34" charset="0"/>
                <a:ea typeface="Calibri" pitchFamily="34" charset="-122"/>
                <a:cs typeface="Calibri" pitchFamily="34" charset="-120"/>
              </a:rPr>
              <a:t>Our loudspeaker</a:t>
            </a:r>
            <a:endParaRPr lang="en-US" sz="1600" dirty="0"/>
          </a:p>
        </p:txBody>
      </p:sp>
      <p:sp>
        <p:nvSpPr>
          <p:cNvPr id="6" name="Text 3"/>
          <p:cNvSpPr txBox="1"/>
          <p:nvPr/>
        </p:nvSpPr>
        <p:spPr>
          <a:xfrm>
            <a:off x="3063240" y="2331720"/>
            <a:ext cx="2194560" cy="320040"/>
          </a:xfrm>
          <a:prstGeom prst="rect">
            <a:avLst/>
          </a:prstGeom>
          <a:noFill/>
          <a:ln/>
        </p:spPr>
        <p:txBody>
          <a:bodyPr wrap="square" lIns="0" tIns="0" rIns="0" bIns="0" rtlCol="0" anchor="ctr"/>
          <a:lstStyle/>
          <a:p>
            <a:pPr algn="ctr" indent="0" marL="0">
              <a:buNone/>
            </a:pPr>
            <a:r>
              <a:rPr lang="en-US" sz="1400" dirty="0">
                <a:solidFill>
                  <a:srgbClr val="5B6578"/>
                </a:solidFill>
                <a:latin typeface="Calibri" pitchFamily="34" charset="0"/>
                <a:ea typeface="Calibri" pitchFamily="34" charset="-122"/>
                <a:cs typeface="Calibri" pitchFamily="34" charset="-120"/>
              </a:rPr>
              <a:t>tones, 62 Hz–16 kHz</a:t>
            </a:r>
            <a:endParaRPr lang="en-US" sz="1400" dirty="0"/>
          </a:p>
        </p:txBody>
      </p:sp>
      <p:sp>
        <p:nvSpPr>
          <p:cNvPr id="7" name="Shape 4"/>
          <p:cNvSpPr/>
          <p:nvPr/>
        </p:nvSpPr>
        <p:spPr>
          <a:xfrm>
            <a:off x="3154680" y="2971800"/>
            <a:ext cx="2011680" cy="0"/>
          </a:xfrm>
          <a:prstGeom prst="line">
            <a:avLst/>
          </a:prstGeom>
          <a:noFill/>
          <a:ln w="38100">
            <a:solidFill>
              <a:srgbClr val="D6336C"/>
            </a:solidFill>
            <a:prstDash val="dash"/>
            <a:tailEnd type="triangle"/>
          </a:ln>
        </p:spPr>
      </p:sp>
      <p:pic>
        <p:nvPicPr>
          <p:cNvPr id="8" name="Image 1" descr="UMIK-2 measurement microphone, capsule end on the left facing the loudspeaker">    </p:cNvPr>
          <p:cNvPicPr>
            <a:picLocks noChangeAspect="1"/>
          </p:cNvPicPr>
          <p:nvPr/>
        </p:nvPicPr>
        <p:blipFill>
          <a:blip r:embed="rId2"/>
          <a:stretch>
            <a:fillRect/>
          </a:stretch>
        </p:blipFill>
        <p:spPr>
          <a:xfrm>
            <a:off x="5394960" y="2514600"/>
            <a:ext cx="4754880" cy="1284732"/>
          </a:xfrm>
          <a:prstGeom prst="rect">
            <a:avLst/>
          </a:prstGeom>
        </p:spPr>
      </p:pic>
      <p:sp>
        <p:nvSpPr>
          <p:cNvPr id="9" name="Text 5"/>
          <p:cNvSpPr txBox="1"/>
          <p:nvPr/>
        </p:nvSpPr>
        <p:spPr>
          <a:xfrm>
            <a:off x="5394960" y="3931920"/>
            <a:ext cx="6217920" cy="320040"/>
          </a:xfrm>
          <a:prstGeom prst="rect">
            <a:avLst/>
          </a:prstGeom>
          <a:noFill/>
          <a:ln/>
        </p:spPr>
        <p:txBody>
          <a:bodyPr wrap="square" lIns="0" tIns="0" rIns="0" bIns="0" rtlCol="0" anchor="ctr"/>
          <a:lstStyle/>
          <a:p>
            <a:pPr indent="0" marL="0">
              <a:buNone/>
            </a:pPr>
            <a:r>
              <a:rPr lang="en-US" sz="1600" b="1" dirty="0">
                <a:solidFill>
                  <a:srgbClr val="2B6CB0"/>
                </a:solidFill>
                <a:latin typeface="Calibri" pitchFamily="34" charset="0"/>
                <a:ea typeface="Calibri" pitchFamily="34" charset="-122"/>
                <a:cs typeface="Calibri" pitchFamily="34" charset="-120"/>
              </a:rPr>
              <a:t>UMIK-2 microphone, capsule faces the loudspeaker</a:t>
            </a:r>
            <a:endParaRPr lang="en-US" sz="1600" dirty="0"/>
          </a:p>
        </p:txBody>
      </p:sp>
      <p:sp>
        <p:nvSpPr>
          <p:cNvPr id="10" name="Text 6"/>
          <p:cNvSpPr txBox="1"/>
          <p:nvPr/>
        </p:nvSpPr>
        <p:spPr>
          <a:xfrm>
            <a:off x="548640" y="4754880"/>
            <a:ext cx="6400800" cy="150876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97 tones per microphone, 62 Hz to 16 kHz, 12 per octave (a stepped sweep)</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tone at a time: 0.7 s to settle, then 2 s recorded (6 s below 250 Hz)</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Microphones swapped in turn: same position, same loudspeaker, same level</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microphone measured three times as the reference</a:t>
            </a:r>
            <a:endParaRPr lang="en-US" sz="1400" dirty="0"/>
          </a:p>
        </p:txBody>
      </p:sp>
      <p:sp>
        <p:nvSpPr>
          <p:cNvPr id="11" name="Text 7"/>
          <p:cNvSpPr txBox="1"/>
          <p:nvPr/>
        </p:nvSpPr>
        <p:spPr>
          <a:xfrm>
            <a:off x="7498080" y="4617720"/>
            <a:ext cx="4206240" cy="685800"/>
          </a:xfrm>
          <a:prstGeom prst="rect">
            <a:avLst/>
          </a:prstGeom>
          <a:noFill/>
          <a:ln/>
        </p:spPr>
        <p:txBody>
          <a:bodyPr wrap="square" lIns="0" tIns="0" rIns="0" bIns="0" rtlCol="0" anchor="ctr"/>
          <a:lstStyle/>
          <a:p>
            <a:pPr indent="0" marL="0">
              <a:buNone/>
            </a:pPr>
            <a:r>
              <a:rPr lang="en-US" sz="4000" b="1" dirty="0">
                <a:solidFill>
                  <a:srgbClr val="D6336C"/>
                </a:solidFill>
                <a:latin typeface="Cambria" pitchFamily="34" charset="0"/>
                <a:ea typeface="Cambria" pitchFamily="34" charset="-122"/>
                <a:cs typeface="Cambria" pitchFamily="34" charset="-120"/>
              </a:rPr>
              <a:t>4.01</a:t>
            </a:r>
            <a:pPr indent="0" marL="0">
              <a:buNone/>
            </a:pPr>
            <a:r>
              <a:rPr lang="en-US" sz="4000" b="1" dirty="0">
                <a:solidFill>
                  <a:srgbClr val="5B6578"/>
                </a:solidFill>
                <a:latin typeface="Cambria" pitchFamily="34" charset="0"/>
                <a:ea typeface="Cambria" pitchFamily="34" charset="-122"/>
                <a:cs typeface="Cambria" pitchFamily="34" charset="-120"/>
              </a:rPr>
              <a:t> → </a:t>
            </a:r>
            <a:pPr indent="0" marL="0">
              <a:buNone/>
            </a:pPr>
            <a:r>
              <a:rPr lang="en-US" sz="4000" b="1" dirty="0">
                <a:solidFill>
                  <a:srgbClr val="2B6CB0"/>
                </a:solidFill>
                <a:latin typeface="Cambria" pitchFamily="34" charset="0"/>
                <a:ea typeface="Cambria" pitchFamily="34" charset="-122"/>
                <a:cs typeface="Cambria" pitchFamily="34" charset="-120"/>
              </a:rPr>
              <a:t>0.02 dB</a:t>
            </a:r>
            <a:endParaRPr lang="en-US" sz="4000" dirty="0"/>
          </a:p>
        </p:txBody>
      </p:sp>
      <p:sp>
        <p:nvSpPr>
          <p:cNvPr id="12" name="Text 8"/>
          <p:cNvSpPr txBox="1"/>
          <p:nvPr/>
        </p:nvSpPr>
        <p:spPr>
          <a:xfrm>
            <a:off x="7498080" y="5303520"/>
            <a:ext cx="4206240" cy="457200"/>
          </a:xfrm>
          <a:prstGeom prst="rect">
            <a:avLst/>
          </a:prstGeom>
          <a:noFill/>
          <a:ln/>
        </p:spPr>
        <p:txBody>
          <a:bodyPr wrap="square" lIns="0" tIns="0" rIns="0" bIns="0" rtlCol="0" anchor="t"/>
          <a:lstStyle/>
          <a:p>
            <a:pPr indent="0" marL="0">
              <a:buNone/>
            </a:pPr>
            <a:r>
              <a:rPr lang="en-US" sz="1400" dirty="0">
                <a:solidFill>
                  <a:srgbClr val="5B6578"/>
                </a:solidFill>
                <a:latin typeface="Calibri" pitchFamily="34" charset="0"/>
                <a:ea typeface="Calibri" pitchFamily="34" charset="-122"/>
                <a:cs typeface="Calibri" pitchFamily="34" charset="-120"/>
              </a:rPr>
              <a:t>spread across the eleven microphones for the same sound</a:t>
            </a:r>
            <a:endParaRPr lang="en-US" sz="1400" dirty="0"/>
          </a:p>
        </p:txBody>
      </p:sp>
      <p:sp>
        <p:nvSpPr>
          <p:cNvPr id="13" name="Text 9"/>
          <p:cNvSpPr txBox="1"/>
          <p:nvPr/>
        </p:nvSpPr>
        <p:spPr>
          <a:xfrm>
            <a:off x="7498080" y="5806440"/>
            <a:ext cx="4206240" cy="457200"/>
          </a:xfrm>
          <a:prstGeom prst="rect">
            <a:avLst/>
          </a:prstGeom>
          <a:noFill/>
          <a:ln/>
        </p:spPr>
        <p:txBody>
          <a:bodyPr wrap="square" lIns="0" tIns="0" rIns="0" bIns="0" rtlCol="0" anchor="t"/>
          <a:lstStyle/>
          <a:p>
            <a:pPr indent="0" marL="0">
              <a:buNone/>
            </a:pPr>
            <a:r>
              <a:rPr lang="en-US" sz="1400" b="1" dirty="0">
                <a:solidFill>
                  <a:srgbClr val="1F2A44"/>
                </a:solidFill>
                <a:latin typeface="Calibri" pitchFamily="34" charset="0"/>
                <a:ea typeface="Calibri" pitchFamily="34" charset="-122"/>
                <a:cs typeface="Calibri" pitchFamily="34" charset="-120"/>
              </a:rPr>
              <a:t>7 of 11 factory files were wrong by 0.6–3.6 dB</a:t>
            </a:r>
            <a:endParaRPr lang="en-US" sz="1400" dirty="0"/>
          </a:p>
        </p:txBody>
      </p:sp>
      <p:sp>
        <p:nvSpPr>
          <p:cNvPr id="14" name="Text 10"/>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Calibration session 16 Sep 2026, loudspeaker amplitude 0.03 of full scale. UMIK-2 photo: miniDSP product brief.</a:t>
            </a:r>
            <a:endParaRPr lang="en-US" sz="1100" dirty="0"/>
          </a:p>
        </p:txBody>
      </p:sp>
      <p:sp>
        <p:nvSpPr>
          <p:cNvPr id="15" name="Text 11"/>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Maps of each microphone against frequency for two captures: factory files (top), corrected (middle), effect of the correction (bottom)">    </p:cNvPr>
          <p:cNvPicPr>
            <a:picLocks noChangeAspect="1"/>
          </p:cNvPicPr>
          <p:nvPr/>
        </p:nvPicPr>
        <p:blipFill>
          <a:blip r:embed="rId1"/>
          <a:stretch>
            <a:fillRect/>
          </a:stretch>
        </p:blipFill>
        <p:spPr>
          <a:xfrm>
            <a:off x="320040" y="274320"/>
            <a:ext cx="7498080" cy="5833872"/>
          </a:xfrm>
          <a:prstGeom prst="rect">
            <a:avLst/>
          </a:prstGeom>
        </p:spPr>
      </p:pic>
      <p:sp>
        <p:nvSpPr>
          <p:cNvPr id="3" name="Text 0"/>
          <p:cNvSpPr txBox="1"/>
          <p:nvPr/>
        </p:nvSpPr>
        <p:spPr>
          <a:xfrm>
            <a:off x="8183880" y="64008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RESULT</a:t>
            </a:r>
            <a:endParaRPr lang="en-US" sz="1400" dirty="0"/>
          </a:p>
        </p:txBody>
      </p:sp>
      <p:sp>
        <p:nvSpPr>
          <p:cNvPr id="4" name="Text 1"/>
          <p:cNvSpPr txBox="1"/>
          <p:nvPr/>
        </p:nvSpPr>
        <p:spPr>
          <a:xfrm>
            <a:off x="8183880" y="960120"/>
            <a:ext cx="3566160" cy="1554480"/>
          </a:xfrm>
          <a:prstGeom prst="rect">
            <a:avLst/>
          </a:prstGeom>
          <a:noFill/>
          <a:ln/>
        </p:spPr>
        <p:txBody>
          <a:bodyPr wrap="square" lIns="0" tIns="0" rIns="0" bIns="0" rtlCol="0" anchor="t"/>
          <a:lstStyle/>
          <a:p>
            <a:pPr indent="0" marL="0">
              <a:buNone/>
            </a:pPr>
            <a:r>
              <a:rPr lang="en-US" sz="2800" b="1" dirty="0">
                <a:solidFill>
                  <a:srgbClr val="1F2A44"/>
                </a:solidFill>
                <a:latin typeface="Cambria" pitchFamily="34" charset="0"/>
                <a:ea typeface="Cambria" pitchFamily="34" charset="-122"/>
                <a:cs typeface="Cambria" pitchFamily="34" charset="-120"/>
              </a:rPr>
              <a:t>The correction removes the microphone offsets</a:t>
            </a:r>
            <a:endParaRPr lang="en-US" sz="2800" dirty="0"/>
          </a:p>
        </p:txBody>
      </p:sp>
      <p:sp>
        <p:nvSpPr>
          <p:cNvPr id="5" name="Text 2"/>
          <p:cNvSpPr txBox="1"/>
          <p:nvPr/>
        </p:nvSpPr>
        <p:spPr>
          <a:xfrm>
            <a:off x="8183880" y="2560320"/>
            <a:ext cx="3566160" cy="1051560"/>
          </a:xfrm>
          <a:prstGeom prst="rect">
            <a:avLst/>
          </a:prstGeom>
          <a:noFill/>
          <a:ln/>
        </p:spPr>
        <p:txBody>
          <a:bodyPr wrap="square" lIns="0" tIns="0" rIns="0" bIns="0" rtlCol="0" anchor="t"/>
          <a:lstStyle/>
          <a:p>
            <a:pPr indent="0" marL="0">
              <a:spcAft>
                <a:spcPts val="400"/>
              </a:spcAft>
              <a:buNone/>
            </a:pPr>
            <a:r>
              <a:rPr lang="en-US" sz="1800" b="1" dirty="0">
                <a:solidFill>
                  <a:srgbClr val="D6336C"/>
                </a:solidFill>
                <a:latin typeface="Calibri" pitchFamily="34" charset="0"/>
                <a:ea typeface="Calibri" pitchFamily="34" charset="-122"/>
                <a:cs typeface="Calibri" pitchFamily="34" charset="-120"/>
              </a:rPr>
              <a:t>TOP</a:t>
            </a:r>
            <a:pPr indent="0" marL="0">
              <a:spcAft>
                <a:spcPts val="400"/>
              </a:spcAft>
              <a:buNone/>
            </a:pPr>
            <a:r>
              <a:rPr lang="en-US" sz="1500" dirty="0">
                <a:solidFill>
                  <a:srgbClr val="1F2A44"/>
                </a:solidFill>
                <a:latin typeface="Calibri" pitchFamily="34" charset="0"/>
                <a:ea typeface="Calibri" pitchFamily="34" charset="-122"/>
                <a:cs typeface="Calibri" pitchFamily="34" charset="-120"/>
              </a:rPr>
              <a:t>  factory files</a:t>
            </a:r>
            <a:endParaRPr lang="en-US" sz="1500" dirty="0"/>
          </a:p>
          <a:p>
            <a:pPr indent="0" marL="0">
              <a:spcAft>
                <a:spcPts val="400"/>
              </a:spcAft>
              <a:buNone/>
            </a:pPr>
            <a:r>
              <a:rPr lang="en-US" sz="1800" b="1" dirty="0">
                <a:solidFill>
                  <a:srgbClr val="2B6CB0"/>
                </a:solidFill>
                <a:latin typeface="Calibri" pitchFamily="34" charset="0"/>
                <a:ea typeface="Calibri" pitchFamily="34" charset="-122"/>
                <a:cs typeface="Calibri" pitchFamily="34" charset="-120"/>
              </a:rPr>
              <a:t>MIDDLE</a:t>
            </a:r>
            <a:pPr indent="0" marL="0">
              <a:spcAft>
                <a:spcPts val="400"/>
              </a:spcAft>
              <a:buNone/>
            </a:pPr>
            <a:r>
              <a:rPr lang="en-US" sz="1500" dirty="0">
                <a:solidFill>
                  <a:srgbClr val="1F2A44"/>
                </a:solidFill>
                <a:latin typeface="Calibri" pitchFamily="34" charset="0"/>
                <a:ea typeface="Calibri" pitchFamily="34" charset="-122"/>
                <a:cs typeface="Calibri" pitchFamily="34" charset="-120"/>
              </a:rPr>
              <a:t>  corrected</a:t>
            </a:r>
            <a:endParaRPr lang="en-US" sz="1500" dirty="0"/>
          </a:p>
          <a:p>
            <a:pPr indent="0" marL="0">
              <a:spcAft>
                <a:spcPts val="400"/>
              </a:spcAft>
              <a:buNone/>
            </a:pPr>
            <a:r>
              <a:rPr lang="en-US" sz="1800" b="1" dirty="0">
                <a:solidFill>
                  <a:srgbClr val="1F2A44"/>
                </a:solidFill>
                <a:latin typeface="Calibri" pitchFamily="34" charset="0"/>
                <a:ea typeface="Calibri" pitchFamily="34" charset="-122"/>
                <a:cs typeface="Calibri" pitchFamily="34" charset="-120"/>
              </a:rPr>
              <a:t>BOTTOM</a:t>
            </a:r>
            <a:pPr indent="0" marL="0">
              <a:spcAft>
                <a:spcPts val="400"/>
              </a:spcAft>
              <a:buNone/>
            </a:pPr>
            <a:r>
              <a:rPr lang="en-US" sz="1500" dirty="0">
                <a:solidFill>
                  <a:srgbClr val="1F2A44"/>
                </a:solidFill>
                <a:latin typeface="Calibri" pitchFamily="34" charset="0"/>
                <a:ea typeface="Calibri" pitchFamily="34" charset="-122"/>
                <a:cs typeface="Calibri" pitchFamily="34" charset="-120"/>
              </a:rPr>
              <a:t>  the change</a:t>
            </a:r>
            <a:endParaRPr lang="en-US" sz="1500" dirty="0"/>
          </a:p>
        </p:txBody>
      </p:sp>
      <p:sp>
        <p:nvSpPr>
          <p:cNvPr id="6" name="Text 3"/>
          <p:cNvSpPr txBox="1"/>
          <p:nvPr/>
        </p:nvSpPr>
        <p:spPr>
          <a:xfrm>
            <a:off x="8183880" y="3749040"/>
            <a:ext cx="3566160" cy="12801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A stripe across all frequencies is one microphone reading too loud or too quiet. The middle row has none.</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The room pattern stays: whole rows move, not the frequency structure.</a:t>
            </a:r>
            <a:endParaRPr lang="en-US" sz="1400" dirty="0"/>
          </a:p>
        </p:txBody>
      </p:sp>
      <p:sp>
        <p:nvSpPr>
          <p:cNvPr id="7" name="Text 4"/>
          <p:cNvSpPr txBox="1"/>
          <p:nvPr/>
        </p:nvSpPr>
        <p:spPr>
          <a:xfrm>
            <a:off x="8183880" y="5074920"/>
            <a:ext cx="3566160" cy="640080"/>
          </a:xfrm>
          <a:prstGeom prst="rect">
            <a:avLst/>
          </a:prstGeom>
          <a:noFill/>
          <a:ln/>
        </p:spPr>
        <p:txBody>
          <a:bodyPr wrap="square" lIns="0" tIns="0" rIns="0" bIns="0" rtlCol="0" anchor="ctr"/>
          <a:lstStyle/>
          <a:p>
            <a:pPr indent="0" marL="0">
              <a:buNone/>
            </a:pPr>
            <a:r>
              <a:rPr lang="en-US" sz="3600" b="1" dirty="0">
                <a:solidFill>
                  <a:srgbClr val="D6336C"/>
                </a:solidFill>
                <a:latin typeface="Cambria" pitchFamily="34" charset="0"/>
                <a:ea typeface="Cambria" pitchFamily="34" charset="-122"/>
                <a:cs typeface="Cambria" pitchFamily="34" charset="-120"/>
              </a:rPr>
              <a:t>4.3</a:t>
            </a:r>
            <a:pPr indent="0" marL="0">
              <a:buNone/>
            </a:pPr>
            <a:r>
              <a:rPr lang="en-US" sz="3600" b="1" dirty="0">
                <a:solidFill>
                  <a:srgbClr val="5B6578"/>
                </a:solidFill>
                <a:latin typeface="Cambria" pitchFamily="34" charset="0"/>
                <a:ea typeface="Cambria" pitchFamily="34" charset="-122"/>
                <a:cs typeface="Cambria" pitchFamily="34" charset="-120"/>
              </a:rPr>
              <a:t> → </a:t>
            </a:r>
            <a:pPr indent="0" marL="0">
              <a:buNone/>
            </a:pPr>
            <a:r>
              <a:rPr lang="en-US" sz="3600" b="1" dirty="0">
                <a:solidFill>
                  <a:srgbClr val="2B6CB0"/>
                </a:solidFill>
                <a:latin typeface="Cambria" pitchFamily="34" charset="0"/>
                <a:ea typeface="Cambria" pitchFamily="34" charset="-122"/>
                <a:cs typeface="Cambria" pitchFamily="34" charset="-120"/>
              </a:rPr>
              <a:t>0.8 dB</a:t>
            </a:r>
            <a:endParaRPr lang="en-US" sz="3600" dirty="0"/>
          </a:p>
        </p:txBody>
      </p:sp>
      <p:sp>
        <p:nvSpPr>
          <p:cNvPr id="8" name="Text 5"/>
          <p:cNvSpPr txBox="1"/>
          <p:nvPr/>
        </p:nvSpPr>
        <p:spPr>
          <a:xfrm>
            <a:off x="8183880" y="5715000"/>
            <a:ext cx="3566160" cy="54864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range of the microphones’ mean levels, start of day 3 (final state: 4.1 → 1.0 dB)</a:t>
            </a:r>
            <a:endParaRPr lang="en-US" sz="1200" dirty="0"/>
          </a:p>
        </p:txBody>
      </p:sp>
      <p:sp>
        <p:nvSpPr>
          <p:cNvPr id="9" name="Text 6"/>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Captures from 25 Sep 2026: day3-a (left) and carpet-reordered (right).</a:t>
            </a:r>
            <a:endParaRPr lang="en-US" sz="1100" dirty="0"/>
          </a:p>
        </p:txBody>
      </p:sp>
      <p:sp>
        <p:nvSpPr>
          <p:cNvPr id="10" name="Text 7"/>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olar plot of 20 to 560 Hz: the jagged red 31 Aug outline and the smoother blue 30 Sep outline">    </p:cNvPr>
          <p:cNvPicPr>
            <a:picLocks noChangeAspect="1"/>
          </p:cNvPicPr>
          <p:nvPr/>
        </p:nvPicPr>
        <p:blipFill>
          <a:blip r:embed="rId1"/>
          <a:stretch>
            <a:fillRect/>
          </a:stretch>
        </p:blipFill>
        <p:spPr>
          <a:xfrm>
            <a:off x="548640" y="457200"/>
            <a:ext cx="5440680" cy="5797296"/>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AFTER</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The new polar is rounder</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Same kind of measurement, same axes, on 30 Sep.</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The microphones now carry their measured corrections, and the room has been treated.</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The outline is smooth and close to a circle.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a:t>
            </a:r>
            <a:pPr indent="0" marL="0">
              <a:buNone/>
            </a:pPr>
            <a:r>
              <a:rPr lang="en-US" sz="4800" b="1" dirty="0">
                <a:solidFill>
                  <a:srgbClr val="5B6578"/>
                </a:solidFill>
                <a:latin typeface="Cambria" pitchFamily="34" charset="0"/>
                <a:ea typeface="Cambria" pitchFamily="34" charset="-122"/>
                <a:cs typeface="Cambria" pitchFamily="34" charset="-120"/>
              </a:rPr>
              <a:t> → </a:t>
            </a:r>
            <a:pPr indent="0" marL="0">
              <a:buNone/>
            </a:pPr>
            <a:r>
              <a:rPr lang="en-US" sz="4800" b="1" dirty="0">
                <a:solidFill>
                  <a:srgbClr val="2B6CB0"/>
                </a:solidFill>
                <a:latin typeface="Cambria" pitchFamily="34" charset="0"/>
                <a:ea typeface="Cambria" pitchFamily="34" charset="-122"/>
                <a:cs typeface="Cambria" pitchFamily="34" charset="-120"/>
              </a:rPr>
              <a:t>4.0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microphone</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20–560 Hz, motor at 2000 µs. The two runs had different operating points (7.35 V against 11.7 V), which is why the blue is lower.</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4</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Chamber measurements</dc:title>
  <dc:subject>PptxGenJS Presentation</dc:subject>
  <dc:creator>PptxGenJS</dc:creator>
  <cp:lastModifiedBy>PptxGenJS</cp:lastModifiedBy>
  <cp:revision>1</cp:revision>
  <dcterms:created xsi:type="dcterms:W3CDTF">2026-10-06T15:07:10Z</dcterms:created>
  <dcterms:modified xsi:type="dcterms:W3CDTF">2026-10-06T15:07:10Z</dcterms:modified>
</cp:coreProperties>
</file>